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story in, reviewed code out. The time saved is the finding out, not the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expert is hired; the tool is the onboarding. Every box is something we tell a new joiner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agent layer calls Azure OpenAI. Everything else is ordinary code. Three objections answered in the footer: agents, vectors,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three sources of evidence. Middle: the planner proposes and ordinary code rejects a plan that misses a registration or a companion. Right: what came out for the real story. Bottom: three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number and the ask. The score is explained, capped, and each cap names the fix. The developer owns the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DD0E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B1F3B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F"/>
                </a:solidFill>
              </a:rPr>
              <a:t>Agile Dev Assist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6C5C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ECEA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6C5CE7">
              <a:alpha val="25000"/>
            </a:srgbClr>
          </a:solidFill>
          <a:ln w="12700">
            <a:solidFill>
              <a:srgbClr val="6C5CE7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1463040"/>
            <a:ext cx="3108960" cy="3108960"/>
          </a:xfrm>
          <a:prstGeom prst="ellipse">
            <a:avLst/>
          </a:prstGeom>
          <a:solidFill>
            <a:srgbClr val="22B8CF">
              <a:alpha val="30000"/>
            </a:srgbClr>
          </a:solidFill>
          <a:ln w="12700">
            <a:solidFill>
              <a:srgbClr val="22B8CF">
                <a:alpha val="3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B8CF"/>
                </a:solidFill>
              </a:rPr>
              <a:t>AGILE DEV ASSIST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user story in. Reviewed, repository-ready code out. In minutes.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DD0E6"/>
                </a:solidFill>
              </a:rPr>
              <a:t>A developer spends 1-2 days on a small story - most of it finding out: which folder, which pattern, what else must change. Agile Dev Assist does the finding out and the first draft, the way our team writes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2A2F55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Story 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54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DD0E6"/>
                </a:solidFill>
              </a:rPr>
              <a:t>ticket, SQL, acceptance criteria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4846320"/>
            <a:ext cx="228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74720" y="4206240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2A2F55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Our context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4754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DD0E6"/>
                </a:solidFill>
              </a:rPr>
              <a:t>skills, standards, Greenplum tables, code repo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4846320"/>
            <a:ext cx="228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309360" y="4206240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2A2F55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Code out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754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DD0E6"/>
                </a:solidFill>
              </a:rPr>
              <a:t>every file, registered, validated, reviewed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4846320"/>
            <a:ext cx="228600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0" y="4206240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2A2F55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6880" y="4343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Trust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4754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DD0E6"/>
                </a:solidFill>
              </a:rPr>
              <a:t>confidence score, diff, branch in your name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AA0BF"/>
                </a:solidFill>
              </a:rPr>
              <a:t>Nothing leaves the bank except prompts to Azure OpenAI. No key, token or password is ever written to disk.</a:t>
            </a:r>
            <a:endParaRPr lang="en-US" sz="120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The idea: the model is the expert, the agents are the onboarding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03520" cy="2103120"/>
          </a:xfrm>
          <a:prstGeom prst="roundRect">
            <a:avLst>
              <a:gd name="adj" fmla="val 5217"/>
            </a:avLst>
          </a:prstGeom>
          <a:solidFill>
            <a:srgbClr val="F1F2F8"/>
          </a:solidFill>
          <a:ln w="12700">
            <a:solidFill>
              <a:srgbClr val="F1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6C5CE7"/>
                </a:solidFill>
              </a:rPr>
              <a:t>The LLM (GPT-5)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4F6B"/>
                </a:solidFill>
              </a:rPr>
              <a:t>A brilliant senior developer on day one. Knows SQL, Python, Airflow, Greenplum. Knows nothing about us: what acc_mhh_n means, where profile scripts live, that a new table needs a history script, a config entry and a DAG task.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37160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5087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Agile Dev Assist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CEAFF"/>
                </a:solidFill>
              </a:rPr>
              <a:t>The onboarding, done every time in minutes instead of once over months: read the ticket, read our documents, look at our tables, walk through our repository - then plan, write, check and review, exactly as a new joiner would be told 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98448" y="4069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</a:rPr>
              <a:t>Read the story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617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requirements, the SQL in it = the spec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0" y="4709160"/>
            <a:ext cx="164592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07792" y="393192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44952" y="4069080"/>
            <a:ext cx="457200" cy="457200"/>
          </a:xfrm>
          <a:prstGeom prst="ellipse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44952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4069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</a:rPr>
              <a:t>Learn the conventions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044952" y="4617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skills, glossary, standards → rules with exceptions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10912" y="4709160"/>
            <a:ext cx="164592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75504" y="393192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12664" y="4069080"/>
            <a:ext cx="457200" cy="45720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12664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833872" y="4069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</a:rPr>
              <a:t>Look at the data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312664" y="4617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grain, keys, columns, samples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278624" y="4709160"/>
            <a:ext cx="164592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43216" y="393192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80376" y="4069080"/>
            <a:ext cx="457200" cy="45720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0376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101584" y="4069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</a:rPr>
              <a:t>Walk the repo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580376" y="4617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where it belongs, what to imitate, what else must change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546336" y="4709160"/>
            <a:ext cx="164592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710928" y="393192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9050">
            <a:solidFill>
              <a:srgbClr val="D9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48088" y="4069080"/>
            <a:ext cx="457200" cy="457200"/>
          </a:xfrm>
          <a:prstGeom prst="ellipse">
            <a:avLst/>
          </a:prstGeom>
          <a:solidFill>
            <a:srgbClr val="D94C4C"/>
          </a:solidFill>
          <a:ln w="12700">
            <a:solidFill>
              <a:srgbClr val="D94C4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84808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369296" y="4069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</a:rPr>
              <a:t>Plan · write · check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9848088" y="46177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every file grounded in evidence, validated, reviewed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Same inputs as a human developer. Same checklist. Minutes, not days - and the checklist is never forgotten.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Architecture: four layers, one rule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155680" cy="960120"/>
          </a:xfrm>
          <a:prstGeom prst="roundRect">
            <a:avLst>
              <a:gd name="adj" fmla="val 11429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B8CF"/>
                </a:solidFill>
              </a:rPr>
              <a:t>INPUTS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what a developer would read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527048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5270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story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527048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63640" y="15270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skills · standards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38160" y="1527048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15270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Greenplum tables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012680" y="1527048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12680" y="15270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code repository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0" y="2286000"/>
            <a:ext cx="9144" cy="15544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441448"/>
            <a:ext cx="11155680" cy="960120"/>
          </a:xfrm>
          <a:prstGeom prst="roundRect">
            <a:avLst>
              <a:gd name="adj" fmla="val 11429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25328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B8CF"/>
                </a:solidFill>
              </a:rPr>
              <a:t>RETRIEVAL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852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exact keyword index (BM25) of the code base and documents, exposed as look-up tools - no vector DB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89120" y="2642616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search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2642616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read file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38160" y="2642616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who registers it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012680" y="2642616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12680" y="26426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what changes together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28800" y="3401568"/>
            <a:ext cx="9144" cy="15544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3557016"/>
            <a:ext cx="11155680" cy="960120"/>
          </a:xfrm>
          <a:prstGeom prst="roundRect">
            <a:avLst>
              <a:gd name="adj" fmla="val 11429"/>
            </a:avLst>
          </a:prstGeom>
          <a:solidFill>
            <a:srgbClr val="6C5CE7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64845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396849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4 readers build one context pack → planner → coder → validator + reviewer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89120" y="3758184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89120" y="37581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4 readers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63640" y="3758184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63640" y="37581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planner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38160" y="3758184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38160" y="37581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coder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012680" y="3758184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12680" y="37581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validator · reviewer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28800" y="4517136"/>
            <a:ext cx="9144" cy="155448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40080" y="4672584"/>
            <a:ext cx="11155680" cy="960120"/>
          </a:xfrm>
          <a:prstGeom prst="roundRect">
            <a:avLst>
              <a:gd name="adj" fmla="val 11429"/>
            </a:avLst>
          </a:prstGeom>
          <a:solidFill>
            <a:srgbClr val="F1F2F8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47640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9E6B"/>
                </a:solidFill>
              </a:rPr>
              <a:t>DELIVERY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" y="50840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what the developer gets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389120" y="4873752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48737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confidence score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63640" y="4873752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63640" y="48737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diff · savepoints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138160" y="4873752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38160" y="48737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branch in your name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0012680" y="4873752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012680" y="48737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3B"/>
                </a:solidFill>
              </a:rPr>
              <a:t>audit log · cost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5806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</a:rPr>
              <a:t>Why agents, not scripts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40080" y="60533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each has a goal, tools and a contract: it decides what to look up, and its result is checked and sent back if incomplete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5806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</a:rPr>
              <a:t>Why BM25, not vectors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407408" y="60533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we search for exact names (tables, folders, keywords) - Ctrl-Shift-F, not "something similar"; nothing extra to host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8174736" y="5806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C5CE7"/>
                </a:solidFill>
              </a:rPr>
              <a:t>Why it is cheap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8174736" y="60533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readers' results are cached by input fingerprint (0 calls next time); Azure bills repeated prompt text at 1/10 - ~$0.50 a story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How it works: evidence in, every file checked twice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44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B8CF"/>
                </a:solidFill>
              </a:rPr>
              <a:t>Story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tables it names, SQL it contains - every code block ends up in a file or is declined with a reason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63440" y="1783080"/>
            <a:ext cx="548640" cy="9144"/>
          </a:xfrm>
          <a:prstGeom prst="line">
            <a:avLst/>
          </a:prstGeom>
          <a:noFill/>
          <a:ln w="19050">
            <a:solidFill>
              <a:srgbClr val="22B8C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" y="233172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04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Repository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79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who registers this folder (DAG, config), what changes together (history, archive), what to imitate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2743200"/>
            <a:ext cx="54864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329184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A23C"/>
                </a:solidFill>
              </a:rPr>
              <a:t>Conventions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639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6B"/>
                </a:solidFill>
              </a:rPr>
              <a:t>logic in its own module; a profile script only LEFT JOINs it; nothing read from forbidden tables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3703320"/>
            <a:ext cx="548640" cy="9144"/>
          </a:xfrm>
          <a:prstGeom prst="line">
            <a:avLst/>
          </a:prstGeom>
          <a:noFill/>
          <a:ln w="19050">
            <a:solidFill>
              <a:srgbClr val="E6A23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212080" y="1371600"/>
            <a:ext cx="2194560" cy="2743200"/>
          </a:xfrm>
          <a:prstGeom prst="roundRect">
            <a:avLst>
              <a:gd name="adj" fmla="val 5000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PLANNER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19659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proposes the files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code checks the plan: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file exists? registered? companions? story SQL used?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CEAFF"/>
                </a:solidFill>
              </a:rPr>
              <a:t>rejected → plans again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406640" y="2743200"/>
            <a:ext cx="548640" cy="9144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955280" y="1371600"/>
            <a:ext cx="3840480" cy="493776"/>
          </a:xfrm>
          <a:prstGeom prst="roundRect">
            <a:avLst>
              <a:gd name="adj" fmla="val 14815"/>
            </a:avLst>
          </a:prstGeom>
          <a:solidFill>
            <a:srgbClr val="F1F2F8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2440" y="14081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beneficiary_update_flags_ikg.sql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16184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F6B"/>
                </a:solidFill>
              </a:rPr>
              <a:t>NEW module: the story's SQL, DISTRIBUTED BY the key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938528"/>
            <a:ext cx="3840480" cy="493776"/>
          </a:xfrm>
          <a:prstGeom prst="roundRect">
            <a:avLst>
              <a:gd name="adj" fmla="val 14815"/>
            </a:avLst>
          </a:prstGeom>
          <a:solidFill>
            <a:srgbClr val="F1F2F8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197510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client_beneficiary_profile_curr_ikg.sql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21854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F6B"/>
                </a:solidFill>
              </a:rPr>
              <a:t>MODIFY: LEFT JOIN + 6 columns, nothing else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955280" y="2505456"/>
            <a:ext cx="3840480" cy="493776"/>
          </a:xfrm>
          <a:prstGeom prst="roundRect">
            <a:avLst>
              <a:gd name="adj" fmla="val 14815"/>
            </a:avLst>
          </a:prstGeom>
          <a:solidFill>
            <a:srgbClr val="F1F2F8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92440" y="25420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…_profile_ikg.sql (history)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092440" y="27523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F6B"/>
                </a:solidFill>
              </a:rPr>
              <a:t>MODIFY: mirrors the new columns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55280" y="3072384"/>
            <a:ext cx="3840480" cy="493776"/>
          </a:xfrm>
          <a:prstGeom prst="roundRect">
            <a:avLst>
              <a:gd name="adj" fmla="val 14815"/>
            </a:avLst>
          </a:prstGeom>
          <a:solidFill>
            <a:srgbClr val="F1F2F8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9244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ikg_data_refresh.py (DAG)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33192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F6B"/>
                </a:solidFill>
              </a:rPr>
              <a:t>MODIFY: one task, like its siblings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55280" y="3639312"/>
            <a:ext cx="3840480" cy="493776"/>
          </a:xfrm>
          <a:prstGeom prst="roundRect">
            <a:avLst>
              <a:gd name="adj" fmla="val 14815"/>
            </a:avLst>
          </a:prstGeom>
          <a:solidFill>
            <a:srgbClr val="F1F2F8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92440" y="36758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1F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validate_…ipynb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92440" y="3886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F6B"/>
                </a:solidFill>
              </a:rPr>
              <a:t>NEW: checks the result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0080" y="443484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240" y="4572000"/>
            <a:ext cx="457200" cy="45720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32588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Coder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074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F6B"/>
                </a:solidFill>
              </a:rPr>
              <a:t>one file per call, imitating our patterns, over one shared context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06240" y="5029200"/>
            <a:ext cx="201168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407408" y="443484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44568" y="4572000"/>
            <a:ext cx="457200" cy="457200"/>
          </a:xfrm>
          <a:prstGeom prst="ellipse">
            <a:avLst/>
          </a:prstGeom>
          <a:solidFill>
            <a:srgbClr val="22B8CF"/>
          </a:solidFill>
          <a:ln w="12700">
            <a:solidFill>
              <a:srgbClr val="22B8C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4456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093208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Validator (no AI)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544568" y="5074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F6B"/>
                </a:solidFill>
              </a:rPr>
              <a:t>parses every file, runs the team's rules, the DAG dry-run; failures go back to the coder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73568" y="5029200"/>
            <a:ext cx="201168" cy="9144"/>
          </a:xfrm>
          <a:prstGeom prst="line">
            <a:avLst/>
          </a:prstGeom>
          <a:noFill/>
          <a:ln w="19050">
            <a:solidFill>
              <a:srgbClr val="9AA0BF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174736" y="443484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1F2F8"/>
          </a:solidFill>
          <a:ln w="19050">
            <a:solidFill>
              <a:srgbClr val="E6A2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11896" y="4572000"/>
            <a:ext cx="457200" cy="457200"/>
          </a:xfrm>
          <a:prstGeom prst="ellipse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11896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860536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Reviewer (independent AI)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311896" y="5074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F6B"/>
                </a:solidFill>
              </a:rPr>
              <a:t>requirements met? story SQL used? registered? conventions? → findings + score; critical/high are fixed and re-validated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4008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C5CE7"/>
                </a:solidFill>
              </a:rPr>
              <a:t>Story 2547 in the demo: 5 files, DAG registered, history mirrored - the companions a human forgets most often.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Trust: one number tells you what is left to look 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2B8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validator quality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100 minus penalties per finding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15468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A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reviewer score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the independent reviewer's 0-100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6C5C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coder confidence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the coder's own, averaged over files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capped by what is still open: no review → max 70 · open critical → max 50 · open high → max 75 · weak file → max 80 · −2 per open question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1325880"/>
            <a:ext cx="3474720" cy="594360"/>
          </a:xfrm>
          <a:prstGeom prst="roundRect">
            <a:avLst>
              <a:gd name="adj" fmla="val 15385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≥ 85  High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1627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read the plan, skim the diff, push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321040" y="2011680"/>
            <a:ext cx="3474720" cy="594360"/>
          </a:xfrm>
          <a:prstGeom prst="roundRect">
            <a:avLst>
              <a:gd name="adj" fmla="val 15385"/>
            </a:avLst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58200" y="2057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70-84  Medium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fix what the Review tab lists first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321040" y="2697480"/>
            <a:ext cx="3474720" cy="594360"/>
          </a:xfrm>
          <a:prstGeom prst="roundRect">
            <a:avLst>
              <a:gd name="adj" fmla="val 15385"/>
            </a:avLst>
          </a:prstGeom>
          <a:solidFill>
            <a:srgbClr val="D94C4C"/>
          </a:solidFill>
          <a:ln w="12700">
            <a:solidFill>
              <a:srgbClr val="D94C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58200" y="27432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&lt; 70  Low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58200" y="29992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the tool is pointing at a problem: read the findings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566160" cy="1143000"/>
          </a:xfrm>
          <a:prstGeom prst="roundRect">
            <a:avLst>
              <a:gd name="adj" fmla="val 9600"/>
            </a:avLst>
          </a:prstGeom>
          <a:solidFill>
            <a:srgbClr val="F1F2F8"/>
          </a:solidFill>
          <a:ln w="19050">
            <a:solidFill>
              <a:srgbClr val="22B8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B8CF"/>
                </a:solidFill>
              </a:rPr>
              <a:t>Every finding is listed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9136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status fixed / open / suggestion, with the file and line, clickable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07408" y="3429000"/>
            <a:ext cx="3566160" cy="1143000"/>
          </a:xfrm>
          <a:prstGeom prst="roundRect">
            <a:avLst>
              <a:gd name="adj" fmla="val 9600"/>
            </a:avLst>
          </a:prstGeom>
          <a:solidFill>
            <a:srgbClr val="F1F2F8"/>
          </a:solidFill>
          <a:ln w="19050">
            <a:solidFill>
              <a:srgbClr val="6C5C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90288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</a:rPr>
              <a:t>Every source is listed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9136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which file, table and document contributed what to the code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74736" y="3429000"/>
            <a:ext cx="3566160" cy="1143000"/>
          </a:xfrm>
          <a:prstGeom prst="roundRect">
            <a:avLst>
              <a:gd name="adj" fmla="val 9600"/>
            </a:avLst>
          </a:prstGeom>
          <a:solidFill>
            <a:srgbClr val="F1F2F8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57616" y="3566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</a:rPr>
              <a:t>Nothing hidden, nothing stored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57616" y="39136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F6B"/>
                </a:solidFill>
              </a:rPr>
              <a:t>diff vs repository, savepoints, full log, tokens and cost; keys never on disk; push with your own token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846320"/>
            <a:ext cx="11155680" cy="1143000"/>
          </a:xfrm>
          <a:prstGeom prst="roundRect">
            <a:avLst>
              <a:gd name="adj" fmla="val 96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4937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B8CF"/>
                </a:solidFill>
              </a:rPr>
              <a:t>The ask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25780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DD0E6"/>
                </a:solidFill>
              </a:rPr>
              <a:t>Pilot on the next 10 stories of IKG and NLG. Measure: time to first branch, review findings per story, confidence vs. what the human reviewer found. The developer stays accountable for every line - the tool makes the first day of every story a few minutes.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B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ile Dev Assist">
  <a:themeElements>
    <a:clrScheme name="Agile Dev Assist">
      <a:dk1>
        <a:srgbClr val="1B1F3B"/>
      </a:dk1>
      <a:lt1>
        <a:srgbClr val="FFFFFF"/>
      </a:lt1>
      <a:dk2>
        <a:srgbClr val="4A4F6B"/>
      </a:dk2>
      <a:lt2>
        <a:srgbClr val="F1F2F8"/>
      </a:lt2>
      <a:accent1>
        <a:srgbClr val="6C5CE7"/>
      </a:accent1>
      <a:accent2>
        <a:srgbClr val="22B8CF"/>
      </a:accent2>
      <a:accent3>
        <a:srgbClr val="2E9E6B"/>
      </a:accent3>
      <a:accent4>
        <a:srgbClr val="E6A23C"/>
      </a:accent4>
      <a:accent5>
        <a:srgbClr val="D94C4C"/>
      </a:accent5>
      <a:accent6>
        <a:srgbClr val="9AA0BF"/>
      </a:accent6>
      <a:hlink>
        <a:srgbClr val="6C5CE7"/>
      </a:hlink>
      <a:folHlink>
        <a:srgbClr val="22B8CF"/>
      </a:folHlink>
    </a:clrScheme>
    <a:fontScheme name="Agile Dev Assi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Dev Assist</dc:title>
  <dc:subject>PptxGenJS Presentation</dc:subject>
  <dc:creator>IKG / STAAT Insights</dc:creator>
  <cp:lastModifiedBy>IKG / STAAT Insights</cp:lastModifiedBy>
  <cp:revision>1</cp:revision>
  <dcterms:created xsi:type="dcterms:W3CDTF">2026-10-18T19:06:29Z</dcterms:created>
  <dcterms:modified xsi:type="dcterms:W3CDTF">2026-10-18T19:06:29Z</dcterms:modified>
</cp:coreProperties>
</file>