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61" r:id="rId5"/>
    <p:sldId id="257" r:id="rId6"/>
    <p:sldId id="258" r:id="rId7"/>
    <p:sldId id="262" r:id="rId8"/>
    <p:sldId id="259" r:id="rId9"/>
    <p:sldId id="260"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story in, reviewed code out. The time saved is the finding out, not the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expert is hired; the tool is the onboarding. Every box is something we tell a new joiner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agent layer calls Azure OpenAI. Everything else is ordinary code. Three objections answered in the footer: agents, vectors,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three sources of evidence. Middle: the planner proposes and ordinary code rejects a plan that misses a registration or a companion. Right: what came out for the real story. Bottom: three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number and the ask. The score is explained, capped, and each cap names the fix. The developer owns the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640080" y="2103120"/>
            <a:ext cx="10881360" cy="1371600"/>
          </a:xfrm>
          <a:prstGeom prst="rect">
            <a:avLst/>
          </a:prstGeom>
          <a:noFill/>
        </p:spPr>
        <p:txBody>
          <a:bodyPr wrap="square" rtlCol="0"/>
          <a:lstStyle>
            <a:lvl1pPr marL="0" indent="0" algn="l">
              <a:buNone/>
              <a:defRPr lang="en-US" sz="4200" b="1" dirty="0">
                <a:solidFill>
                  <a:srgbClr val="FFFFFF"/>
                </a:solidFill>
              </a:defRPr>
            </a:lvl1pPr>
          </a:lstStyle>
          <a:p>
            <a:pPr marL="0" indent="0" algn="l">
              <a:buNone/>
            </a:pPr>
            <a:endParaRPr lang="en-US" sz="4200" dirty="0"/>
          </a:p>
        </p:txBody>
      </p:sp>
      <p:sp>
        <p:nvSpPr>
          <p:cNvPr id="3" name="Text 0"/>
          <p:cNvSpPr/>
          <p:nvPr>
            <p:ph type="body" idx="101" hasCustomPrompt="1"/>
          </p:nvPr>
        </p:nvSpPr>
        <p:spPr>
          <a:xfrm>
            <a:off x="640080" y="3566160"/>
            <a:ext cx="10881360" cy="1463040"/>
          </a:xfrm>
          <a:prstGeom prst="rect">
            <a:avLst/>
          </a:prstGeom>
          <a:noFill/>
        </p:spPr>
        <p:txBody>
          <a:bodyPr wrap="square" rtlCol="0"/>
          <a:lstStyle>
            <a:lvl1pPr marL="0" indent="0" algn="l">
              <a:buNone/>
              <a:defRPr lang="en-US" sz="2000" dirty="0">
                <a:solidFill>
                  <a:srgbClr val="CDD0E6"/>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64240" cy="777240"/>
          </a:xfrm>
          <a:prstGeom prst="rect">
            <a:avLst/>
          </a:prstGeom>
          <a:noFill/>
        </p:spPr>
        <p:txBody>
          <a:bodyPr wrap="square" rtlCol="0"/>
          <a:lstStyle>
            <a:lvl1pPr marL="0" indent="0" algn="l">
              <a:buNone/>
              <a:defRPr lang="en-US" sz="3000" b="1" dirty="0">
                <a:solidFill>
                  <a:srgbClr val="1B1F3B"/>
                </a:solidFill>
              </a:defRPr>
            </a:lvl1pPr>
          </a:lstStyle>
          <a:p>
            <a:pPr marL="0" indent="0" algn="l">
              <a:buNone/>
            </a:pPr>
            <a:endParaRPr lang="en-US" sz="3000" dirty="0"/>
          </a:p>
        </p:txBody>
      </p:sp>
      <p:sp>
        <p:nvSpPr>
          <p:cNvPr id="3" name="Text 0"/>
          <p:cNvSpPr/>
          <p:nvPr/>
        </p:nvSpPr>
        <p:spPr>
          <a:xfrm>
            <a:off x="548640" y="6446520"/>
            <a:ext cx="3657600" cy="274320"/>
          </a:xfrm>
          <a:prstGeom prst="rect">
            <a:avLst/>
          </a:prstGeom>
          <a:noFill/>
        </p:spPr>
        <p:txBody>
          <a:bodyPr wrap="square" lIns="0" tIns="0" rIns="0" bIns="0" rtlCol="0" anchor="ctr"/>
          <a:lstStyle/>
          <a:p>
            <a:pPr marL="0" indent="0">
              <a:buNone/>
            </a:pPr>
            <a:r>
              <a:rPr lang="en-US" sz="1000" dirty="0">
                <a:solidFill>
                  <a:srgbClr val="9AA0BF"/>
                </a:solidFill>
              </a:rPr>
              <a:t>Agile Dev Assist</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p:spPr>
        <p:txBody>
          <a:bodyPr/>
          <a:lstStyle>
            <a:lvl1pPr>
              <a:defRPr sz="1000">
                <a:solidFill>
                  <a:srgbClr val="9AA0BF"/>
                </a:solidFill>
              </a:defRPr>
            </a:lvl1pPr>
          </a:lstStyle>
          <a:p>
            <a:pPr algn="l"/>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6C5CE7"/>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640080" y="2377440"/>
            <a:ext cx="10881360" cy="1097280"/>
          </a:xfrm>
          <a:prstGeom prst="rect">
            <a:avLst/>
          </a:prstGeom>
          <a:noFill/>
        </p:spPr>
        <p:txBody>
          <a:bodyPr wrap="square" rtlCol="0"/>
          <a:lstStyle>
            <a:lvl1pPr marL="0" indent="0" algn="l">
              <a:buNone/>
              <a:defRPr lang="en-US" sz="4000" b="1" dirty="0">
                <a:solidFill>
                  <a:srgbClr val="FFFFFF"/>
                </a:solidFill>
              </a:defRPr>
            </a:lvl1pPr>
          </a:lstStyle>
          <a:p>
            <a:pPr marL="0" indent="0" algn="l">
              <a:buNone/>
            </a:pPr>
            <a:endParaRPr lang="en-US" sz="4000" dirty="0"/>
          </a:p>
        </p:txBody>
      </p:sp>
      <p:sp>
        <p:nvSpPr>
          <p:cNvPr id="3" name="Text 0"/>
          <p:cNvSpPr/>
          <p:nvPr>
            <p:ph type="body" idx="101" hasCustomPrompt="1"/>
          </p:nvPr>
        </p:nvSpPr>
        <p:spPr>
          <a:xfrm>
            <a:off x="640080" y="3566160"/>
            <a:ext cx="10881360" cy="1097280"/>
          </a:xfrm>
          <a:prstGeom prst="rect">
            <a:avLst/>
          </a:prstGeom>
          <a:noFill/>
        </p:spPr>
        <p:txBody>
          <a:bodyPr wrap="square" rtlCol="0"/>
          <a:lstStyle>
            <a:lvl1pPr marL="0" indent="0" algn="l">
              <a:buNone/>
              <a:defRPr lang="en-US" sz="1800" dirty="0">
                <a:solidFill>
                  <a:srgbClr val="ECEAFF"/>
                </a:solidFill>
              </a:defRPr>
            </a:lvl1pPr>
          </a:lstStyle>
          <a:p>
            <a:pPr marL="0" indent="0" algn="l">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p:spPr>
        <p:txBody>
          <a:bodyPr/>
          <a:lstStyle>
            <a:lvl1pPr>
              <a:defRPr sz="1000">
                <a:solidFill>
                  <a:srgbClr val="9AA0BF"/>
                </a:solidFill>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778240" y="-1097280"/>
            <a:ext cx="4754880" cy="4754880"/>
          </a:xfrm>
          <a:prstGeom prst="ellipse">
            <a:avLst/>
          </a:prstGeom>
          <a:solidFill>
            <a:srgbClr val="6C5CE7">
              <a:alpha val="25000"/>
            </a:srgbClr>
          </a:solidFill>
          <a:ln w="12700">
            <a:solidFill>
              <a:srgbClr val="6C5CE7">
                <a:alpha val="25000"/>
              </a:srgbClr>
            </a:solidFill>
            <a:prstDash val="solid"/>
          </a:ln>
        </p:spPr>
      </p:sp>
      <p:sp>
        <p:nvSpPr>
          <p:cNvPr id="3" name="Shape 1"/>
          <p:cNvSpPr/>
          <p:nvPr/>
        </p:nvSpPr>
        <p:spPr>
          <a:xfrm>
            <a:off x="10241280" y="1463040"/>
            <a:ext cx="3108960" cy="3108960"/>
          </a:xfrm>
          <a:prstGeom prst="ellipse">
            <a:avLst/>
          </a:prstGeom>
          <a:solidFill>
            <a:srgbClr val="22B8CF">
              <a:alpha val="30000"/>
            </a:srgbClr>
          </a:solidFill>
          <a:ln w="12700">
            <a:solidFill>
              <a:srgbClr val="22B8CF">
                <a:alpha val="30000"/>
              </a:srgbClr>
            </a:solidFill>
            <a:prstDash val="solid"/>
          </a:ln>
        </p:spPr>
      </p:sp>
      <p:sp>
        <p:nvSpPr>
          <p:cNvPr id="4" name="Text 2"/>
          <p:cNvSpPr txBox="1"/>
          <p:nvPr/>
        </p:nvSpPr>
        <p:spPr>
          <a:xfrm>
            <a:off x="640080" y="822960"/>
            <a:ext cx="7315200" cy="365760"/>
          </a:xfrm>
          <a:prstGeom prst="rect">
            <a:avLst/>
          </a:prstGeom>
          <a:noFill/>
        </p:spPr>
        <p:txBody>
          <a:bodyPr wrap="square" lIns="0" tIns="0" rIns="0" bIns="0" rtlCol="0" anchor="t"/>
          <a:lstStyle/>
          <a:p>
            <a:pPr marL="0" indent="0">
              <a:buNone/>
            </a:pPr>
            <a:r>
              <a:rPr lang="en-US" sz="1400" b="1" kern="0" spc="400" dirty="0">
                <a:solidFill>
                  <a:srgbClr val="22B8CF"/>
                </a:solidFill>
              </a:rPr>
              <a:t>AGILE DEV ASSIST</a:t>
            </a:r>
            <a:endParaRPr lang="en-US" sz="1400" dirty="0"/>
          </a:p>
        </p:txBody>
      </p:sp>
      <p:sp>
        <p:nvSpPr>
          <p:cNvPr id="5" name="Text 3"/>
          <p:cNvSpPr txBox="1"/>
          <p:nvPr/>
        </p:nvSpPr>
        <p:spPr>
          <a:xfrm>
            <a:off x="640080" y="1280160"/>
            <a:ext cx="8686800" cy="1463040"/>
          </a:xfrm>
          <a:prstGeom prst="rect">
            <a:avLst/>
          </a:prstGeom>
          <a:noFill/>
        </p:spPr>
        <p:txBody>
          <a:bodyPr wrap="square" lIns="0" tIns="0" rIns="0" bIns="0" rtlCol="0" anchor="t"/>
          <a:lstStyle/>
          <a:p>
            <a:pPr marL="0" indent="0">
              <a:buNone/>
            </a:pPr>
            <a:r>
              <a:rPr lang="en-US" sz="3600" b="1" dirty="0">
                <a:solidFill>
                  <a:srgbClr val="FFFFFF"/>
                </a:solidFill>
                <a:latin typeface="Cambria" panose="02040503050406030204" pitchFamily="34" charset="0"/>
                <a:ea typeface="Cambria" panose="02040503050406030204" pitchFamily="34" charset="-122"/>
                <a:cs typeface="Cambria" panose="02040503050406030204" pitchFamily="34" charset="-120"/>
              </a:rPr>
              <a:t>A user story in. Reviewed, repository-ready code out. In minutes.</a:t>
            </a:r>
            <a:endParaRPr lang="en-US" sz="3600" dirty="0"/>
          </a:p>
        </p:txBody>
      </p:sp>
      <p:sp>
        <p:nvSpPr>
          <p:cNvPr id="6" name="Text 4"/>
          <p:cNvSpPr txBox="1"/>
          <p:nvPr/>
        </p:nvSpPr>
        <p:spPr>
          <a:xfrm>
            <a:off x="640080" y="2880360"/>
            <a:ext cx="8503920" cy="1005840"/>
          </a:xfrm>
          <a:prstGeom prst="rect">
            <a:avLst/>
          </a:prstGeom>
          <a:noFill/>
        </p:spPr>
        <p:txBody>
          <a:bodyPr wrap="square" lIns="0" tIns="0" rIns="0" bIns="0" rtlCol="0" anchor="t"/>
          <a:lstStyle/>
          <a:p>
            <a:pPr marL="0" indent="0">
              <a:buNone/>
            </a:pPr>
            <a:r>
              <a:rPr lang="en-US" sz="1500" dirty="0">
                <a:solidFill>
                  <a:srgbClr val="CDD0E6"/>
                </a:solidFill>
              </a:rPr>
              <a:t>A developer spends 1-2 days on a small story - most of it finding out: which folder, which pattern, what else must change. Agile Dev Assist does the finding out and the first draft, the way our team writes it.</a:t>
            </a:r>
            <a:endParaRPr lang="en-US" sz="1500" dirty="0"/>
          </a:p>
        </p:txBody>
      </p:sp>
      <p:sp>
        <p:nvSpPr>
          <p:cNvPr id="7" name="Shape 5"/>
          <p:cNvSpPr/>
          <p:nvPr/>
        </p:nvSpPr>
        <p:spPr>
          <a:xfrm>
            <a:off x="640080" y="4206240"/>
            <a:ext cx="2606040" cy="1280160"/>
          </a:xfrm>
          <a:prstGeom prst="roundRect">
            <a:avLst>
              <a:gd name="adj" fmla="val 8571"/>
            </a:avLst>
          </a:prstGeom>
          <a:solidFill>
            <a:srgbClr val="2A2F55"/>
          </a:solidFill>
          <a:ln w="19050">
            <a:solidFill>
              <a:srgbClr val="22B8CF"/>
            </a:solidFill>
            <a:prstDash val="solid"/>
          </a:ln>
        </p:spPr>
      </p:sp>
      <p:sp>
        <p:nvSpPr>
          <p:cNvPr id="8" name="Text 6"/>
          <p:cNvSpPr txBox="1"/>
          <p:nvPr/>
        </p:nvSpPr>
        <p:spPr>
          <a:xfrm>
            <a:off x="822960" y="4343400"/>
            <a:ext cx="2286000" cy="365760"/>
          </a:xfrm>
          <a:prstGeom prst="rect">
            <a:avLst/>
          </a:prstGeom>
          <a:noFill/>
        </p:spPr>
        <p:txBody>
          <a:bodyPr wrap="square" lIns="0" tIns="0" rIns="0" bIns="0" rtlCol="0" anchor="t"/>
          <a:lstStyle/>
          <a:p>
            <a:pPr marL="0" indent="0">
              <a:buNone/>
            </a:pPr>
            <a:r>
              <a:rPr lang="en-US" sz="1500" b="1" dirty="0">
                <a:solidFill>
                  <a:srgbClr val="FFFFFF"/>
                </a:solidFill>
              </a:rPr>
              <a:t>Story in</a:t>
            </a:r>
            <a:endParaRPr lang="en-US" sz="1500" dirty="0"/>
          </a:p>
        </p:txBody>
      </p:sp>
      <p:sp>
        <p:nvSpPr>
          <p:cNvPr id="9" name="Text 7"/>
          <p:cNvSpPr txBox="1"/>
          <p:nvPr/>
        </p:nvSpPr>
        <p:spPr>
          <a:xfrm>
            <a:off x="822960" y="4754880"/>
            <a:ext cx="2286000" cy="640080"/>
          </a:xfrm>
          <a:prstGeom prst="rect">
            <a:avLst/>
          </a:prstGeom>
          <a:noFill/>
        </p:spPr>
        <p:txBody>
          <a:bodyPr wrap="square" lIns="0" tIns="0" rIns="0" bIns="0" rtlCol="0" anchor="t"/>
          <a:lstStyle/>
          <a:p>
            <a:pPr marL="0" indent="0">
              <a:buNone/>
            </a:pPr>
            <a:r>
              <a:rPr lang="en-US" sz="1150" dirty="0">
                <a:solidFill>
                  <a:srgbClr val="CDD0E6"/>
                </a:solidFill>
              </a:rPr>
              <a:t>ticket, SQL, acceptance criteria</a:t>
            </a:r>
            <a:endParaRPr lang="en-US" sz="1150" dirty="0"/>
          </a:p>
        </p:txBody>
      </p:sp>
      <p:sp>
        <p:nvSpPr>
          <p:cNvPr id="10" name="Shape 8"/>
          <p:cNvSpPr/>
          <p:nvPr/>
        </p:nvSpPr>
        <p:spPr>
          <a:xfrm>
            <a:off x="3246120" y="4846320"/>
            <a:ext cx="228600" cy="9144"/>
          </a:xfrm>
          <a:prstGeom prst="line">
            <a:avLst/>
          </a:prstGeom>
          <a:noFill/>
          <a:ln w="19050">
            <a:solidFill>
              <a:srgbClr val="9AA0BF"/>
            </a:solidFill>
            <a:prstDash val="solid"/>
            <a:tailEnd type="triangle"/>
          </a:ln>
        </p:spPr>
      </p:sp>
      <p:sp>
        <p:nvSpPr>
          <p:cNvPr id="11" name="Shape 9"/>
          <p:cNvSpPr/>
          <p:nvPr/>
        </p:nvSpPr>
        <p:spPr>
          <a:xfrm>
            <a:off x="3474720" y="4206240"/>
            <a:ext cx="2606040" cy="1280160"/>
          </a:xfrm>
          <a:prstGeom prst="roundRect">
            <a:avLst>
              <a:gd name="adj" fmla="val 8571"/>
            </a:avLst>
          </a:prstGeom>
          <a:solidFill>
            <a:srgbClr val="2A2F55"/>
          </a:solidFill>
          <a:ln w="19050">
            <a:solidFill>
              <a:srgbClr val="E6A23C"/>
            </a:solidFill>
            <a:prstDash val="solid"/>
          </a:ln>
        </p:spPr>
      </p:sp>
      <p:sp>
        <p:nvSpPr>
          <p:cNvPr id="12" name="Text 10"/>
          <p:cNvSpPr txBox="1"/>
          <p:nvPr/>
        </p:nvSpPr>
        <p:spPr>
          <a:xfrm>
            <a:off x="3657600" y="4343400"/>
            <a:ext cx="2286000" cy="365760"/>
          </a:xfrm>
          <a:prstGeom prst="rect">
            <a:avLst/>
          </a:prstGeom>
          <a:noFill/>
        </p:spPr>
        <p:txBody>
          <a:bodyPr wrap="square" lIns="0" tIns="0" rIns="0" bIns="0" rtlCol="0" anchor="t"/>
          <a:lstStyle/>
          <a:p>
            <a:pPr marL="0" indent="0">
              <a:buNone/>
            </a:pPr>
            <a:r>
              <a:rPr lang="en-US" sz="1500" b="1" dirty="0">
                <a:solidFill>
                  <a:srgbClr val="FFFFFF"/>
                </a:solidFill>
              </a:rPr>
              <a:t>Our context</a:t>
            </a:r>
            <a:endParaRPr lang="en-US" sz="1500" dirty="0"/>
          </a:p>
        </p:txBody>
      </p:sp>
      <p:sp>
        <p:nvSpPr>
          <p:cNvPr id="13" name="Text 11"/>
          <p:cNvSpPr txBox="1"/>
          <p:nvPr/>
        </p:nvSpPr>
        <p:spPr>
          <a:xfrm>
            <a:off x="3657600" y="4754880"/>
            <a:ext cx="2286000" cy="640080"/>
          </a:xfrm>
          <a:prstGeom prst="rect">
            <a:avLst/>
          </a:prstGeom>
          <a:noFill/>
        </p:spPr>
        <p:txBody>
          <a:bodyPr wrap="square" lIns="0" tIns="0" rIns="0" bIns="0" rtlCol="0" anchor="t"/>
          <a:lstStyle/>
          <a:p>
            <a:pPr marL="0" indent="0">
              <a:buNone/>
            </a:pPr>
            <a:r>
              <a:rPr lang="en-US" sz="1150" dirty="0">
                <a:solidFill>
                  <a:srgbClr val="CDD0E6"/>
                </a:solidFill>
              </a:rPr>
              <a:t>skills, standards, Greenplum tables, code repo</a:t>
            </a:r>
            <a:endParaRPr lang="en-US" sz="1150" dirty="0"/>
          </a:p>
        </p:txBody>
      </p:sp>
      <p:sp>
        <p:nvSpPr>
          <p:cNvPr id="14" name="Shape 12"/>
          <p:cNvSpPr/>
          <p:nvPr/>
        </p:nvSpPr>
        <p:spPr>
          <a:xfrm>
            <a:off x="6080760" y="4846320"/>
            <a:ext cx="228600" cy="9144"/>
          </a:xfrm>
          <a:prstGeom prst="line">
            <a:avLst/>
          </a:prstGeom>
          <a:noFill/>
          <a:ln w="19050">
            <a:solidFill>
              <a:srgbClr val="9AA0BF"/>
            </a:solidFill>
            <a:prstDash val="solid"/>
            <a:tailEnd type="triangle"/>
          </a:ln>
        </p:spPr>
      </p:sp>
      <p:sp>
        <p:nvSpPr>
          <p:cNvPr id="15" name="Shape 13"/>
          <p:cNvSpPr/>
          <p:nvPr/>
        </p:nvSpPr>
        <p:spPr>
          <a:xfrm>
            <a:off x="6309360" y="4206240"/>
            <a:ext cx="2606040" cy="1280160"/>
          </a:xfrm>
          <a:prstGeom prst="roundRect">
            <a:avLst>
              <a:gd name="adj" fmla="val 8571"/>
            </a:avLst>
          </a:prstGeom>
          <a:solidFill>
            <a:srgbClr val="2A2F55"/>
          </a:solidFill>
          <a:ln w="19050">
            <a:solidFill>
              <a:srgbClr val="6C5CE7"/>
            </a:solidFill>
            <a:prstDash val="solid"/>
          </a:ln>
        </p:spPr>
      </p:sp>
      <p:sp>
        <p:nvSpPr>
          <p:cNvPr id="16" name="Text 14"/>
          <p:cNvSpPr txBox="1"/>
          <p:nvPr/>
        </p:nvSpPr>
        <p:spPr>
          <a:xfrm>
            <a:off x="6492240" y="4343400"/>
            <a:ext cx="2286000" cy="365760"/>
          </a:xfrm>
          <a:prstGeom prst="rect">
            <a:avLst/>
          </a:prstGeom>
          <a:noFill/>
        </p:spPr>
        <p:txBody>
          <a:bodyPr wrap="square" lIns="0" tIns="0" rIns="0" bIns="0" rtlCol="0" anchor="t"/>
          <a:lstStyle/>
          <a:p>
            <a:pPr marL="0" indent="0">
              <a:buNone/>
            </a:pPr>
            <a:r>
              <a:rPr lang="en-US" sz="1500" b="1" dirty="0">
                <a:solidFill>
                  <a:srgbClr val="FFFFFF"/>
                </a:solidFill>
              </a:rPr>
              <a:t>Code out</a:t>
            </a:r>
            <a:endParaRPr lang="en-US" sz="1500" dirty="0"/>
          </a:p>
        </p:txBody>
      </p:sp>
      <p:sp>
        <p:nvSpPr>
          <p:cNvPr id="17" name="Text 15"/>
          <p:cNvSpPr txBox="1"/>
          <p:nvPr/>
        </p:nvSpPr>
        <p:spPr>
          <a:xfrm>
            <a:off x="6492240" y="4754880"/>
            <a:ext cx="2286000" cy="640080"/>
          </a:xfrm>
          <a:prstGeom prst="rect">
            <a:avLst/>
          </a:prstGeom>
          <a:noFill/>
        </p:spPr>
        <p:txBody>
          <a:bodyPr wrap="square" lIns="0" tIns="0" rIns="0" bIns="0" rtlCol="0" anchor="t"/>
          <a:lstStyle/>
          <a:p>
            <a:pPr marL="0" indent="0">
              <a:buNone/>
            </a:pPr>
            <a:r>
              <a:rPr lang="en-US" sz="1150" dirty="0">
                <a:solidFill>
                  <a:srgbClr val="CDD0E6"/>
                </a:solidFill>
              </a:rPr>
              <a:t>every file, registered, validated, reviewed</a:t>
            </a:r>
            <a:endParaRPr lang="en-US" sz="1150" dirty="0"/>
          </a:p>
        </p:txBody>
      </p:sp>
      <p:sp>
        <p:nvSpPr>
          <p:cNvPr id="18" name="Shape 16"/>
          <p:cNvSpPr/>
          <p:nvPr/>
        </p:nvSpPr>
        <p:spPr>
          <a:xfrm>
            <a:off x="8915400" y="4846320"/>
            <a:ext cx="228600" cy="9144"/>
          </a:xfrm>
          <a:prstGeom prst="line">
            <a:avLst/>
          </a:prstGeom>
          <a:noFill/>
          <a:ln w="19050">
            <a:solidFill>
              <a:srgbClr val="9AA0BF"/>
            </a:solidFill>
            <a:prstDash val="solid"/>
            <a:tailEnd type="triangle"/>
          </a:ln>
        </p:spPr>
      </p:sp>
      <p:sp>
        <p:nvSpPr>
          <p:cNvPr id="19" name="Shape 17"/>
          <p:cNvSpPr/>
          <p:nvPr/>
        </p:nvSpPr>
        <p:spPr>
          <a:xfrm>
            <a:off x="9144000" y="4206240"/>
            <a:ext cx="2606040" cy="1280160"/>
          </a:xfrm>
          <a:prstGeom prst="roundRect">
            <a:avLst>
              <a:gd name="adj" fmla="val 8571"/>
            </a:avLst>
          </a:prstGeom>
          <a:solidFill>
            <a:srgbClr val="2A2F55"/>
          </a:solidFill>
          <a:ln w="19050">
            <a:solidFill>
              <a:srgbClr val="2E9E6B"/>
            </a:solidFill>
            <a:prstDash val="solid"/>
          </a:ln>
        </p:spPr>
      </p:sp>
      <p:sp>
        <p:nvSpPr>
          <p:cNvPr id="20" name="Text 18"/>
          <p:cNvSpPr txBox="1"/>
          <p:nvPr/>
        </p:nvSpPr>
        <p:spPr>
          <a:xfrm>
            <a:off x="9326880" y="4343400"/>
            <a:ext cx="2286000" cy="365760"/>
          </a:xfrm>
          <a:prstGeom prst="rect">
            <a:avLst/>
          </a:prstGeom>
          <a:noFill/>
        </p:spPr>
        <p:txBody>
          <a:bodyPr wrap="square" lIns="0" tIns="0" rIns="0" bIns="0" rtlCol="0" anchor="t"/>
          <a:lstStyle/>
          <a:p>
            <a:pPr marL="0" indent="0">
              <a:buNone/>
            </a:pPr>
            <a:r>
              <a:rPr lang="en-US" sz="1500" b="1" dirty="0">
                <a:solidFill>
                  <a:srgbClr val="FFFFFF"/>
                </a:solidFill>
              </a:rPr>
              <a:t>Trust</a:t>
            </a:r>
            <a:endParaRPr lang="en-US" sz="1500" dirty="0"/>
          </a:p>
        </p:txBody>
      </p:sp>
      <p:sp>
        <p:nvSpPr>
          <p:cNvPr id="21" name="Text 19"/>
          <p:cNvSpPr txBox="1"/>
          <p:nvPr/>
        </p:nvSpPr>
        <p:spPr>
          <a:xfrm>
            <a:off x="9326880" y="4754880"/>
            <a:ext cx="2286000" cy="640080"/>
          </a:xfrm>
          <a:prstGeom prst="rect">
            <a:avLst/>
          </a:prstGeom>
          <a:noFill/>
        </p:spPr>
        <p:txBody>
          <a:bodyPr wrap="square" lIns="0" tIns="0" rIns="0" bIns="0" rtlCol="0" anchor="t"/>
          <a:lstStyle/>
          <a:p>
            <a:pPr marL="0" indent="0">
              <a:buNone/>
            </a:pPr>
            <a:r>
              <a:rPr lang="en-US" sz="1150" dirty="0">
                <a:solidFill>
                  <a:srgbClr val="CDD0E6"/>
                </a:solidFill>
              </a:rPr>
              <a:t>confidence score, diff, branch in your name</a:t>
            </a:r>
            <a:endParaRPr lang="en-US" sz="1150" dirty="0"/>
          </a:p>
        </p:txBody>
      </p:sp>
      <p:sp>
        <p:nvSpPr>
          <p:cNvPr id="22" name="Text 20"/>
          <p:cNvSpPr txBox="1"/>
          <p:nvPr/>
        </p:nvSpPr>
        <p:spPr>
          <a:xfrm>
            <a:off x="640080" y="5943600"/>
            <a:ext cx="10972800" cy="365760"/>
          </a:xfrm>
          <a:prstGeom prst="rect">
            <a:avLst/>
          </a:prstGeom>
          <a:noFill/>
        </p:spPr>
        <p:txBody>
          <a:bodyPr wrap="square" lIns="0" tIns="0" rIns="0" bIns="0" rtlCol="0" anchor="t"/>
          <a:lstStyle/>
          <a:p>
            <a:pPr marL="0" indent="0">
              <a:buNone/>
            </a:pPr>
            <a:r>
              <a:rPr lang="en-US" sz="1200" i="1" dirty="0">
                <a:solidFill>
                  <a:srgbClr val="9AA0BF"/>
                </a:solidFill>
              </a:rPr>
              <a:t>Nothing leaves the bank except prompts to Azure OpenAI. No key, token or password is ever written to disk.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100"/>
          </p:nvPr>
        </p:nvSpPr>
        <p:spPr/>
        <p:txBody>
          <a:bodyPr/>
          <a:lstStyle/>
          <a:p>
            <a:r>
              <a:rPr sz="3000" b="1">
                <a:solidFill>
                  <a:srgbClr val="1B1F3B"/>
                </a:solidFill>
              </a:rPr>
              <a:t>Why, for whom, what changes – on one page</a:t>
            </a:r>
            <a:endParaRPr sz="3000" b="1">
              <a:solidFill>
                <a:srgbClr val="1B1F3B"/>
              </a:solidFill>
            </a:endParaRPr>
          </a:p>
        </p:txBody>
      </p:sp>
      <p:graphicFrame>
        <p:nvGraphicFramePr>
          <p:cNvPr id="3" name="Table 2"/>
          <p:cNvGraphicFramePr>
            <a:graphicFrameLocks noGrp="1"/>
          </p:cNvGraphicFramePr>
          <p:nvPr/>
        </p:nvGraphicFramePr>
        <p:xfrm>
          <a:off x="640080" y="1371600"/>
          <a:ext cx="10972800" cy="4571994"/>
        </p:xfrm>
        <a:graphic>
          <a:graphicData uri="http://schemas.openxmlformats.org/drawingml/2006/table">
            <a:tbl>
              <a:tblPr>
                <a:tableStyleId>{5C22544A-7EE6-4342-B048-85BDC9FD1C3A}</a:tableStyleId>
              </a:tblPr>
              <a:tblGrid>
                <a:gridCol w="1920240"/>
                <a:gridCol w="9052560"/>
              </a:tblGrid>
              <a:tr h="653142">
                <a:tc>
                  <a:txBody>
                    <a:bodyPr/>
                    <a:lstStyle/>
                    <a:p>
                      <a:r>
                        <a:rPr sz="1400" b="1">
                          <a:solidFill>
                            <a:srgbClr val="6C5CE7"/>
                          </a:solidFill>
                        </a:rPr>
                        <a:t>The problem</a:t>
                      </a:r>
                      <a:endParaRPr sz="1400" b="1">
                        <a:solidFill>
                          <a:srgbClr val="6C5CE7"/>
                        </a:solidFill>
                      </a:endParaRPr>
                    </a:p>
                  </a:txBody>
                  <a:tcPr marL="137160" marR="137160" anchor="ctr">
                    <a:solidFill>
                      <a:srgbClr val="F1F2F8"/>
                    </a:solidFill>
                  </a:tcPr>
                </a:tc>
                <a:tc>
                  <a:txBody>
                    <a:bodyPr/>
                    <a:lstStyle/>
                    <a:p>
                      <a:r>
                        <a:rPr sz="1250">
                          <a:solidFill>
                            <a:srgbClr val="1B1F3B"/>
                          </a:solidFill>
                        </a:rPr>
                        <a:t>Most of the time on a story goes into finding out how our code wants things done (which folder, which file to copy, where to register, which grant to add) – not into the logic itself. Misses show up late, in review or production.</a:t>
                      </a:r>
                      <a:endParaRPr sz="1250">
                        <a:solidFill>
                          <a:srgbClr val="1B1F3B"/>
                        </a:solidFill>
                      </a:endParaRPr>
                    </a:p>
                  </a:txBody>
                  <a:tcPr marL="137160" marR="137160" anchor="ctr">
                    <a:solidFill>
                      <a:srgbClr val="F1F2F8"/>
                    </a:solidFill>
                  </a:tcPr>
                </a:tc>
              </a:tr>
              <a:tr h="653142">
                <a:tc>
                  <a:txBody>
                    <a:bodyPr/>
                    <a:lstStyle/>
                    <a:p>
                      <a:r>
                        <a:rPr sz="1400" b="1">
                          <a:solidFill>
                            <a:srgbClr val="6C5CE7"/>
                          </a:solidFill>
                        </a:rPr>
                        <a:t>Who it is for</a:t>
                      </a:r>
                      <a:endParaRPr sz="1400" b="1">
                        <a:solidFill>
                          <a:srgbClr val="6C5CE7"/>
                        </a:solidFill>
                      </a:endParaRPr>
                    </a:p>
                  </a:txBody>
                  <a:tcPr marL="137160" marR="137160" anchor="ctr">
                    <a:solidFill>
                      <a:srgbClr val="FFFFFF"/>
                    </a:solidFill>
                  </a:tcPr>
                </a:tc>
                <a:tc>
                  <a:txBody>
                    <a:bodyPr/>
                    <a:lstStyle/>
                    <a:p>
                      <a:r>
                        <a:rPr sz="1250">
                          <a:solidFill>
                            <a:srgbClr val="1B1F3B"/>
                          </a:solidFill>
                        </a:rPr>
                        <a:t>The developers who build IKG, ODM and NLG; then reviewers, new joiners, story writers and the people responsible for standards.</a:t>
                      </a:r>
                      <a:endParaRPr sz="1250">
                        <a:solidFill>
                          <a:srgbClr val="1B1F3B"/>
                        </a:solidFill>
                      </a:endParaRPr>
                    </a:p>
                  </a:txBody>
                  <a:tcPr marL="137160" marR="137160" anchor="ctr">
                    <a:solidFill>
                      <a:srgbClr val="FFFFFF"/>
                    </a:solidFill>
                  </a:tcPr>
                </a:tc>
              </a:tr>
              <a:tr h="653142">
                <a:tc>
                  <a:txBody>
                    <a:bodyPr/>
                    <a:lstStyle/>
                    <a:p>
                      <a:r>
                        <a:rPr sz="1400" b="1">
                          <a:solidFill>
                            <a:srgbClr val="6C5CE7"/>
                          </a:solidFill>
                        </a:rPr>
                        <a:t>What we built</a:t>
                      </a:r>
                      <a:endParaRPr sz="1400" b="1">
                        <a:solidFill>
                          <a:srgbClr val="6C5CE7"/>
                        </a:solidFill>
                      </a:endParaRPr>
                    </a:p>
                  </a:txBody>
                  <a:tcPr marL="137160" marR="137160" anchor="ctr">
                    <a:solidFill>
                      <a:srgbClr val="F1F2F8"/>
                    </a:solidFill>
                  </a:tcPr>
                </a:tc>
                <a:tc>
                  <a:txBody>
                    <a:bodyPr/>
                    <a:lstStyle/>
                    <a:p>
                      <a:r>
                        <a:rPr sz="1250">
                          <a:solidFill>
                            <a:srgbClr val="1B1F3B"/>
                          </a:solidFill>
                        </a:rPr>
                        <a:t>Knowledge Pack: a context pack with the folders, files, tables, rules and conventions of each system. Dev Assistant: a tool where you attach a story, press Run, and get the plan, the files, a check report and a review – then push it to GitLab under your own name.</a:t>
                      </a:r>
                      <a:endParaRPr sz="1250">
                        <a:solidFill>
                          <a:srgbClr val="1B1F3B"/>
                        </a:solidFill>
                      </a:endParaRPr>
                    </a:p>
                  </a:txBody>
                  <a:tcPr marL="137160" marR="137160" anchor="ctr">
                    <a:solidFill>
                      <a:srgbClr val="F1F2F8"/>
                    </a:solidFill>
                  </a:tcPr>
                </a:tc>
              </a:tr>
              <a:tr h="653142">
                <a:tc>
                  <a:txBody>
                    <a:bodyPr/>
                    <a:lstStyle/>
                    <a:p>
                      <a:r>
                        <a:rPr sz="1400" b="1">
                          <a:solidFill>
                            <a:srgbClr val="6C5CE7"/>
                          </a:solidFill>
                        </a:rPr>
                        <a:t>What changes</a:t>
                      </a:r>
                      <a:endParaRPr sz="1400" b="1">
                        <a:solidFill>
                          <a:srgbClr val="6C5CE7"/>
                        </a:solidFill>
                      </a:endParaRPr>
                    </a:p>
                  </a:txBody>
                  <a:tcPr marL="137160" marR="137160" anchor="ctr">
                    <a:solidFill>
                      <a:srgbClr val="FFFFFF"/>
                    </a:solidFill>
                  </a:tcPr>
                </a:tc>
                <a:tc>
                  <a:txBody>
                    <a:bodyPr/>
                    <a:lstStyle/>
                    <a:p>
                      <a:r>
                        <a:rPr sz="1250">
                          <a:solidFill>
                            <a:srgbClr val="1B1F3B"/>
                          </a:solidFill>
                        </a:rPr>
                        <a:t>A routine story goes from 2–4 days to the same day. Mechanical mistakes are caught before the code is sent for review. Standards are checked on every file, every time. The knowledge stays current and does not leave with people.</a:t>
                      </a:r>
                      <a:endParaRPr sz="1250">
                        <a:solidFill>
                          <a:srgbClr val="1B1F3B"/>
                        </a:solidFill>
                      </a:endParaRPr>
                    </a:p>
                  </a:txBody>
                  <a:tcPr marL="137160" marR="137160" anchor="ctr">
                    <a:solidFill>
                      <a:srgbClr val="FFFFFF"/>
                    </a:solidFill>
                  </a:tcPr>
                </a:tc>
              </a:tr>
              <a:tr h="653142">
                <a:tc>
                  <a:txBody>
                    <a:bodyPr/>
                    <a:lstStyle/>
                    <a:p>
                      <a:r>
                        <a:rPr sz="1400" b="1">
                          <a:solidFill>
                            <a:srgbClr val="6C5CE7"/>
                          </a:solidFill>
                        </a:rPr>
                        <a:t>Proof so far</a:t>
                      </a:r>
                      <a:endParaRPr sz="1400" b="1">
                        <a:solidFill>
                          <a:srgbClr val="6C5CE7"/>
                        </a:solidFill>
                      </a:endParaRPr>
                    </a:p>
                  </a:txBody>
                  <a:tcPr marL="137160" marR="137160" anchor="ctr">
                    <a:solidFill>
                      <a:srgbClr val="F1F2F8"/>
                    </a:solidFill>
                  </a:tcPr>
                </a:tc>
                <a:tc>
                  <a:txBody>
                    <a:bodyPr/>
                    <a:lstStyle/>
                    <a:p>
                      <a:r>
                        <a:rPr sz="1250">
                          <a:solidFill>
                            <a:srgbClr val="1B1F3B"/>
                          </a:solidFill>
                        </a:rPr>
                        <a:t>Two real stories: code files generated in a few minutes, for under USD 2 each in token usage, with the mechanical parts right and only business questions left open.</a:t>
                      </a:r>
                      <a:endParaRPr sz="1250">
                        <a:solidFill>
                          <a:srgbClr val="1B1F3B"/>
                        </a:solidFill>
                      </a:endParaRPr>
                    </a:p>
                  </a:txBody>
                  <a:tcPr marL="137160" marR="137160" anchor="ctr">
                    <a:solidFill>
                      <a:srgbClr val="F1F2F8"/>
                    </a:solidFill>
                  </a:tcPr>
                </a:tc>
              </a:tr>
              <a:tr h="653142">
                <a:tc>
                  <a:txBody>
                    <a:bodyPr/>
                    <a:lstStyle/>
                    <a:p>
                      <a:r>
                        <a:rPr sz="1400" b="1">
                          <a:solidFill>
                            <a:srgbClr val="6C5CE7"/>
                          </a:solidFill>
                        </a:rPr>
                        <a:t>Guardrails</a:t>
                      </a:r>
                      <a:endParaRPr sz="1400" b="1">
                        <a:solidFill>
                          <a:srgbClr val="6C5CE7"/>
                        </a:solidFill>
                      </a:endParaRPr>
                    </a:p>
                  </a:txBody>
                  <a:tcPr marL="137160" marR="137160" anchor="ctr">
                    <a:solidFill>
                      <a:srgbClr val="FFFFFF"/>
                    </a:solidFill>
                  </a:tcPr>
                </a:tc>
                <a:tc>
                  <a:txBody>
                    <a:bodyPr/>
                    <a:lstStyle/>
                    <a:p>
                      <a:r>
                        <a:rPr sz="1250">
                          <a:solidFill>
                            <a:srgbClr val="1B1F3B"/>
                          </a:solidFill>
                        </a:rPr>
                        <a:t>It never merges anything itself; it never rewrites your existing files blindly; it shows exactly which files, tables and rules it used; every branch and commit carries the developer's name; no secrets stored on disk.</a:t>
                      </a:r>
                      <a:endParaRPr sz="1250">
                        <a:solidFill>
                          <a:srgbClr val="1B1F3B"/>
                        </a:solidFill>
                      </a:endParaRPr>
                    </a:p>
                  </a:txBody>
                  <a:tcPr marL="137160" marR="137160" anchor="ctr">
                    <a:solidFill>
                      <a:srgbClr val="FFFFFF"/>
                    </a:solidFill>
                  </a:tcPr>
                </a:tc>
              </a:tr>
              <a:tr h="653142">
                <a:tc>
                  <a:txBody>
                    <a:bodyPr/>
                    <a:lstStyle/>
                    <a:p>
                      <a:r>
                        <a:rPr sz="1400" b="1">
                          <a:solidFill>
                            <a:srgbClr val="6C5CE7"/>
                          </a:solidFill>
                        </a:rPr>
                        <a:t>What we ask</a:t>
                      </a:r>
                      <a:endParaRPr sz="1400" b="1">
                        <a:solidFill>
                          <a:srgbClr val="6C5CE7"/>
                        </a:solidFill>
                      </a:endParaRPr>
                    </a:p>
                  </a:txBody>
                  <a:tcPr marL="137160" marR="137160" anchor="ctr">
                    <a:solidFill>
                      <a:srgbClr val="F1F2F8"/>
                    </a:solidFill>
                  </a:tcPr>
                </a:tc>
                <a:tc>
                  <a:txBody>
                    <a:bodyPr/>
                    <a:lstStyle/>
                    <a:p>
                      <a:r>
                        <a:rPr sz="1250">
                          <a:solidFill>
                            <a:srgbClr val="1B1F3B"/>
                          </a:solidFill>
                        </a:rPr>
                        <a:t>Write stories that name the tables and columns; keep the knowledge file current; review the result the way you review any merge request.</a:t>
                      </a:r>
                      <a:endParaRPr sz="1250">
                        <a:solidFill>
                          <a:srgbClr val="1B1F3B"/>
                        </a:solidFill>
                      </a:endParaRPr>
                    </a:p>
                  </a:txBody>
                  <a:tcPr marL="137160" marR="137160" anchor="ctr">
                    <a:solidFill>
                      <a:srgbClr val="F1F2F8"/>
                    </a:solidFill>
                  </a:tcPr>
                </a:tc>
              </a:tr>
            </a:tbl>
          </a:graphicData>
        </a:graphic>
      </p:graphicFrame>
      <p:sp>
        <p:nvSpPr>
          <p:cNvPr id="4" name="TextBox 3"/>
          <p:cNvSpPr txBox="1"/>
          <p:nvPr/>
        </p:nvSpPr>
        <p:spPr>
          <a:xfrm>
            <a:off x="640080" y="6035040"/>
            <a:ext cx="10972800" cy="365760"/>
          </a:xfrm>
          <a:prstGeom prst="rect">
            <a:avLst/>
          </a:prstGeom>
          <a:noFill/>
        </p:spPr>
        <p:txBody>
          <a:bodyPr wrap="square">
            <a:spAutoFit/>
          </a:bodyPr>
          <a:lstStyle/>
          <a:p>
            <a:r>
              <a:rPr sz="1250" i="1">
                <a:solidFill>
                  <a:srgbClr val="6C5CE7"/>
                </a:solidFill>
              </a:rPr>
              <a:t>Days of convention-finding become minutes; the developer keeps the pen and the merge button.</a:t>
            </a:r>
            <a:endParaRPr sz="1250" i="1">
              <a:solidFill>
                <a:srgbClr val="6C5CE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64240" cy="777240"/>
          </a:xfrm>
          <a:prstGeom prst="rect">
            <a:avLst/>
          </a:prstGeom>
          <a:noFill/>
        </p:spPr>
        <p:txBody>
          <a:bodyPr wrap="square" lIns="0" tIns="0" rIns="0" bIns="0" rtlCol="0"/>
          <a:lstStyle/>
          <a:p>
            <a:pPr marL="0" indent="0" algn="l">
              <a:buNone/>
            </a:pPr>
            <a:r>
              <a:rPr lang="en-US" sz="3000" b="1" dirty="0">
                <a:solidFill>
                  <a:srgbClr val="1B1F3B"/>
                </a:solidFill>
              </a:rPr>
              <a:t>The idea: the model is the expert, the agents are the onboarding</a:t>
            </a:r>
            <a:endParaRPr lang="en-US" sz="3000" dirty="0"/>
          </a:p>
        </p:txBody>
      </p:sp>
      <p:sp>
        <p:nvSpPr>
          <p:cNvPr id="3" name="Shape 1"/>
          <p:cNvSpPr/>
          <p:nvPr/>
        </p:nvSpPr>
        <p:spPr>
          <a:xfrm>
            <a:off x="640080" y="1371600"/>
            <a:ext cx="5303520" cy="2103120"/>
          </a:xfrm>
          <a:prstGeom prst="roundRect">
            <a:avLst>
              <a:gd name="adj" fmla="val 5217"/>
            </a:avLst>
          </a:prstGeom>
          <a:solidFill>
            <a:srgbClr val="F1F2F8"/>
          </a:solidFill>
          <a:ln w="12700">
            <a:solidFill>
              <a:srgbClr val="F1F2F8"/>
            </a:solidFill>
            <a:prstDash val="solid"/>
          </a:ln>
        </p:spPr>
      </p:sp>
      <p:sp>
        <p:nvSpPr>
          <p:cNvPr id="4" name="Text 2"/>
          <p:cNvSpPr txBox="1"/>
          <p:nvPr/>
        </p:nvSpPr>
        <p:spPr>
          <a:xfrm>
            <a:off x="822960" y="1508760"/>
            <a:ext cx="4937760" cy="365760"/>
          </a:xfrm>
          <a:prstGeom prst="rect">
            <a:avLst/>
          </a:prstGeom>
          <a:noFill/>
        </p:spPr>
        <p:txBody>
          <a:bodyPr wrap="square" lIns="0" tIns="0" rIns="0" bIns="0" rtlCol="0" anchor="t"/>
          <a:lstStyle/>
          <a:p>
            <a:pPr marL="0" indent="0">
              <a:buNone/>
            </a:pPr>
            <a:r>
              <a:rPr lang="en-US" sz="1700" b="1" dirty="0">
                <a:solidFill>
                  <a:srgbClr val="6C5CE7"/>
                </a:solidFill>
              </a:rPr>
              <a:t>The LLM (GPT-5)</a:t>
            </a:r>
            <a:endParaRPr lang="en-US" sz="1700" dirty="0"/>
          </a:p>
        </p:txBody>
      </p:sp>
      <p:sp>
        <p:nvSpPr>
          <p:cNvPr id="5" name="Text 3"/>
          <p:cNvSpPr txBox="1"/>
          <p:nvPr/>
        </p:nvSpPr>
        <p:spPr>
          <a:xfrm>
            <a:off x="822960" y="1920240"/>
            <a:ext cx="4937760" cy="1463040"/>
          </a:xfrm>
          <a:prstGeom prst="rect">
            <a:avLst/>
          </a:prstGeom>
          <a:noFill/>
        </p:spPr>
        <p:txBody>
          <a:bodyPr wrap="square" lIns="0" tIns="0" rIns="0" bIns="0" rtlCol="0" anchor="t"/>
          <a:lstStyle/>
          <a:p>
            <a:pPr marL="0" indent="0">
              <a:buNone/>
            </a:pPr>
            <a:r>
              <a:rPr lang="en-US" sz="1250" dirty="0">
                <a:solidFill>
                  <a:srgbClr val="4A4F6B"/>
                </a:solidFill>
              </a:rPr>
              <a:t>A brilliant senior developer on day one. Knows SQL, Python, Airflow, Greenplum. Knows nothing about us: what acc_mhh_n means, where profile scripts live, that a new table needs a history script, a config entry and a DAG task.</a:t>
            </a:r>
            <a:endParaRPr lang="en-US" sz="1250" dirty="0"/>
          </a:p>
        </p:txBody>
      </p:sp>
      <p:sp>
        <p:nvSpPr>
          <p:cNvPr id="6" name="Shape 4"/>
          <p:cNvSpPr/>
          <p:nvPr/>
        </p:nvSpPr>
        <p:spPr>
          <a:xfrm>
            <a:off x="6309360" y="1371600"/>
            <a:ext cx="5486400" cy="2103120"/>
          </a:xfrm>
          <a:prstGeom prst="roundRect">
            <a:avLst>
              <a:gd name="adj" fmla="val 5217"/>
            </a:avLst>
          </a:prstGeom>
          <a:solidFill>
            <a:srgbClr val="6C5CE7"/>
          </a:solidFill>
          <a:ln w="12700">
            <a:solidFill>
              <a:srgbClr val="6C5CE7"/>
            </a:solidFill>
            <a:prstDash val="solid"/>
          </a:ln>
        </p:spPr>
      </p:sp>
      <p:sp>
        <p:nvSpPr>
          <p:cNvPr id="7" name="Text 5"/>
          <p:cNvSpPr txBox="1"/>
          <p:nvPr/>
        </p:nvSpPr>
        <p:spPr>
          <a:xfrm>
            <a:off x="6492240" y="1508760"/>
            <a:ext cx="5120640" cy="365760"/>
          </a:xfrm>
          <a:prstGeom prst="rect">
            <a:avLst/>
          </a:prstGeom>
          <a:noFill/>
        </p:spPr>
        <p:txBody>
          <a:bodyPr wrap="square" lIns="0" tIns="0" rIns="0" bIns="0" rtlCol="0" anchor="t"/>
          <a:lstStyle/>
          <a:p>
            <a:pPr marL="0" indent="0">
              <a:buNone/>
            </a:pPr>
            <a:r>
              <a:rPr lang="en-US" sz="1700" b="1" dirty="0">
                <a:solidFill>
                  <a:srgbClr val="FFFFFF"/>
                </a:solidFill>
              </a:rPr>
              <a:t>Agile Dev Assist</a:t>
            </a:r>
            <a:endParaRPr lang="en-US" sz="1700" dirty="0"/>
          </a:p>
        </p:txBody>
      </p:sp>
      <p:sp>
        <p:nvSpPr>
          <p:cNvPr id="8" name="Text 6"/>
          <p:cNvSpPr txBox="1"/>
          <p:nvPr/>
        </p:nvSpPr>
        <p:spPr>
          <a:xfrm>
            <a:off x="6492240" y="1920240"/>
            <a:ext cx="5120640" cy="1463040"/>
          </a:xfrm>
          <a:prstGeom prst="rect">
            <a:avLst/>
          </a:prstGeom>
          <a:noFill/>
        </p:spPr>
        <p:txBody>
          <a:bodyPr wrap="square" lIns="0" tIns="0" rIns="0" bIns="0" rtlCol="0" anchor="t"/>
          <a:lstStyle/>
          <a:p>
            <a:pPr marL="0" indent="0">
              <a:buNone/>
            </a:pPr>
            <a:r>
              <a:rPr lang="en-US" sz="1250" dirty="0">
                <a:solidFill>
                  <a:srgbClr val="ECEAFF"/>
                </a:solidFill>
              </a:rPr>
              <a:t>The onboarding, done every time in minutes instead of once over months: read the ticket, read our documents, look at our tables, walk through our repository - then plan, write, check and review, exactly as a new joiner would be told to.</a:t>
            </a:r>
            <a:endParaRPr lang="en-US" sz="1250" dirty="0"/>
          </a:p>
        </p:txBody>
      </p:sp>
      <p:sp>
        <p:nvSpPr>
          <p:cNvPr id="9" name="Shape 7"/>
          <p:cNvSpPr/>
          <p:nvPr/>
        </p:nvSpPr>
        <p:spPr>
          <a:xfrm>
            <a:off x="640080" y="3931920"/>
            <a:ext cx="2103120" cy="1600200"/>
          </a:xfrm>
          <a:prstGeom prst="roundRect">
            <a:avLst>
              <a:gd name="adj" fmla="val 6857"/>
            </a:avLst>
          </a:prstGeom>
          <a:solidFill>
            <a:srgbClr val="FFFFFF"/>
          </a:solidFill>
          <a:ln w="19050">
            <a:solidFill>
              <a:srgbClr val="22B8CF"/>
            </a:solidFill>
            <a:prstDash val="solid"/>
          </a:ln>
        </p:spPr>
      </p:sp>
      <p:sp>
        <p:nvSpPr>
          <p:cNvPr id="10" name="Shape 8"/>
          <p:cNvSpPr/>
          <p:nvPr/>
        </p:nvSpPr>
        <p:spPr>
          <a:xfrm>
            <a:off x="777240" y="4069080"/>
            <a:ext cx="457200" cy="457200"/>
          </a:xfrm>
          <a:prstGeom prst="ellipse">
            <a:avLst/>
          </a:prstGeom>
          <a:solidFill>
            <a:srgbClr val="22B8CF"/>
          </a:solidFill>
          <a:ln w="12700">
            <a:solidFill>
              <a:srgbClr val="22B8CF"/>
            </a:solidFill>
            <a:prstDash val="solid"/>
          </a:ln>
        </p:spPr>
      </p:sp>
      <p:sp>
        <p:nvSpPr>
          <p:cNvPr id="11" name="Text 9"/>
          <p:cNvSpPr txBox="1"/>
          <p:nvPr/>
        </p:nvSpPr>
        <p:spPr>
          <a:xfrm>
            <a:off x="777240" y="406908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12" name="Text 10"/>
          <p:cNvSpPr txBox="1"/>
          <p:nvPr/>
        </p:nvSpPr>
        <p:spPr>
          <a:xfrm>
            <a:off x="1298448" y="4069080"/>
            <a:ext cx="1371600" cy="457200"/>
          </a:xfrm>
          <a:prstGeom prst="rect">
            <a:avLst/>
          </a:prstGeom>
          <a:noFill/>
        </p:spPr>
        <p:txBody>
          <a:bodyPr wrap="square" lIns="0" tIns="0" rIns="0" bIns="0" rtlCol="0" anchor="ctr"/>
          <a:lstStyle/>
          <a:p>
            <a:pPr marL="0" indent="0">
              <a:buNone/>
            </a:pPr>
            <a:r>
              <a:rPr lang="en-US" sz="1250" b="1" dirty="0">
                <a:solidFill>
                  <a:srgbClr val="1B1F3B"/>
                </a:solidFill>
              </a:rPr>
              <a:t>Read the story</a:t>
            </a:r>
            <a:endParaRPr lang="en-US" sz="1250" dirty="0"/>
          </a:p>
        </p:txBody>
      </p:sp>
      <p:sp>
        <p:nvSpPr>
          <p:cNvPr id="13" name="Text 11"/>
          <p:cNvSpPr txBox="1"/>
          <p:nvPr/>
        </p:nvSpPr>
        <p:spPr>
          <a:xfrm>
            <a:off x="777240" y="4617720"/>
            <a:ext cx="1828800" cy="868680"/>
          </a:xfrm>
          <a:prstGeom prst="rect">
            <a:avLst/>
          </a:prstGeom>
          <a:noFill/>
        </p:spPr>
        <p:txBody>
          <a:bodyPr wrap="square" lIns="0" tIns="0" rIns="0" bIns="0" rtlCol="0" anchor="t"/>
          <a:lstStyle/>
          <a:p>
            <a:pPr marL="0" indent="0">
              <a:buNone/>
            </a:pPr>
            <a:r>
              <a:rPr lang="en-US" sz="1050" dirty="0">
                <a:solidFill>
                  <a:srgbClr val="4A4F6B"/>
                </a:solidFill>
              </a:rPr>
              <a:t>requirements, the SQL in it = the spec</a:t>
            </a:r>
            <a:endParaRPr lang="en-US" sz="1050" dirty="0"/>
          </a:p>
        </p:txBody>
      </p:sp>
      <p:sp>
        <p:nvSpPr>
          <p:cNvPr id="14" name="Shape 12"/>
          <p:cNvSpPr/>
          <p:nvPr/>
        </p:nvSpPr>
        <p:spPr>
          <a:xfrm>
            <a:off x="2743200" y="4709160"/>
            <a:ext cx="164592" cy="9144"/>
          </a:xfrm>
          <a:prstGeom prst="line">
            <a:avLst/>
          </a:prstGeom>
          <a:noFill/>
          <a:ln w="19050">
            <a:solidFill>
              <a:srgbClr val="9AA0BF"/>
            </a:solidFill>
            <a:prstDash val="solid"/>
            <a:tailEnd type="triangle"/>
          </a:ln>
        </p:spPr>
      </p:sp>
      <p:sp>
        <p:nvSpPr>
          <p:cNvPr id="15" name="Shape 13"/>
          <p:cNvSpPr/>
          <p:nvPr/>
        </p:nvSpPr>
        <p:spPr>
          <a:xfrm>
            <a:off x="2907792" y="3931920"/>
            <a:ext cx="2103120" cy="1600200"/>
          </a:xfrm>
          <a:prstGeom prst="roundRect">
            <a:avLst>
              <a:gd name="adj" fmla="val 6857"/>
            </a:avLst>
          </a:prstGeom>
          <a:solidFill>
            <a:srgbClr val="FFFFFF"/>
          </a:solidFill>
          <a:ln w="19050">
            <a:solidFill>
              <a:srgbClr val="E6A23C"/>
            </a:solidFill>
            <a:prstDash val="solid"/>
          </a:ln>
        </p:spPr>
      </p:sp>
      <p:sp>
        <p:nvSpPr>
          <p:cNvPr id="16" name="Shape 14"/>
          <p:cNvSpPr/>
          <p:nvPr/>
        </p:nvSpPr>
        <p:spPr>
          <a:xfrm>
            <a:off x="3044952" y="4069080"/>
            <a:ext cx="457200" cy="457200"/>
          </a:xfrm>
          <a:prstGeom prst="ellipse">
            <a:avLst/>
          </a:prstGeom>
          <a:solidFill>
            <a:srgbClr val="E6A23C"/>
          </a:solidFill>
          <a:ln w="12700">
            <a:solidFill>
              <a:srgbClr val="E6A23C"/>
            </a:solidFill>
            <a:prstDash val="solid"/>
          </a:ln>
        </p:spPr>
      </p:sp>
      <p:sp>
        <p:nvSpPr>
          <p:cNvPr id="17" name="Text 15"/>
          <p:cNvSpPr txBox="1"/>
          <p:nvPr/>
        </p:nvSpPr>
        <p:spPr>
          <a:xfrm>
            <a:off x="3044952" y="406908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8" name="Text 16"/>
          <p:cNvSpPr txBox="1"/>
          <p:nvPr/>
        </p:nvSpPr>
        <p:spPr>
          <a:xfrm>
            <a:off x="3566160" y="4069080"/>
            <a:ext cx="1371600" cy="457200"/>
          </a:xfrm>
          <a:prstGeom prst="rect">
            <a:avLst/>
          </a:prstGeom>
          <a:noFill/>
        </p:spPr>
        <p:txBody>
          <a:bodyPr wrap="square" lIns="0" tIns="0" rIns="0" bIns="0" rtlCol="0" anchor="ctr"/>
          <a:lstStyle/>
          <a:p>
            <a:pPr marL="0" indent="0">
              <a:buNone/>
            </a:pPr>
            <a:r>
              <a:rPr lang="en-US" sz="1250" b="1" dirty="0">
                <a:solidFill>
                  <a:srgbClr val="1B1F3B"/>
                </a:solidFill>
              </a:rPr>
              <a:t>Learn the conventions</a:t>
            </a:r>
            <a:endParaRPr lang="en-US" sz="1250" dirty="0"/>
          </a:p>
        </p:txBody>
      </p:sp>
      <p:sp>
        <p:nvSpPr>
          <p:cNvPr id="19" name="Text 17"/>
          <p:cNvSpPr txBox="1"/>
          <p:nvPr/>
        </p:nvSpPr>
        <p:spPr>
          <a:xfrm>
            <a:off x="3044952" y="4617720"/>
            <a:ext cx="1828800" cy="868680"/>
          </a:xfrm>
          <a:prstGeom prst="rect">
            <a:avLst/>
          </a:prstGeom>
          <a:noFill/>
        </p:spPr>
        <p:txBody>
          <a:bodyPr wrap="square" lIns="0" tIns="0" rIns="0" bIns="0" rtlCol="0" anchor="t"/>
          <a:lstStyle/>
          <a:p>
            <a:pPr marL="0" indent="0">
              <a:buNone/>
            </a:pPr>
            <a:r>
              <a:rPr lang="en-US" sz="1050" dirty="0">
                <a:solidFill>
                  <a:srgbClr val="4A4F6B"/>
                </a:solidFill>
              </a:rPr>
              <a:t>skills, glossary, standards → rules with exceptions</a:t>
            </a:r>
            <a:endParaRPr lang="en-US" sz="1050" dirty="0"/>
          </a:p>
        </p:txBody>
      </p:sp>
      <p:sp>
        <p:nvSpPr>
          <p:cNvPr id="20" name="Shape 18"/>
          <p:cNvSpPr/>
          <p:nvPr/>
        </p:nvSpPr>
        <p:spPr>
          <a:xfrm>
            <a:off x="5010912" y="4709160"/>
            <a:ext cx="164592" cy="9144"/>
          </a:xfrm>
          <a:prstGeom prst="line">
            <a:avLst/>
          </a:prstGeom>
          <a:noFill/>
          <a:ln w="19050">
            <a:solidFill>
              <a:srgbClr val="9AA0BF"/>
            </a:solidFill>
            <a:prstDash val="solid"/>
            <a:tailEnd type="triangle"/>
          </a:ln>
        </p:spPr>
      </p:sp>
      <p:sp>
        <p:nvSpPr>
          <p:cNvPr id="21" name="Shape 19"/>
          <p:cNvSpPr/>
          <p:nvPr/>
        </p:nvSpPr>
        <p:spPr>
          <a:xfrm>
            <a:off x="5175504" y="3931920"/>
            <a:ext cx="2103120" cy="1600200"/>
          </a:xfrm>
          <a:prstGeom prst="roundRect">
            <a:avLst>
              <a:gd name="adj" fmla="val 6857"/>
            </a:avLst>
          </a:prstGeom>
          <a:solidFill>
            <a:srgbClr val="FFFFFF"/>
          </a:solidFill>
          <a:ln w="19050">
            <a:solidFill>
              <a:srgbClr val="2E9E6B"/>
            </a:solidFill>
            <a:prstDash val="solid"/>
          </a:ln>
        </p:spPr>
      </p:sp>
      <p:sp>
        <p:nvSpPr>
          <p:cNvPr id="22" name="Shape 20"/>
          <p:cNvSpPr/>
          <p:nvPr/>
        </p:nvSpPr>
        <p:spPr>
          <a:xfrm>
            <a:off x="5312664" y="4069080"/>
            <a:ext cx="457200" cy="457200"/>
          </a:xfrm>
          <a:prstGeom prst="ellipse">
            <a:avLst/>
          </a:prstGeom>
          <a:solidFill>
            <a:srgbClr val="2E9E6B"/>
          </a:solidFill>
          <a:ln w="12700">
            <a:solidFill>
              <a:srgbClr val="2E9E6B"/>
            </a:solidFill>
            <a:prstDash val="solid"/>
          </a:ln>
        </p:spPr>
      </p:sp>
      <p:sp>
        <p:nvSpPr>
          <p:cNvPr id="23" name="Text 21"/>
          <p:cNvSpPr txBox="1"/>
          <p:nvPr/>
        </p:nvSpPr>
        <p:spPr>
          <a:xfrm>
            <a:off x="5312664" y="406908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4" name="Text 22"/>
          <p:cNvSpPr txBox="1"/>
          <p:nvPr/>
        </p:nvSpPr>
        <p:spPr>
          <a:xfrm>
            <a:off x="5833872" y="4069080"/>
            <a:ext cx="1371600" cy="457200"/>
          </a:xfrm>
          <a:prstGeom prst="rect">
            <a:avLst/>
          </a:prstGeom>
          <a:noFill/>
        </p:spPr>
        <p:txBody>
          <a:bodyPr wrap="square" lIns="0" tIns="0" rIns="0" bIns="0" rtlCol="0" anchor="ctr"/>
          <a:lstStyle/>
          <a:p>
            <a:pPr marL="0" indent="0">
              <a:buNone/>
            </a:pPr>
            <a:r>
              <a:rPr lang="en-US" sz="1250" b="1" dirty="0">
                <a:solidFill>
                  <a:srgbClr val="1B1F3B"/>
                </a:solidFill>
              </a:rPr>
              <a:t>Look at the data</a:t>
            </a:r>
            <a:endParaRPr lang="en-US" sz="1250" dirty="0"/>
          </a:p>
        </p:txBody>
      </p:sp>
      <p:sp>
        <p:nvSpPr>
          <p:cNvPr id="25" name="Text 23"/>
          <p:cNvSpPr txBox="1"/>
          <p:nvPr/>
        </p:nvSpPr>
        <p:spPr>
          <a:xfrm>
            <a:off x="5312664" y="4617720"/>
            <a:ext cx="1828800" cy="868680"/>
          </a:xfrm>
          <a:prstGeom prst="rect">
            <a:avLst/>
          </a:prstGeom>
          <a:noFill/>
        </p:spPr>
        <p:txBody>
          <a:bodyPr wrap="square" lIns="0" tIns="0" rIns="0" bIns="0" rtlCol="0" anchor="t"/>
          <a:lstStyle/>
          <a:p>
            <a:pPr marL="0" indent="0">
              <a:buNone/>
            </a:pPr>
            <a:r>
              <a:rPr lang="en-US" sz="1050" dirty="0">
                <a:solidFill>
                  <a:srgbClr val="4A4F6B"/>
                </a:solidFill>
              </a:rPr>
              <a:t>grain, keys, columns, samples</a:t>
            </a:r>
            <a:endParaRPr lang="en-US" sz="1050" dirty="0"/>
          </a:p>
        </p:txBody>
      </p:sp>
      <p:sp>
        <p:nvSpPr>
          <p:cNvPr id="26" name="Shape 24"/>
          <p:cNvSpPr/>
          <p:nvPr/>
        </p:nvSpPr>
        <p:spPr>
          <a:xfrm>
            <a:off x="7278624" y="4709160"/>
            <a:ext cx="164592" cy="9144"/>
          </a:xfrm>
          <a:prstGeom prst="line">
            <a:avLst/>
          </a:prstGeom>
          <a:noFill/>
          <a:ln w="19050">
            <a:solidFill>
              <a:srgbClr val="9AA0BF"/>
            </a:solidFill>
            <a:prstDash val="solid"/>
            <a:tailEnd type="triangle"/>
          </a:ln>
        </p:spPr>
      </p:sp>
      <p:sp>
        <p:nvSpPr>
          <p:cNvPr id="27" name="Shape 25"/>
          <p:cNvSpPr/>
          <p:nvPr/>
        </p:nvSpPr>
        <p:spPr>
          <a:xfrm>
            <a:off x="7443216" y="3931920"/>
            <a:ext cx="2103120" cy="1600200"/>
          </a:xfrm>
          <a:prstGeom prst="roundRect">
            <a:avLst>
              <a:gd name="adj" fmla="val 6857"/>
            </a:avLst>
          </a:prstGeom>
          <a:solidFill>
            <a:srgbClr val="FFFFFF"/>
          </a:solidFill>
          <a:ln w="19050">
            <a:solidFill>
              <a:srgbClr val="6C5CE7"/>
            </a:solidFill>
            <a:prstDash val="solid"/>
          </a:ln>
        </p:spPr>
      </p:sp>
      <p:sp>
        <p:nvSpPr>
          <p:cNvPr id="28" name="Shape 26"/>
          <p:cNvSpPr/>
          <p:nvPr/>
        </p:nvSpPr>
        <p:spPr>
          <a:xfrm>
            <a:off x="7580376" y="4069080"/>
            <a:ext cx="457200" cy="457200"/>
          </a:xfrm>
          <a:prstGeom prst="ellipse">
            <a:avLst/>
          </a:prstGeom>
          <a:solidFill>
            <a:srgbClr val="6C5CE7"/>
          </a:solidFill>
          <a:ln w="12700">
            <a:solidFill>
              <a:srgbClr val="6C5CE7"/>
            </a:solidFill>
            <a:prstDash val="solid"/>
          </a:ln>
        </p:spPr>
      </p:sp>
      <p:sp>
        <p:nvSpPr>
          <p:cNvPr id="29" name="Text 27"/>
          <p:cNvSpPr txBox="1"/>
          <p:nvPr/>
        </p:nvSpPr>
        <p:spPr>
          <a:xfrm>
            <a:off x="7580376" y="406908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30" name="Text 28"/>
          <p:cNvSpPr txBox="1"/>
          <p:nvPr/>
        </p:nvSpPr>
        <p:spPr>
          <a:xfrm>
            <a:off x="8101584" y="4069080"/>
            <a:ext cx="1371600" cy="457200"/>
          </a:xfrm>
          <a:prstGeom prst="rect">
            <a:avLst/>
          </a:prstGeom>
          <a:noFill/>
        </p:spPr>
        <p:txBody>
          <a:bodyPr wrap="square" lIns="0" tIns="0" rIns="0" bIns="0" rtlCol="0" anchor="ctr"/>
          <a:lstStyle/>
          <a:p>
            <a:pPr marL="0" indent="0">
              <a:buNone/>
            </a:pPr>
            <a:r>
              <a:rPr lang="en-US" sz="1250" b="1" dirty="0">
                <a:solidFill>
                  <a:srgbClr val="1B1F3B"/>
                </a:solidFill>
              </a:rPr>
              <a:t>Walk the repo</a:t>
            </a:r>
            <a:endParaRPr lang="en-US" sz="1250" dirty="0"/>
          </a:p>
        </p:txBody>
      </p:sp>
      <p:sp>
        <p:nvSpPr>
          <p:cNvPr id="31" name="Text 29"/>
          <p:cNvSpPr txBox="1"/>
          <p:nvPr/>
        </p:nvSpPr>
        <p:spPr>
          <a:xfrm>
            <a:off x="7580376" y="4617720"/>
            <a:ext cx="1828800" cy="868680"/>
          </a:xfrm>
          <a:prstGeom prst="rect">
            <a:avLst/>
          </a:prstGeom>
          <a:noFill/>
        </p:spPr>
        <p:txBody>
          <a:bodyPr wrap="square" lIns="0" tIns="0" rIns="0" bIns="0" rtlCol="0" anchor="t"/>
          <a:lstStyle/>
          <a:p>
            <a:pPr marL="0" indent="0">
              <a:buNone/>
            </a:pPr>
            <a:r>
              <a:rPr lang="en-US" sz="1050" dirty="0">
                <a:solidFill>
                  <a:srgbClr val="4A4F6B"/>
                </a:solidFill>
              </a:rPr>
              <a:t>where it belongs, what to imitate, what else must change</a:t>
            </a:r>
            <a:endParaRPr lang="en-US" sz="1050" dirty="0"/>
          </a:p>
        </p:txBody>
      </p:sp>
      <p:sp>
        <p:nvSpPr>
          <p:cNvPr id="32" name="Shape 30"/>
          <p:cNvSpPr/>
          <p:nvPr/>
        </p:nvSpPr>
        <p:spPr>
          <a:xfrm>
            <a:off x="9546336" y="4709160"/>
            <a:ext cx="164592" cy="9144"/>
          </a:xfrm>
          <a:prstGeom prst="line">
            <a:avLst/>
          </a:prstGeom>
          <a:noFill/>
          <a:ln w="19050">
            <a:solidFill>
              <a:srgbClr val="9AA0BF"/>
            </a:solidFill>
            <a:prstDash val="solid"/>
            <a:tailEnd type="triangle"/>
          </a:ln>
        </p:spPr>
      </p:sp>
      <p:sp>
        <p:nvSpPr>
          <p:cNvPr id="33" name="Shape 31"/>
          <p:cNvSpPr/>
          <p:nvPr/>
        </p:nvSpPr>
        <p:spPr>
          <a:xfrm>
            <a:off x="9710928" y="3931920"/>
            <a:ext cx="2103120" cy="1600200"/>
          </a:xfrm>
          <a:prstGeom prst="roundRect">
            <a:avLst>
              <a:gd name="adj" fmla="val 6857"/>
            </a:avLst>
          </a:prstGeom>
          <a:solidFill>
            <a:srgbClr val="FFFFFF"/>
          </a:solidFill>
          <a:ln w="19050">
            <a:solidFill>
              <a:srgbClr val="D94C4C"/>
            </a:solidFill>
            <a:prstDash val="solid"/>
          </a:ln>
        </p:spPr>
      </p:sp>
      <p:sp>
        <p:nvSpPr>
          <p:cNvPr id="34" name="Shape 32"/>
          <p:cNvSpPr/>
          <p:nvPr/>
        </p:nvSpPr>
        <p:spPr>
          <a:xfrm>
            <a:off x="9848088" y="4069080"/>
            <a:ext cx="457200" cy="457200"/>
          </a:xfrm>
          <a:prstGeom prst="ellipse">
            <a:avLst/>
          </a:prstGeom>
          <a:solidFill>
            <a:srgbClr val="D94C4C"/>
          </a:solidFill>
          <a:ln w="12700">
            <a:solidFill>
              <a:srgbClr val="D94C4C"/>
            </a:solidFill>
            <a:prstDash val="solid"/>
          </a:ln>
        </p:spPr>
      </p:sp>
      <p:sp>
        <p:nvSpPr>
          <p:cNvPr id="35" name="Text 33"/>
          <p:cNvSpPr txBox="1"/>
          <p:nvPr/>
        </p:nvSpPr>
        <p:spPr>
          <a:xfrm>
            <a:off x="9848088" y="406908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6" name="Text 34"/>
          <p:cNvSpPr txBox="1"/>
          <p:nvPr/>
        </p:nvSpPr>
        <p:spPr>
          <a:xfrm>
            <a:off x="10369296" y="4069080"/>
            <a:ext cx="1371600" cy="457200"/>
          </a:xfrm>
          <a:prstGeom prst="rect">
            <a:avLst/>
          </a:prstGeom>
          <a:noFill/>
        </p:spPr>
        <p:txBody>
          <a:bodyPr wrap="square" lIns="0" tIns="0" rIns="0" bIns="0" rtlCol="0" anchor="ctr"/>
          <a:lstStyle/>
          <a:p>
            <a:pPr marL="0" indent="0">
              <a:buNone/>
            </a:pPr>
            <a:r>
              <a:rPr lang="en-US" sz="1250" b="1" dirty="0">
                <a:solidFill>
                  <a:srgbClr val="1B1F3B"/>
                </a:solidFill>
              </a:rPr>
              <a:t>Plan · write · check</a:t>
            </a:r>
            <a:endParaRPr lang="en-US" sz="1250" dirty="0"/>
          </a:p>
        </p:txBody>
      </p:sp>
      <p:sp>
        <p:nvSpPr>
          <p:cNvPr id="37" name="Text 35"/>
          <p:cNvSpPr txBox="1"/>
          <p:nvPr/>
        </p:nvSpPr>
        <p:spPr>
          <a:xfrm>
            <a:off x="9848088" y="4617720"/>
            <a:ext cx="1828800" cy="868680"/>
          </a:xfrm>
          <a:prstGeom prst="rect">
            <a:avLst/>
          </a:prstGeom>
          <a:noFill/>
        </p:spPr>
        <p:txBody>
          <a:bodyPr wrap="square" lIns="0" tIns="0" rIns="0" bIns="0" rtlCol="0" anchor="t"/>
          <a:lstStyle/>
          <a:p>
            <a:pPr marL="0" indent="0">
              <a:buNone/>
            </a:pPr>
            <a:r>
              <a:rPr lang="en-US" sz="1050" dirty="0">
                <a:solidFill>
                  <a:srgbClr val="4A4F6B"/>
                </a:solidFill>
              </a:rPr>
              <a:t>every file grounded in evidence, validated, reviewed</a:t>
            </a:r>
            <a:endParaRPr lang="en-US" sz="1050" dirty="0"/>
          </a:p>
        </p:txBody>
      </p:sp>
      <p:sp>
        <p:nvSpPr>
          <p:cNvPr id="38" name="Text 36"/>
          <p:cNvSpPr txBox="1"/>
          <p:nvPr/>
        </p:nvSpPr>
        <p:spPr>
          <a:xfrm>
            <a:off x="640080" y="5852160"/>
            <a:ext cx="11155680" cy="365760"/>
          </a:xfrm>
          <a:prstGeom prst="rect">
            <a:avLst/>
          </a:prstGeom>
          <a:noFill/>
        </p:spPr>
        <p:txBody>
          <a:bodyPr wrap="square" lIns="0" tIns="0" rIns="0" bIns="0" rtlCol="0" anchor="t"/>
          <a:lstStyle/>
          <a:p>
            <a:pPr marL="0" indent="0">
              <a:buNone/>
            </a:pPr>
            <a:r>
              <a:rPr lang="en-US" sz="1250" i="1" dirty="0">
                <a:solidFill>
                  <a:srgbClr val="6C5CE7"/>
                </a:solidFill>
              </a:rPr>
              <a:t>Same inputs as a human developer. Same checklist. Minutes, not days - and the checklist is never forgotten.</a:t>
            </a:r>
            <a:endParaRPr lang="en-US" sz="1250" dirty="0"/>
          </a:p>
        </p:txBody>
      </p:sp>
      <p:sp>
        <p:nvSpPr>
          <p:cNvPr id="39" name="Slide Number Placeholder 0"/>
          <p:cNvSpPr>
            <a:spLocks noGrp="1"/>
          </p:cNvSpPr>
          <p:nvPr>
            <p:ph type="sldNum" sz="quarter" idx="4294967295"/>
          </p:nvPr>
        </p:nvSpPr>
        <p:spPr>
          <a:xfrm>
            <a:off x="11247120" y="6446520"/>
            <a:ext cx="548640" cy="274320"/>
          </a:xfrm>
          <a:prstGeom prst="rect">
            <a:avLst/>
          </a:prstGeom>
        </p:spPr>
        <p:txBody>
          <a:bodyPr/>
          <a:lstStyle>
            <a:lvl1pPr>
              <a:defRPr sz="1000">
                <a:solidFill>
                  <a:srgbClr val="9AA0BF"/>
                </a:solidFill>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64240" cy="777240"/>
          </a:xfrm>
          <a:prstGeom prst="rect">
            <a:avLst/>
          </a:prstGeom>
          <a:noFill/>
        </p:spPr>
        <p:txBody>
          <a:bodyPr wrap="square" lIns="0" tIns="0" rIns="0" bIns="0" rtlCol="0"/>
          <a:lstStyle/>
          <a:p>
            <a:pPr marL="0" indent="0" algn="l">
              <a:buNone/>
            </a:pPr>
            <a:r>
              <a:rPr lang="en-US" sz="3000" b="1" dirty="0">
                <a:solidFill>
                  <a:srgbClr val="1B1F3B"/>
                </a:solidFill>
              </a:rPr>
              <a:t>Architecture: four layers, one rule</a:t>
            </a:r>
            <a:endParaRPr lang="en-US" sz="3000" dirty="0"/>
          </a:p>
        </p:txBody>
      </p:sp>
      <p:sp>
        <p:nvSpPr>
          <p:cNvPr id="3" name="Shape 1"/>
          <p:cNvSpPr/>
          <p:nvPr/>
        </p:nvSpPr>
        <p:spPr>
          <a:xfrm>
            <a:off x="640080" y="1325880"/>
            <a:ext cx="11155680" cy="960120"/>
          </a:xfrm>
          <a:prstGeom prst="roundRect">
            <a:avLst>
              <a:gd name="adj" fmla="val 11429"/>
            </a:avLst>
          </a:prstGeom>
          <a:solidFill>
            <a:srgbClr val="F1F2F8"/>
          </a:solidFill>
          <a:ln w="19050">
            <a:solidFill>
              <a:srgbClr val="22B8CF"/>
            </a:solidFill>
            <a:prstDash val="solid"/>
          </a:ln>
        </p:spPr>
      </p:sp>
      <p:sp>
        <p:nvSpPr>
          <p:cNvPr id="4" name="Text 2"/>
          <p:cNvSpPr txBox="1"/>
          <p:nvPr/>
        </p:nvSpPr>
        <p:spPr>
          <a:xfrm>
            <a:off x="822960" y="1417320"/>
            <a:ext cx="2011680" cy="320040"/>
          </a:xfrm>
          <a:prstGeom prst="rect">
            <a:avLst/>
          </a:prstGeom>
          <a:noFill/>
        </p:spPr>
        <p:txBody>
          <a:bodyPr wrap="square" lIns="0" tIns="0" rIns="0" bIns="0" rtlCol="0" anchor="t"/>
          <a:lstStyle/>
          <a:p>
            <a:pPr marL="0" indent="0">
              <a:buNone/>
            </a:pPr>
            <a:r>
              <a:rPr lang="en-US" sz="1400" b="1" dirty="0">
                <a:solidFill>
                  <a:srgbClr val="22B8CF"/>
                </a:solidFill>
              </a:rPr>
              <a:t>INPUTS</a:t>
            </a:r>
            <a:endParaRPr lang="en-US" sz="1400" dirty="0"/>
          </a:p>
        </p:txBody>
      </p:sp>
      <p:sp>
        <p:nvSpPr>
          <p:cNvPr id="5" name="Text 3"/>
          <p:cNvSpPr txBox="1"/>
          <p:nvPr/>
        </p:nvSpPr>
        <p:spPr>
          <a:xfrm>
            <a:off x="822960" y="1737360"/>
            <a:ext cx="3383280" cy="548640"/>
          </a:xfrm>
          <a:prstGeom prst="rect">
            <a:avLst/>
          </a:prstGeom>
          <a:noFill/>
        </p:spPr>
        <p:txBody>
          <a:bodyPr wrap="square" lIns="0" tIns="0" rIns="0" bIns="0" rtlCol="0" anchor="t"/>
          <a:lstStyle/>
          <a:p>
            <a:pPr marL="0" indent="0">
              <a:buNone/>
            </a:pPr>
            <a:r>
              <a:rPr lang="en-US" sz="1050" dirty="0">
                <a:solidFill>
                  <a:srgbClr val="4A4F6B"/>
                </a:solidFill>
              </a:rPr>
              <a:t>what a developer would read</a:t>
            </a:r>
            <a:endParaRPr lang="en-US" sz="1050" dirty="0"/>
          </a:p>
        </p:txBody>
      </p:sp>
      <p:sp>
        <p:nvSpPr>
          <p:cNvPr id="6" name="Shape 4"/>
          <p:cNvSpPr/>
          <p:nvPr/>
        </p:nvSpPr>
        <p:spPr>
          <a:xfrm>
            <a:off x="4389120" y="1527048"/>
            <a:ext cx="1737360" cy="548640"/>
          </a:xfrm>
          <a:prstGeom prst="roundRect">
            <a:avLst>
              <a:gd name="adj" fmla="val 16667"/>
            </a:avLst>
          </a:prstGeom>
          <a:solidFill>
            <a:srgbClr val="FFFFFF"/>
          </a:solidFill>
          <a:ln w="12700">
            <a:solidFill>
              <a:srgbClr val="22B8CF"/>
            </a:solidFill>
            <a:prstDash val="solid"/>
          </a:ln>
        </p:spPr>
      </p:sp>
      <p:sp>
        <p:nvSpPr>
          <p:cNvPr id="7" name="Text 5"/>
          <p:cNvSpPr txBox="1"/>
          <p:nvPr/>
        </p:nvSpPr>
        <p:spPr>
          <a:xfrm>
            <a:off x="4389120" y="1527048"/>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story</a:t>
            </a:r>
            <a:endParaRPr lang="en-US" sz="1100" dirty="0"/>
          </a:p>
        </p:txBody>
      </p:sp>
      <p:sp>
        <p:nvSpPr>
          <p:cNvPr id="8" name="Shape 6"/>
          <p:cNvSpPr/>
          <p:nvPr/>
        </p:nvSpPr>
        <p:spPr>
          <a:xfrm>
            <a:off x="6263640" y="1527048"/>
            <a:ext cx="1737360" cy="548640"/>
          </a:xfrm>
          <a:prstGeom prst="roundRect">
            <a:avLst>
              <a:gd name="adj" fmla="val 16667"/>
            </a:avLst>
          </a:prstGeom>
          <a:solidFill>
            <a:srgbClr val="FFFFFF"/>
          </a:solidFill>
          <a:ln w="12700">
            <a:solidFill>
              <a:srgbClr val="22B8CF"/>
            </a:solidFill>
            <a:prstDash val="solid"/>
          </a:ln>
        </p:spPr>
      </p:sp>
      <p:sp>
        <p:nvSpPr>
          <p:cNvPr id="9" name="Text 7"/>
          <p:cNvSpPr txBox="1"/>
          <p:nvPr/>
        </p:nvSpPr>
        <p:spPr>
          <a:xfrm>
            <a:off x="6263640" y="1527048"/>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skills · standards</a:t>
            </a:r>
            <a:endParaRPr lang="en-US" sz="1100" dirty="0"/>
          </a:p>
        </p:txBody>
      </p:sp>
      <p:sp>
        <p:nvSpPr>
          <p:cNvPr id="10" name="Shape 8"/>
          <p:cNvSpPr/>
          <p:nvPr/>
        </p:nvSpPr>
        <p:spPr>
          <a:xfrm>
            <a:off x="8138160" y="1527048"/>
            <a:ext cx="1737360" cy="548640"/>
          </a:xfrm>
          <a:prstGeom prst="roundRect">
            <a:avLst>
              <a:gd name="adj" fmla="val 16667"/>
            </a:avLst>
          </a:prstGeom>
          <a:solidFill>
            <a:srgbClr val="FFFFFF"/>
          </a:solidFill>
          <a:ln w="12700">
            <a:solidFill>
              <a:srgbClr val="22B8CF"/>
            </a:solidFill>
            <a:prstDash val="solid"/>
          </a:ln>
        </p:spPr>
      </p:sp>
      <p:sp>
        <p:nvSpPr>
          <p:cNvPr id="11" name="Text 9"/>
          <p:cNvSpPr txBox="1"/>
          <p:nvPr/>
        </p:nvSpPr>
        <p:spPr>
          <a:xfrm>
            <a:off x="8138160" y="1527048"/>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Greenplum tables</a:t>
            </a:r>
            <a:endParaRPr lang="en-US" sz="1100" dirty="0"/>
          </a:p>
        </p:txBody>
      </p:sp>
      <p:sp>
        <p:nvSpPr>
          <p:cNvPr id="12" name="Shape 10"/>
          <p:cNvSpPr/>
          <p:nvPr/>
        </p:nvSpPr>
        <p:spPr>
          <a:xfrm>
            <a:off x="10012680" y="1527048"/>
            <a:ext cx="1737360" cy="548640"/>
          </a:xfrm>
          <a:prstGeom prst="roundRect">
            <a:avLst>
              <a:gd name="adj" fmla="val 16667"/>
            </a:avLst>
          </a:prstGeom>
          <a:solidFill>
            <a:srgbClr val="FFFFFF"/>
          </a:solidFill>
          <a:ln w="12700">
            <a:solidFill>
              <a:srgbClr val="22B8CF"/>
            </a:solidFill>
            <a:prstDash val="solid"/>
          </a:ln>
        </p:spPr>
      </p:sp>
      <p:sp>
        <p:nvSpPr>
          <p:cNvPr id="13" name="Text 11"/>
          <p:cNvSpPr txBox="1"/>
          <p:nvPr/>
        </p:nvSpPr>
        <p:spPr>
          <a:xfrm>
            <a:off x="10012680" y="1527048"/>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code repository</a:t>
            </a:r>
            <a:endParaRPr lang="en-US" sz="1100" dirty="0"/>
          </a:p>
        </p:txBody>
      </p:sp>
      <p:sp>
        <p:nvSpPr>
          <p:cNvPr id="14" name="Shape 12"/>
          <p:cNvSpPr/>
          <p:nvPr/>
        </p:nvSpPr>
        <p:spPr>
          <a:xfrm>
            <a:off x="1828800" y="2286000"/>
            <a:ext cx="9144" cy="155448"/>
          </a:xfrm>
          <a:prstGeom prst="line">
            <a:avLst/>
          </a:prstGeom>
          <a:noFill/>
          <a:ln w="19050">
            <a:solidFill>
              <a:srgbClr val="9AA0BF"/>
            </a:solidFill>
            <a:prstDash val="solid"/>
            <a:tailEnd type="triangle"/>
          </a:ln>
        </p:spPr>
      </p:sp>
      <p:sp>
        <p:nvSpPr>
          <p:cNvPr id="15" name="Shape 13"/>
          <p:cNvSpPr/>
          <p:nvPr/>
        </p:nvSpPr>
        <p:spPr>
          <a:xfrm>
            <a:off x="640080" y="2441448"/>
            <a:ext cx="11155680" cy="960120"/>
          </a:xfrm>
          <a:prstGeom prst="roundRect">
            <a:avLst>
              <a:gd name="adj" fmla="val 11429"/>
            </a:avLst>
          </a:prstGeom>
          <a:solidFill>
            <a:srgbClr val="F1F2F8"/>
          </a:solidFill>
          <a:ln w="19050">
            <a:solidFill>
              <a:srgbClr val="22B8CF"/>
            </a:solidFill>
            <a:prstDash val="solid"/>
          </a:ln>
        </p:spPr>
      </p:sp>
      <p:sp>
        <p:nvSpPr>
          <p:cNvPr id="16" name="Text 14"/>
          <p:cNvSpPr txBox="1"/>
          <p:nvPr/>
        </p:nvSpPr>
        <p:spPr>
          <a:xfrm>
            <a:off x="822960" y="2532888"/>
            <a:ext cx="2011680" cy="320040"/>
          </a:xfrm>
          <a:prstGeom prst="rect">
            <a:avLst/>
          </a:prstGeom>
          <a:noFill/>
        </p:spPr>
        <p:txBody>
          <a:bodyPr wrap="square" lIns="0" tIns="0" rIns="0" bIns="0" rtlCol="0" anchor="t"/>
          <a:lstStyle/>
          <a:p>
            <a:pPr marL="0" indent="0">
              <a:buNone/>
            </a:pPr>
            <a:r>
              <a:rPr lang="en-US" sz="1400" b="1" dirty="0">
                <a:solidFill>
                  <a:srgbClr val="22B8CF"/>
                </a:solidFill>
              </a:rPr>
              <a:t>RETRIEVAL</a:t>
            </a:r>
            <a:endParaRPr lang="en-US" sz="1400" dirty="0"/>
          </a:p>
        </p:txBody>
      </p:sp>
      <p:sp>
        <p:nvSpPr>
          <p:cNvPr id="17" name="Text 15"/>
          <p:cNvSpPr txBox="1"/>
          <p:nvPr/>
        </p:nvSpPr>
        <p:spPr>
          <a:xfrm>
            <a:off x="822960" y="2852928"/>
            <a:ext cx="3383280" cy="548640"/>
          </a:xfrm>
          <a:prstGeom prst="rect">
            <a:avLst/>
          </a:prstGeom>
          <a:noFill/>
        </p:spPr>
        <p:txBody>
          <a:bodyPr wrap="square" lIns="0" tIns="0" rIns="0" bIns="0" rtlCol="0" anchor="t"/>
          <a:lstStyle/>
          <a:p>
            <a:pPr marL="0" indent="0">
              <a:buNone/>
            </a:pPr>
            <a:r>
              <a:rPr lang="en-US" sz="1050" dirty="0">
                <a:solidFill>
                  <a:srgbClr val="4A4F6B"/>
                </a:solidFill>
              </a:rPr>
              <a:t>exact keyword index (BM25) of the code base and documents, exposed as look-up tools - no vector DB</a:t>
            </a:r>
            <a:endParaRPr lang="en-US" sz="1050" dirty="0"/>
          </a:p>
        </p:txBody>
      </p:sp>
      <p:sp>
        <p:nvSpPr>
          <p:cNvPr id="18" name="Shape 16"/>
          <p:cNvSpPr/>
          <p:nvPr/>
        </p:nvSpPr>
        <p:spPr>
          <a:xfrm>
            <a:off x="4389120" y="2642616"/>
            <a:ext cx="1737360" cy="548640"/>
          </a:xfrm>
          <a:prstGeom prst="roundRect">
            <a:avLst>
              <a:gd name="adj" fmla="val 16667"/>
            </a:avLst>
          </a:prstGeom>
          <a:solidFill>
            <a:srgbClr val="FFFFFF"/>
          </a:solidFill>
          <a:ln w="12700">
            <a:solidFill>
              <a:srgbClr val="22B8CF"/>
            </a:solidFill>
            <a:prstDash val="solid"/>
          </a:ln>
        </p:spPr>
      </p:sp>
      <p:sp>
        <p:nvSpPr>
          <p:cNvPr id="19" name="Text 17"/>
          <p:cNvSpPr txBox="1"/>
          <p:nvPr/>
        </p:nvSpPr>
        <p:spPr>
          <a:xfrm>
            <a:off x="4389120" y="2642616"/>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search</a:t>
            </a:r>
            <a:endParaRPr lang="en-US" sz="1100" dirty="0"/>
          </a:p>
        </p:txBody>
      </p:sp>
      <p:sp>
        <p:nvSpPr>
          <p:cNvPr id="20" name="Shape 18"/>
          <p:cNvSpPr/>
          <p:nvPr/>
        </p:nvSpPr>
        <p:spPr>
          <a:xfrm>
            <a:off x="6263640" y="2642616"/>
            <a:ext cx="1737360" cy="548640"/>
          </a:xfrm>
          <a:prstGeom prst="roundRect">
            <a:avLst>
              <a:gd name="adj" fmla="val 16667"/>
            </a:avLst>
          </a:prstGeom>
          <a:solidFill>
            <a:srgbClr val="FFFFFF"/>
          </a:solidFill>
          <a:ln w="12700">
            <a:solidFill>
              <a:srgbClr val="22B8CF"/>
            </a:solidFill>
            <a:prstDash val="solid"/>
          </a:ln>
        </p:spPr>
      </p:sp>
      <p:sp>
        <p:nvSpPr>
          <p:cNvPr id="21" name="Text 19"/>
          <p:cNvSpPr txBox="1"/>
          <p:nvPr/>
        </p:nvSpPr>
        <p:spPr>
          <a:xfrm>
            <a:off x="6263640" y="2642616"/>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read file</a:t>
            </a:r>
            <a:endParaRPr lang="en-US" sz="1100" dirty="0"/>
          </a:p>
        </p:txBody>
      </p:sp>
      <p:sp>
        <p:nvSpPr>
          <p:cNvPr id="22" name="Shape 20"/>
          <p:cNvSpPr/>
          <p:nvPr/>
        </p:nvSpPr>
        <p:spPr>
          <a:xfrm>
            <a:off x="8138160" y="2642616"/>
            <a:ext cx="1737360" cy="548640"/>
          </a:xfrm>
          <a:prstGeom prst="roundRect">
            <a:avLst>
              <a:gd name="adj" fmla="val 16667"/>
            </a:avLst>
          </a:prstGeom>
          <a:solidFill>
            <a:srgbClr val="FFFFFF"/>
          </a:solidFill>
          <a:ln w="12700">
            <a:solidFill>
              <a:srgbClr val="22B8CF"/>
            </a:solidFill>
            <a:prstDash val="solid"/>
          </a:ln>
        </p:spPr>
      </p:sp>
      <p:sp>
        <p:nvSpPr>
          <p:cNvPr id="23" name="Text 21"/>
          <p:cNvSpPr txBox="1"/>
          <p:nvPr/>
        </p:nvSpPr>
        <p:spPr>
          <a:xfrm>
            <a:off x="8138160" y="2642616"/>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who registers it</a:t>
            </a:r>
            <a:endParaRPr lang="en-US" sz="1100" dirty="0"/>
          </a:p>
        </p:txBody>
      </p:sp>
      <p:sp>
        <p:nvSpPr>
          <p:cNvPr id="24" name="Shape 22"/>
          <p:cNvSpPr/>
          <p:nvPr/>
        </p:nvSpPr>
        <p:spPr>
          <a:xfrm>
            <a:off x="10012680" y="2642616"/>
            <a:ext cx="1737360" cy="548640"/>
          </a:xfrm>
          <a:prstGeom prst="roundRect">
            <a:avLst>
              <a:gd name="adj" fmla="val 16667"/>
            </a:avLst>
          </a:prstGeom>
          <a:solidFill>
            <a:srgbClr val="FFFFFF"/>
          </a:solidFill>
          <a:ln w="12700">
            <a:solidFill>
              <a:srgbClr val="22B8CF"/>
            </a:solidFill>
            <a:prstDash val="solid"/>
          </a:ln>
        </p:spPr>
      </p:sp>
      <p:sp>
        <p:nvSpPr>
          <p:cNvPr id="25" name="Text 23"/>
          <p:cNvSpPr txBox="1"/>
          <p:nvPr/>
        </p:nvSpPr>
        <p:spPr>
          <a:xfrm>
            <a:off x="10012680" y="2642616"/>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what changes together</a:t>
            </a:r>
            <a:endParaRPr lang="en-US" sz="1100" dirty="0"/>
          </a:p>
        </p:txBody>
      </p:sp>
      <p:sp>
        <p:nvSpPr>
          <p:cNvPr id="26" name="Shape 24"/>
          <p:cNvSpPr/>
          <p:nvPr/>
        </p:nvSpPr>
        <p:spPr>
          <a:xfrm>
            <a:off x="1828800" y="3401568"/>
            <a:ext cx="9144" cy="155448"/>
          </a:xfrm>
          <a:prstGeom prst="line">
            <a:avLst/>
          </a:prstGeom>
          <a:noFill/>
          <a:ln w="19050">
            <a:solidFill>
              <a:srgbClr val="9AA0BF"/>
            </a:solidFill>
            <a:prstDash val="solid"/>
            <a:tailEnd type="triangle"/>
          </a:ln>
        </p:spPr>
      </p:sp>
      <p:sp>
        <p:nvSpPr>
          <p:cNvPr id="27" name="Shape 25"/>
          <p:cNvSpPr/>
          <p:nvPr/>
        </p:nvSpPr>
        <p:spPr>
          <a:xfrm>
            <a:off x="640080" y="3557016"/>
            <a:ext cx="11155680" cy="960120"/>
          </a:xfrm>
          <a:prstGeom prst="roundRect">
            <a:avLst>
              <a:gd name="adj" fmla="val 11429"/>
            </a:avLst>
          </a:prstGeom>
          <a:solidFill>
            <a:srgbClr val="6C5CE7"/>
          </a:solidFill>
          <a:ln w="19050">
            <a:solidFill>
              <a:srgbClr val="6C5CE7"/>
            </a:solidFill>
            <a:prstDash val="solid"/>
          </a:ln>
        </p:spPr>
      </p:sp>
      <p:sp>
        <p:nvSpPr>
          <p:cNvPr id="28" name="Text 26"/>
          <p:cNvSpPr txBox="1"/>
          <p:nvPr/>
        </p:nvSpPr>
        <p:spPr>
          <a:xfrm>
            <a:off x="822960" y="3648456"/>
            <a:ext cx="2011680" cy="320040"/>
          </a:xfrm>
          <a:prstGeom prst="rect">
            <a:avLst/>
          </a:prstGeom>
          <a:noFill/>
        </p:spPr>
        <p:txBody>
          <a:bodyPr wrap="square" lIns="0" tIns="0" rIns="0" bIns="0" rtlCol="0" anchor="t"/>
          <a:lstStyle/>
          <a:p>
            <a:pPr marL="0" indent="0">
              <a:buNone/>
            </a:pPr>
            <a:r>
              <a:rPr lang="en-US" sz="1400" b="1" dirty="0">
                <a:solidFill>
                  <a:srgbClr val="FFFFFF"/>
                </a:solidFill>
              </a:rPr>
              <a:t>AGENTS</a:t>
            </a:r>
            <a:endParaRPr lang="en-US" sz="1400" dirty="0"/>
          </a:p>
        </p:txBody>
      </p:sp>
      <p:sp>
        <p:nvSpPr>
          <p:cNvPr id="29" name="Text 27"/>
          <p:cNvSpPr txBox="1"/>
          <p:nvPr/>
        </p:nvSpPr>
        <p:spPr>
          <a:xfrm>
            <a:off x="822960" y="3968496"/>
            <a:ext cx="3383280" cy="548640"/>
          </a:xfrm>
          <a:prstGeom prst="rect">
            <a:avLst/>
          </a:prstGeom>
          <a:noFill/>
        </p:spPr>
        <p:txBody>
          <a:bodyPr wrap="square" lIns="0" tIns="0" rIns="0" bIns="0" rtlCol="0" anchor="t"/>
          <a:lstStyle/>
          <a:p>
            <a:pPr marL="0" indent="0">
              <a:buNone/>
            </a:pPr>
            <a:r>
              <a:rPr lang="en-US" sz="1050" dirty="0">
                <a:solidFill>
                  <a:srgbClr val="ECEAFF"/>
                </a:solidFill>
              </a:rPr>
              <a:t>4 readers build one context pack → planner → coder → validator + reviewer</a:t>
            </a:r>
            <a:endParaRPr lang="en-US" sz="1050" dirty="0"/>
          </a:p>
        </p:txBody>
      </p:sp>
      <p:sp>
        <p:nvSpPr>
          <p:cNvPr id="30" name="Shape 28"/>
          <p:cNvSpPr/>
          <p:nvPr/>
        </p:nvSpPr>
        <p:spPr>
          <a:xfrm>
            <a:off x="4389120" y="3758184"/>
            <a:ext cx="1737360" cy="548640"/>
          </a:xfrm>
          <a:prstGeom prst="roundRect">
            <a:avLst>
              <a:gd name="adj" fmla="val 16667"/>
            </a:avLst>
          </a:prstGeom>
          <a:solidFill>
            <a:srgbClr val="FFFFFF"/>
          </a:solidFill>
          <a:ln w="12700">
            <a:solidFill>
              <a:srgbClr val="6C5CE7"/>
            </a:solidFill>
            <a:prstDash val="solid"/>
          </a:ln>
        </p:spPr>
      </p:sp>
      <p:sp>
        <p:nvSpPr>
          <p:cNvPr id="31" name="Text 29"/>
          <p:cNvSpPr txBox="1"/>
          <p:nvPr/>
        </p:nvSpPr>
        <p:spPr>
          <a:xfrm>
            <a:off x="4389120" y="3758184"/>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4 readers</a:t>
            </a:r>
            <a:endParaRPr lang="en-US" sz="1100" dirty="0"/>
          </a:p>
        </p:txBody>
      </p:sp>
      <p:sp>
        <p:nvSpPr>
          <p:cNvPr id="32" name="Shape 30"/>
          <p:cNvSpPr/>
          <p:nvPr/>
        </p:nvSpPr>
        <p:spPr>
          <a:xfrm>
            <a:off x="6263640" y="3758184"/>
            <a:ext cx="1737360" cy="548640"/>
          </a:xfrm>
          <a:prstGeom prst="roundRect">
            <a:avLst>
              <a:gd name="adj" fmla="val 16667"/>
            </a:avLst>
          </a:prstGeom>
          <a:solidFill>
            <a:srgbClr val="FFFFFF"/>
          </a:solidFill>
          <a:ln w="12700">
            <a:solidFill>
              <a:srgbClr val="6C5CE7"/>
            </a:solidFill>
            <a:prstDash val="solid"/>
          </a:ln>
        </p:spPr>
      </p:sp>
      <p:sp>
        <p:nvSpPr>
          <p:cNvPr id="33" name="Text 31"/>
          <p:cNvSpPr txBox="1"/>
          <p:nvPr/>
        </p:nvSpPr>
        <p:spPr>
          <a:xfrm>
            <a:off x="6263640" y="3758184"/>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planner</a:t>
            </a:r>
            <a:endParaRPr lang="en-US" sz="1100" dirty="0"/>
          </a:p>
        </p:txBody>
      </p:sp>
      <p:sp>
        <p:nvSpPr>
          <p:cNvPr id="34" name="Shape 32"/>
          <p:cNvSpPr/>
          <p:nvPr/>
        </p:nvSpPr>
        <p:spPr>
          <a:xfrm>
            <a:off x="8138160" y="3758184"/>
            <a:ext cx="1737360" cy="548640"/>
          </a:xfrm>
          <a:prstGeom prst="roundRect">
            <a:avLst>
              <a:gd name="adj" fmla="val 16667"/>
            </a:avLst>
          </a:prstGeom>
          <a:solidFill>
            <a:srgbClr val="FFFFFF"/>
          </a:solidFill>
          <a:ln w="12700">
            <a:solidFill>
              <a:srgbClr val="6C5CE7"/>
            </a:solidFill>
            <a:prstDash val="solid"/>
          </a:ln>
        </p:spPr>
      </p:sp>
      <p:sp>
        <p:nvSpPr>
          <p:cNvPr id="35" name="Text 33"/>
          <p:cNvSpPr txBox="1"/>
          <p:nvPr/>
        </p:nvSpPr>
        <p:spPr>
          <a:xfrm>
            <a:off x="8138160" y="3758184"/>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coder</a:t>
            </a:r>
            <a:endParaRPr lang="en-US" sz="1100" dirty="0"/>
          </a:p>
        </p:txBody>
      </p:sp>
      <p:sp>
        <p:nvSpPr>
          <p:cNvPr id="36" name="Shape 34"/>
          <p:cNvSpPr/>
          <p:nvPr/>
        </p:nvSpPr>
        <p:spPr>
          <a:xfrm>
            <a:off x="10012680" y="3758184"/>
            <a:ext cx="1737360" cy="548640"/>
          </a:xfrm>
          <a:prstGeom prst="roundRect">
            <a:avLst>
              <a:gd name="adj" fmla="val 16667"/>
            </a:avLst>
          </a:prstGeom>
          <a:solidFill>
            <a:srgbClr val="FFFFFF"/>
          </a:solidFill>
          <a:ln w="12700">
            <a:solidFill>
              <a:srgbClr val="6C5CE7"/>
            </a:solidFill>
            <a:prstDash val="solid"/>
          </a:ln>
        </p:spPr>
      </p:sp>
      <p:sp>
        <p:nvSpPr>
          <p:cNvPr id="37" name="Text 35"/>
          <p:cNvSpPr txBox="1"/>
          <p:nvPr/>
        </p:nvSpPr>
        <p:spPr>
          <a:xfrm>
            <a:off x="10012680" y="3758184"/>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validator · reviewer</a:t>
            </a:r>
            <a:endParaRPr lang="en-US" sz="1100" dirty="0"/>
          </a:p>
        </p:txBody>
      </p:sp>
      <p:sp>
        <p:nvSpPr>
          <p:cNvPr id="38" name="Shape 36"/>
          <p:cNvSpPr/>
          <p:nvPr/>
        </p:nvSpPr>
        <p:spPr>
          <a:xfrm>
            <a:off x="1828800" y="4517136"/>
            <a:ext cx="9144" cy="155448"/>
          </a:xfrm>
          <a:prstGeom prst="line">
            <a:avLst/>
          </a:prstGeom>
          <a:noFill/>
          <a:ln w="19050">
            <a:solidFill>
              <a:srgbClr val="9AA0BF"/>
            </a:solidFill>
            <a:prstDash val="solid"/>
            <a:tailEnd type="triangle"/>
          </a:ln>
        </p:spPr>
      </p:sp>
      <p:sp>
        <p:nvSpPr>
          <p:cNvPr id="39" name="Shape 37"/>
          <p:cNvSpPr/>
          <p:nvPr/>
        </p:nvSpPr>
        <p:spPr>
          <a:xfrm>
            <a:off x="640080" y="4672584"/>
            <a:ext cx="11155680" cy="960120"/>
          </a:xfrm>
          <a:prstGeom prst="roundRect">
            <a:avLst>
              <a:gd name="adj" fmla="val 11429"/>
            </a:avLst>
          </a:prstGeom>
          <a:solidFill>
            <a:srgbClr val="F1F2F8"/>
          </a:solidFill>
          <a:ln w="19050">
            <a:solidFill>
              <a:srgbClr val="2E9E6B"/>
            </a:solidFill>
            <a:prstDash val="solid"/>
          </a:ln>
        </p:spPr>
      </p:sp>
      <p:sp>
        <p:nvSpPr>
          <p:cNvPr id="40" name="Text 38"/>
          <p:cNvSpPr txBox="1"/>
          <p:nvPr/>
        </p:nvSpPr>
        <p:spPr>
          <a:xfrm>
            <a:off x="822960" y="4764024"/>
            <a:ext cx="2011680" cy="320040"/>
          </a:xfrm>
          <a:prstGeom prst="rect">
            <a:avLst/>
          </a:prstGeom>
          <a:noFill/>
        </p:spPr>
        <p:txBody>
          <a:bodyPr wrap="square" lIns="0" tIns="0" rIns="0" bIns="0" rtlCol="0" anchor="t"/>
          <a:lstStyle/>
          <a:p>
            <a:pPr marL="0" indent="0">
              <a:buNone/>
            </a:pPr>
            <a:r>
              <a:rPr lang="en-US" sz="1400" b="1" dirty="0">
                <a:solidFill>
                  <a:srgbClr val="2E9E6B"/>
                </a:solidFill>
              </a:rPr>
              <a:t>DELIVERY</a:t>
            </a:r>
            <a:endParaRPr lang="en-US" sz="1400" dirty="0"/>
          </a:p>
        </p:txBody>
      </p:sp>
      <p:sp>
        <p:nvSpPr>
          <p:cNvPr id="41" name="Text 39"/>
          <p:cNvSpPr txBox="1"/>
          <p:nvPr/>
        </p:nvSpPr>
        <p:spPr>
          <a:xfrm>
            <a:off x="822960" y="5084064"/>
            <a:ext cx="3383280" cy="548640"/>
          </a:xfrm>
          <a:prstGeom prst="rect">
            <a:avLst/>
          </a:prstGeom>
          <a:noFill/>
        </p:spPr>
        <p:txBody>
          <a:bodyPr wrap="square" lIns="0" tIns="0" rIns="0" bIns="0" rtlCol="0" anchor="t"/>
          <a:lstStyle/>
          <a:p>
            <a:pPr marL="0" indent="0">
              <a:buNone/>
            </a:pPr>
            <a:r>
              <a:rPr lang="en-US" sz="1050" dirty="0">
                <a:solidFill>
                  <a:srgbClr val="4A4F6B"/>
                </a:solidFill>
              </a:rPr>
              <a:t>what the developer gets</a:t>
            </a:r>
            <a:endParaRPr lang="en-US" sz="1050" dirty="0"/>
          </a:p>
        </p:txBody>
      </p:sp>
      <p:sp>
        <p:nvSpPr>
          <p:cNvPr id="42" name="Shape 40"/>
          <p:cNvSpPr/>
          <p:nvPr/>
        </p:nvSpPr>
        <p:spPr>
          <a:xfrm>
            <a:off x="4389120" y="4873752"/>
            <a:ext cx="1737360" cy="548640"/>
          </a:xfrm>
          <a:prstGeom prst="roundRect">
            <a:avLst>
              <a:gd name="adj" fmla="val 16667"/>
            </a:avLst>
          </a:prstGeom>
          <a:solidFill>
            <a:srgbClr val="FFFFFF"/>
          </a:solidFill>
          <a:ln w="12700">
            <a:solidFill>
              <a:srgbClr val="2E9E6B"/>
            </a:solidFill>
            <a:prstDash val="solid"/>
          </a:ln>
        </p:spPr>
      </p:sp>
      <p:sp>
        <p:nvSpPr>
          <p:cNvPr id="43" name="Text 41"/>
          <p:cNvSpPr txBox="1"/>
          <p:nvPr/>
        </p:nvSpPr>
        <p:spPr>
          <a:xfrm>
            <a:off x="4389120" y="4873752"/>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confidence score</a:t>
            </a:r>
            <a:endParaRPr lang="en-US" sz="1100" dirty="0"/>
          </a:p>
        </p:txBody>
      </p:sp>
      <p:sp>
        <p:nvSpPr>
          <p:cNvPr id="44" name="Shape 42"/>
          <p:cNvSpPr/>
          <p:nvPr/>
        </p:nvSpPr>
        <p:spPr>
          <a:xfrm>
            <a:off x="6263640" y="4873752"/>
            <a:ext cx="1737360" cy="548640"/>
          </a:xfrm>
          <a:prstGeom prst="roundRect">
            <a:avLst>
              <a:gd name="adj" fmla="val 16667"/>
            </a:avLst>
          </a:prstGeom>
          <a:solidFill>
            <a:srgbClr val="FFFFFF"/>
          </a:solidFill>
          <a:ln w="12700">
            <a:solidFill>
              <a:srgbClr val="2E9E6B"/>
            </a:solidFill>
            <a:prstDash val="solid"/>
          </a:ln>
        </p:spPr>
      </p:sp>
      <p:sp>
        <p:nvSpPr>
          <p:cNvPr id="45" name="Text 43"/>
          <p:cNvSpPr txBox="1"/>
          <p:nvPr/>
        </p:nvSpPr>
        <p:spPr>
          <a:xfrm>
            <a:off x="6263640" y="4873752"/>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diff · savepoints</a:t>
            </a:r>
            <a:endParaRPr lang="en-US" sz="1100" dirty="0"/>
          </a:p>
        </p:txBody>
      </p:sp>
      <p:sp>
        <p:nvSpPr>
          <p:cNvPr id="46" name="Shape 44"/>
          <p:cNvSpPr/>
          <p:nvPr/>
        </p:nvSpPr>
        <p:spPr>
          <a:xfrm>
            <a:off x="8138160" y="4873752"/>
            <a:ext cx="1737360" cy="548640"/>
          </a:xfrm>
          <a:prstGeom prst="roundRect">
            <a:avLst>
              <a:gd name="adj" fmla="val 16667"/>
            </a:avLst>
          </a:prstGeom>
          <a:solidFill>
            <a:srgbClr val="FFFFFF"/>
          </a:solidFill>
          <a:ln w="12700">
            <a:solidFill>
              <a:srgbClr val="2E9E6B"/>
            </a:solidFill>
            <a:prstDash val="solid"/>
          </a:ln>
        </p:spPr>
      </p:sp>
      <p:sp>
        <p:nvSpPr>
          <p:cNvPr id="47" name="Text 45"/>
          <p:cNvSpPr txBox="1"/>
          <p:nvPr/>
        </p:nvSpPr>
        <p:spPr>
          <a:xfrm>
            <a:off x="8138160" y="4873752"/>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branch in your name</a:t>
            </a:r>
            <a:endParaRPr lang="en-US" sz="1100" dirty="0"/>
          </a:p>
        </p:txBody>
      </p:sp>
      <p:sp>
        <p:nvSpPr>
          <p:cNvPr id="48" name="Shape 46"/>
          <p:cNvSpPr/>
          <p:nvPr/>
        </p:nvSpPr>
        <p:spPr>
          <a:xfrm>
            <a:off x="10012680" y="4873752"/>
            <a:ext cx="1737360" cy="548640"/>
          </a:xfrm>
          <a:prstGeom prst="roundRect">
            <a:avLst>
              <a:gd name="adj" fmla="val 16667"/>
            </a:avLst>
          </a:prstGeom>
          <a:solidFill>
            <a:srgbClr val="FFFFFF"/>
          </a:solidFill>
          <a:ln w="12700">
            <a:solidFill>
              <a:srgbClr val="2E9E6B"/>
            </a:solidFill>
            <a:prstDash val="solid"/>
          </a:ln>
        </p:spPr>
      </p:sp>
      <p:sp>
        <p:nvSpPr>
          <p:cNvPr id="49" name="Text 47"/>
          <p:cNvSpPr txBox="1"/>
          <p:nvPr/>
        </p:nvSpPr>
        <p:spPr>
          <a:xfrm>
            <a:off x="10012680" y="4873752"/>
            <a:ext cx="1737360" cy="548640"/>
          </a:xfrm>
          <a:prstGeom prst="rect">
            <a:avLst/>
          </a:prstGeom>
          <a:noFill/>
        </p:spPr>
        <p:txBody>
          <a:bodyPr wrap="square" lIns="0" tIns="0" rIns="0" bIns="0" rtlCol="0" anchor="ctr"/>
          <a:lstStyle/>
          <a:p>
            <a:pPr marL="0" indent="0" algn="ctr">
              <a:buNone/>
            </a:pPr>
            <a:r>
              <a:rPr lang="en-US" sz="1100" b="1" dirty="0">
                <a:solidFill>
                  <a:srgbClr val="1B1F3B"/>
                </a:solidFill>
              </a:rPr>
              <a:t>audit log · cost</a:t>
            </a:r>
            <a:endParaRPr lang="en-US" sz="1100" dirty="0"/>
          </a:p>
        </p:txBody>
      </p:sp>
      <p:sp>
        <p:nvSpPr>
          <p:cNvPr id="50" name="Text 48"/>
          <p:cNvSpPr txBox="1"/>
          <p:nvPr/>
        </p:nvSpPr>
        <p:spPr>
          <a:xfrm>
            <a:off x="640080" y="5806440"/>
            <a:ext cx="3566160" cy="274320"/>
          </a:xfrm>
          <a:prstGeom prst="rect">
            <a:avLst/>
          </a:prstGeom>
          <a:noFill/>
        </p:spPr>
        <p:txBody>
          <a:bodyPr wrap="square" lIns="0" tIns="0" rIns="0" bIns="0" rtlCol="0" anchor="t"/>
          <a:lstStyle/>
          <a:p>
            <a:pPr marL="0" indent="0">
              <a:buNone/>
            </a:pPr>
            <a:r>
              <a:rPr lang="en-US" sz="1200" b="1" dirty="0">
                <a:solidFill>
                  <a:srgbClr val="6C5CE7"/>
                </a:solidFill>
              </a:rPr>
              <a:t>Why agents, not scripts</a:t>
            </a:r>
            <a:endParaRPr lang="en-US" sz="1200" dirty="0"/>
          </a:p>
        </p:txBody>
      </p:sp>
      <p:sp>
        <p:nvSpPr>
          <p:cNvPr id="51" name="Text 49"/>
          <p:cNvSpPr txBox="1"/>
          <p:nvPr/>
        </p:nvSpPr>
        <p:spPr>
          <a:xfrm>
            <a:off x="640080" y="6053328"/>
            <a:ext cx="3566160" cy="548640"/>
          </a:xfrm>
          <a:prstGeom prst="rect">
            <a:avLst/>
          </a:prstGeom>
          <a:noFill/>
        </p:spPr>
        <p:txBody>
          <a:bodyPr wrap="square" lIns="0" tIns="0" rIns="0" bIns="0" rtlCol="0" anchor="t"/>
          <a:lstStyle/>
          <a:p>
            <a:pPr marL="0" indent="0">
              <a:buNone/>
            </a:pPr>
            <a:r>
              <a:rPr lang="en-US" sz="950" dirty="0">
                <a:solidFill>
                  <a:srgbClr val="4A4F6B"/>
                </a:solidFill>
              </a:rPr>
              <a:t>each has a goal, tools and a contract: it decides what to look up, and its result is checked and sent back if incomplete</a:t>
            </a:r>
            <a:endParaRPr lang="en-US" sz="950" dirty="0"/>
          </a:p>
        </p:txBody>
      </p:sp>
      <p:sp>
        <p:nvSpPr>
          <p:cNvPr id="52" name="Text 50"/>
          <p:cNvSpPr txBox="1"/>
          <p:nvPr/>
        </p:nvSpPr>
        <p:spPr>
          <a:xfrm>
            <a:off x="4407408" y="5806440"/>
            <a:ext cx="3566160" cy="274320"/>
          </a:xfrm>
          <a:prstGeom prst="rect">
            <a:avLst/>
          </a:prstGeom>
          <a:noFill/>
        </p:spPr>
        <p:txBody>
          <a:bodyPr wrap="square" lIns="0" tIns="0" rIns="0" bIns="0" rtlCol="0" anchor="t"/>
          <a:lstStyle/>
          <a:p>
            <a:pPr marL="0" indent="0">
              <a:buNone/>
            </a:pPr>
            <a:r>
              <a:rPr lang="en-US" sz="1200" b="1" dirty="0">
                <a:solidFill>
                  <a:srgbClr val="6C5CE7"/>
                </a:solidFill>
              </a:rPr>
              <a:t>Why BM25, not vectors</a:t>
            </a:r>
            <a:endParaRPr lang="en-US" sz="1200" dirty="0"/>
          </a:p>
        </p:txBody>
      </p:sp>
      <p:sp>
        <p:nvSpPr>
          <p:cNvPr id="53" name="Text 51"/>
          <p:cNvSpPr txBox="1"/>
          <p:nvPr/>
        </p:nvSpPr>
        <p:spPr>
          <a:xfrm>
            <a:off x="4407408" y="6053328"/>
            <a:ext cx="3566160" cy="548640"/>
          </a:xfrm>
          <a:prstGeom prst="rect">
            <a:avLst/>
          </a:prstGeom>
          <a:noFill/>
        </p:spPr>
        <p:txBody>
          <a:bodyPr wrap="square" lIns="0" tIns="0" rIns="0" bIns="0" rtlCol="0" anchor="t"/>
          <a:lstStyle/>
          <a:p>
            <a:pPr marL="0" indent="0">
              <a:buNone/>
            </a:pPr>
            <a:r>
              <a:rPr lang="en-US" sz="950" dirty="0">
                <a:solidFill>
                  <a:srgbClr val="4A4F6B"/>
                </a:solidFill>
              </a:rPr>
              <a:t>we search for exact names (tables, folders, keywords) - Ctrl-Shift-F, not "something similar"; nothing extra to host</a:t>
            </a:r>
            <a:endParaRPr lang="en-US" sz="950" dirty="0"/>
          </a:p>
        </p:txBody>
      </p:sp>
      <p:sp>
        <p:nvSpPr>
          <p:cNvPr id="54" name="Text 52"/>
          <p:cNvSpPr txBox="1"/>
          <p:nvPr/>
        </p:nvSpPr>
        <p:spPr>
          <a:xfrm>
            <a:off x="8174736" y="5806440"/>
            <a:ext cx="3566160" cy="274320"/>
          </a:xfrm>
          <a:prstGeom prst="rect">
            <a:avLst/>
          </a:prstGeom>
          <a:noFill/>
        </p:spPr>
        <p:txBody>
          <a:bodyPr wrap="square" lIns="0" tIns="0" rIns="0" bIns="0" rtlCol="0" anchor="t"/>
          <a:lstStyle/>
          <a:p>
            <a:pPr marL="0" indent="0">
              <a:buNone/>
            </a:pPr>
            <a:r>
              <a:rPr lang="en-US" sz="1200" b="1" dirty="0">
                <a:solidFill>
                  <a:srgbClr val="6C5CE7"/>
                </a:solidFill>
              </a:rPr>
              <a:t>Why it is cheap</a:t>
            </a:r>
            <a:endParaRPr lang="en-US" sz="1200" dirty="0"/>
          </a:p>
        </p:txBody>
      </p:sp>
      <p:sp>
        <p:nvSpPr>
          <p:cNvPr id="55" name="Text 53"/>
          <p:cNvSpPr txBox="1"/>
          <p:nvPr/>
        </p:nvSpPr>
        <p:spPr>
          <a:xfrm>
            <a:off x="8174736" y="6053328"/>
            <a:ext cx="3566160" cy="548640"/>
          </a:xfrm>
          <a:prstGeom prst="rect">
            <a:avLst/>
          </a:prstGeom>
          <a:noFill/>
        </p:spPr>
        <p:txBody>
          <a:bodyPr wrap="square" lIns="0" tIns="0" rIns="0" bIns="0" rtlCol="0" anchor="t"/>
          <a:lstStyle/>
          <a:p>
            <a:pPr marL="0" indent="0">
              <a:buNone/>
            </a:pPr>
            <a:r>
              <a:rPr lang="en-US" sz="950" dirty="0">
                <a:solidFill>
                  <a:srgbClr val="4A4F6B"/>
                </a:solidFill>
              </a:rPr>
              <a:t>readers' results are cached by input fingerprint (0 calls next time); Azure bills repeated prompt text at 1/10 - ~$0.50 a story</a:t>
            </a:r>
            <a:endParaRPr lang="en-US" sz="950" dirty="0"/>
          </a:p>
        </p:txBody>
      </p:sp>
      <p:sp>
        <p:nvSpPr>
          <p:cNvPr id="56" name="Slide Number Placeholder 0"/>
          <p:cNvSpPr>
            <a:spLocks noGrp="1"/>
          </p:cNvSpPr>
          <p:nvPr>
            <p:ph type="sldNum" sz="quarter" idx="4294967295"/>
          </p:nvPr>
        </p:nvSpPr>
        <p:spPr>
          <a:xfrm>
            <a:off x="11247120" y="6446520"/>
            <a:ext cx="548640" cy="274320"/>
          </a:xfrm>
          <a:prstGeom prst="rect">
            <a:avLst/>
          </a:prstGeom>
        </p:spPr>
        <p:txBody>
          <a:bodyPr/>
          <a:lstStyle>
            <a:lvl1pPr>
              <a:defRPr sz="1000">
                <a:solidFill>
                  <a:srgbClr val="9AA0BF"/>
                </a:solidFill>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100"/>
          </p:nvPr>
        </p:nvSpPr>
        <p:spPr/>
        <p:txBody>
          <a:bodyPr/>
          <a:lstStyle/>
          <a:p>
            <a:r>
              <a:rPr sz="3000" b="1">
                <a:solidFill>
                  <a:srgbClr val="1B1F3B"/>
                </a:solidFill>
              </a:rPr>
              <a:t>How the two parts fit: the context pack and the assistant</a:t>
            </a:r>
            <a:endParaRPr sz="3000" b="1">
              <a:solidFill>
                <a:srgbClr val="1B1F3B"/>
              </a:solidFill>
            </a:endParaRPr>
          </a:p>
        </p:txBody>
      </p:sp>
      <p:pic>
        <p:nvPicPr>
          <p:cNvPr id="3" name="Picture 2" descr="pitch_diagram.png"/>
          <p:cNvPicPr>
            <a:picLocks noChangeAspect="1"/>
          </p:cNvPicPr>
          <p:nvPr/>
        </p:nvPicPr>
        <p:blipFill>
          <a:blip r:embed="rId1"/>
          <a:stretch>
            <a:fillRect/>
          </a:stretch>
        </p:blipFill>
        <p:spPr>
          <a:xfrm>
            <a:off x="640080" y="1371600"/>
            <a:ext cx="5269955" cy="4572000"/>
          </a:xfrm>
          <a:prstGeom prst="rect">
            <a:avLst/>
          </a:prstGeom>
        </p:spPr>
      </p:pic>
      <p:sp>
        <p:nvSpPr>
          <p:cNvPr id="4" name="Rectangle 3"/>
          <p:cNvSpPr/>
          <p:nvPr/>
        </p:nvSpPr>
        <p:spPr>
          <a:xfrm>
            <a:off x="6184355" y="1371600"/>
            <a:ext cx="5428525" cy="4572000"/>
          </a:xfrm>
          <a:prstGeom prst="rect">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Ins="182880" rtlCol="0" anchor="t"/>
          <a:lstStyle/>
          <a:p>
            <a:pPr algn="l">
              <a:spcAft>
                <a:spcPts val="900"/>
              </a:spcAft>
            </a:pPr>
            <a:r>
              <a:rPr sz="1300" b="1">
                <a:solidFill>
                  <a:srgbClr val="1B1F3B"/>
                </a:solidFill>
              </a:rPr>
              <a:t>Inputs  </a:t>
            </a:r>
            <a:r>
              <a:rPr sz="1200">
                <a:solidFill>
                  <a:srgbClr val="4A4F6B"/>
                </a:solidFill>
              </a:rPr>
              <a:t>the three code repositories, the Greenplum tables and the team's notes and rules</a:t>
            </a:r>
            <a:endParaRPr sz="1200">
              <a:solidFill>
                <a:srgbClr val="4A4F6B"/>
              </a:solidFill>
            </a:endParaRPr>
          </a:p>
          <a:p>
            <a:pPr algn="l">
              <a:spcAft>
                <a:spcPts val="900"/>
              </a:spcAft>
            </a:pPr>
            <a:r>
              <a:rPr sz="1300" b="1">
                <a:solidFill>
                  <a:srgbClr val="1B1F3B"/>
                </a:solidFill>
              </a:rPr>
              <a:t>Knowledge Pack builder  </a:t>
            </a:r>
            <a:r>
              <a:rPr sz="1200">
                <a:solidFill>
                  <a:srgbClr val="4A4F6B"/>
                </a:solidFill>
              </a:rPr>
              <a:t>a scheduled job collects the facts – folder purposes, registration and companion rules, naming, standards, search index – into one context pack per system and e-mails what changed</a:t>
            </a:r>
            <a:endParaRPr sz="1200">
              <a:solidFill>
                <a:srgbClr val="4A4F6B"/>
              </a:solidFill>
            </a:endParaRPr>
          </a:p>
          <a:p>
            <a:pPr algn="l">
              <a:spcAft>
                <a:spcPts val="900"/>
              </a:spcAft>
            </a:pPr>
            <a:r>
              <a:rPr sz="1300" b="1">
                <a:solidFill>
                  <a:srgbClr val="1B1F3B"/>
                </a:solidFill>
              </a:rPr>
              <a:t>Dev Assistant  </a:t>
            </a:r>
            <a:r>
              <a:rPr sz="1200">
                <a:solidFill>
                  <a:srgbClr val="4A4F6B"/>
                </a:solidFill>
              </a:rPr>
              <a:t>combines the pack with the story: read → ground → plan → code → check, in about 5–10 minutes</a:t>
            </a:r>
            <a:endParaRPr sz="1200">
              <a:solidFill>
                <a:srgbClr val="4A4F6B"/>
              </a:solidFill>
            </a:endParaRPr>
          </a:p>
          <a:p>
            <a:pPr algn="l">
              <a:spcAft>
                <a:spcPts val="900"/>
              </a:spcAft>
            </a:pPr>
            <a:r>
              <a:rPr sz="1300" b="1">
                <a:solidFill>
                  <a:srgbClr val="1B1F3B"/>
                </a:solidFill>
              </a:rPr>
              <a:t>Git  </a:t>
            </a:r>
            <a:r>
              <a:rPr sz="1200">
                <a:solidFill>
                  <a:srgbClr val="4A4F6B"/>
                </a:solidFill>
              </a:rPr>
              <a:t>feature branch, one commit per run, merge request – all in the developer's name</a:t>
            </a:r>
            <a:endParaRPr sz="1200">
              <a:solidFill>
                <a:srgbClr val="4A4F6B"/>
              </a:solidFill>
            </a:endParaRPr>
          </a:p>
          <a:p>
            <a:pPr algn="l">
              <a:spcAft>
                <a:spcPts val="900"/>
              </a:spcAft>
            </a:pPr>
            <a:r>
              <a:rPr sz="1300" b="1">
                <a:solidFill>
                  <a:srgbClr val="1B1F3B"/>
                </a:solidFill>
              </a:rPr>
              <a:t>People decide  </a:t>
            </a:r>
            <a:r>
              <a:rPr sz="1200">
                <a:solidFill>
                  <a:srgbClr val="4A4F6B"/>
                </a:solidFill>
              </a:rPr>
              <a:t>a person reads the diff, tests it and merges; the tool never merges</a:t>
            </a:r>
            <a:endParaRPr sz="1200">
              <a:solidFill>
                <a:srgbClr val="4A4F6B"/>
              </a:solidFill>
            </a:endParaRPr>
          </a:p>
        </p:txBody>
      </p:sp>
      <p:sp>
        <p:nvSpPr>
          <p:cNvPr id="5" name="TextBox 4"/>
          <p:cNvSpPr txBox="1"/>
          <p:nvPr/>
        </p:nvSpPr>
        <p:spPr>
          <a:xfrm>
            <a:off x="640080" y="6035040"/>
            <a:ext cx="10972800" cy="365760"/>
          </a:xfrm>
          <a:prstGeom prst="rect">
            <a:avLst/>
          </a:prstGeom>
          <a:noFill/>
        </p:spPr>
        <p:txBody>
          <a:bodyPr wrap="square">
            <a:spAutoFit/>
          </a:bodyPr>
          <a:lstStyle/>
          <a:p>
            <a:r>
              <a:rPr sz="1250" i="1">
                <a:solidFill>
                  <a:srgbClr val="6C5CE7"/>
                </a:solidFill>
              </a:rPr>
              <a:t>The pack holds what the assistant needs to know; the assistant does the routine work of a story; a person merges.</a:t>
            </a:r>
            <a:endParaRPr sz="1250" i="1">
              <a:solidFill>
                <a:srgbClr val="6C5CE7"/>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64240" cy="777240"/>
          </a:xfrm>
          <a:prstGeom prst="rect">
            <a:avLst/>
          </a:prstGeom>
          <a:noFill/>
        </p:spPr>
        <p:txBody>
          <a:bodyPr wrap="square" lIns="0" tIns="0" rIns="0" bIns="0" rtlCol="0"/>
          <a:lstStyle/>
          <a:p>
            <a:pPr marL="0" indent="0" algn="l">
              <a:buNone/>
            </a:pPr>
            <a:r>
              <a:rPr lang="en-US" sz="3000" b="1" dirty="0">
                <a:solidFill>
                  <a:srgbClr val="1B1F3B"/>
                </a:solidFill>
              </a:rPr>
              <a:t>How it works: evidence in, every file checked twice</a:t>
            </a:r>
            <a:endParaRPr lang="en-US" sz="3000" dirty="0"/>
          </a:p>
        </p:txBody>
      </p:sp>
      <p:sp>
        <p:nvSpPr>
          <p:cNvPr id="3" name="Shape 1"/>
          <p:cNvSpPr/>
          <p:nvPr/>
        </p:nvSpPr>
        <p:spPr>
          <a:xfrm>
            <a:off x="640080" y="1371600"/>
            <a:ext cx="4023360" cy="822960"/>
          </a:xfrm>
          <a:prstGeom prst="roundRect">
            <a:avLst>
              <a:gd name="adj" fmla="val 11111"/>
            </a:avLst>
          </a:prstGeom>
          <a:solidFill>
            <a:srgbClr val="FFFFFF"/>
          </a:solidFill>
          <a:ln w="19050">
            <a:solidFill>
              <a:srgbClr val="22B8CF"/>
            </a:solidFill>
            <a:prstDash val="solid"/>
          </a:ln>
        </p:spPr>
      </p:sp>
      <p:sp>
        <p:nvSpPr>
          <p:cNvPr id="4" name="Text 2"/>
          <p:cNvSpPr txBox="1"/>
          <p:nvPr/>
        </p:nvSpPr>
        <p:spPr>
          <a:xfrm>
            <a:off x="822960" y="1444752"/>
            <a:ext cx="3657600" cy="274320"/>
          </a:xfrm>
          <a:prstGeom prst="rect">
            <a:avLst/>
          </a:prstGeom>
          <a:noFill/>
        </p:spPr>
        <p:txBody>
          <a:bodyPr wrap="square" lIns="0" tIns="0" rIns="0" bIns="0" rtlCol="0" anchor="t"/>
          <a:lstStyle/>
          <a:p>
            <a:pPr marL="0" indent="0">
              <a:buNone/>
            </a:pPr>
            <a:r>
              <a:rPr lang="en-US" sz="1300" b="1" dirty="0">
                <a:solidFill>
                  <a:srgbClr val="22B8CF"/>
                </a:solidFill>
              </a:rPr>
              <a:t>Story</a:t>
            </a:r>
            <a:endParaRPr lang="en-US" sz="1300" dirty="0"/>
          </a:p>
        </p:txBody>
      </p:sp>
      <p:sp>
        <p:nvSpPr>
          <p:cNvPr id="5" name="Text 3"/>
          <p:cNvSpPr txBox="1"/>
          <p:nvPr/>
        </p:nvSpPr>
        <p:spPr>
          <a:xfrm>
            <a:off x="822960" y="1719072"/>
            <a:ext cx="3749040" cy="457200"/>
          </a:xfrm>
          <a:prstGeom prst="rect">
            <a:avLst/>
          </a:prstGeom>
          <a:noFill/>
        </p:spPr>
        <p:txBody>
          <a:bodyPr wrap="square" lIns="0" tIns="0" rIns="0" bIns="0" rtlCol="0" anchor="t"/>
          <a:lstStyle/>
          <a:p>
            <a:pPr marL="0" indent="0">
              <a:buNone/>
            </a:pPr>
            <a:r>
              <a:rPr lang="en-US" sz="950" dirty="0">
                <a:solidFill>
                  <a:srgbClr val="4A4F6B"/>
                </a:solidFill>
              </a:rPr>
              <a:t>tables it names, SQL it contains - every code block ends up in a file or is declined with a reason</a:t>
            </a:r>
            <a:endParaRPr lang="en-US" sz="950" dirty="0"/>
          </a:p>
        </p:txBody>
      </p:sp>
      <p:sp>
        <p:nvSpPr>
          <p:cNvPr id="6" name="Shape 4"/>
          <p:cNvSpPr/>
          <p:nvPr/>
        </p:nvSpPr>
        <p:spPr>
          <a:xfrm>
            <a:off x="4663440" y="1783080"/>
            <a:ext cx="548640" cy="9144"/>
          </a:xfrm>
          <a:prstGeom prst="line">
            <a:avLst/>
          </a:prstGeom>
          <a:noFill/>
          <a:ln w="19050">
            <a:solidFill>
              <a:srgbClr val="22B8CF"/>
            </a:solidFill>
            <a:prstDash val="solid"/>
            <a:tailEnd type="triangle"/>
          </a:ln>
        </p:spPr>
      </p:sp>
      <p:sp>
        <p:nvSpPr>
          <p:cNvPr id="7" name="Shape 5"/>
          <p:cNvSpPr/>
          <p:nvPr/>
        </p:nvSpPr>
        <p:spPr>
          <a:xfrm>
            <a:off x="640080" y="2331720"/>
            <a:ext cx="4023360" cy="822960"/>
          </a:xfrm>
          <a:prstGeom prst="roundRect">
            <a:avLst>
              <a:gd name="adj" fmla="val 11111"/>
            </a:avLst>
          </a:prstGeom>
          <a:solidFill>
            <a:srgbClr val="FFFFFF"/>
          </a:solidFill>
          <a:ln w="19050">
            <a:solidFill>
              <a:srgbClr val="6C5CE7"/>
            </a:solidFill>
            <a:prstDash val="solid"/>
          </a:ln>
        </p:spPr>
      </p:sp>
      <p:sp>
        <p:nvSpPr>
          <p:cNvPr id="8" name="Text 6"/>
          <p:cNvSpPr txBox="1"/>
          <p:nvPr/>
        </p:nvSpPr>
        <p:spPr>
          <a:xfrm>
            <a:off x="822960" y="2404872"/>
            <a:ext cx="3657600" cy="274320"/>
          </a:xfrm>
          <a:prstGeom prst="rect">
            <a:avLst/>
          </a:prstGeom>
          <a:noFill/>
        </p:spPr>
        <p:txBody>
          <a:bodyPr wrap="square" lIns="0" tIns="0" rIns="0" bIns="0" rtlCol="0" anchor="t"/>
          <a:lstStyle/>
          <a:p>
            <a:pPr marL="0" indent="0">
              <a:buNone/>
            </a:pPr>
            <a:r>
              <a:rPr lang="en-US" sz="1300" b="1" dirty="0">
                <a:solidFill>
                  <a:srgbClr val="6C5CE7"/>
                </a:solidFill>
              </a:rPr>
              <a:t>Repository</a:t>
            </a:r>
            <a:endParaRPr lang="en-US" sz="1300" dirty="0"/>
          </a:p>
        </p:txBody>
      </p:sp>
      <p:sp>
        <p:nvSpPr>
          <p:cNvPr id="9" name="Text 7"/>
          <p:cNvSpPr txBox="1"/>
          <p:nvPr/>
        </p:nvSpPr>
        <p:spPr>
          <a:xfrm>
            <a:off x="822960" y="2679192"/>
            <a:ext cx="3749040" cy="457200"/>
          </a:xfrm>
          <a:prstGeom prst="rect">
            <a:avLst/>
          </a:prstGeom>
          <a:noFill/>
        </p:spPr>
        <p:txBody>
          <a:bodyPr wrap="square" lIns="0" tIns="0" rIns="0" bIns="0" rtlCol="0" anchor="t"/>
          <a:lstStyle/>
          <a:p>
            <a:pPr marL="0" indent="0">
              <a:buNone/>
            </a:pPr>
            <a:r>
              <a:rPr lang="en-US" sz="950" dirty="0">
                <a:solidFill>
                  <a:srgbClr val="4A4F6B"/>
                </a:solidFill>
              </a:rPr>
              <a:t>who registers this folder (DAG, config), what changes together (history, archive), what to imitate</a:t>
            </a:r>
            <a:endParaRPr lang="en-US" sz="950" dirty="0"/>
          </a:p>
        </p:txBody>
      </p:sp>
      <p:sp>
        <p:nvSpPr>
          <p:cNvPr id="10" name="Shape 8"/>
          <p:cNvSpPr/>
          <p:nvPr/>
        </p:nvSpPr>
        <p:spPr>
          <a:xfrm>
            <a:off x="4663440" y="2743200"/>
            <a:ext cx="548640" cy="9144"/>
          </a:xfrm>
          <a:prstGeom prst="line">
            <a:avLst/>
          </a:prstGeom>
          <a:noFill/>
          <a:ln w="19050">
            <a:solidFill>
              <a:srgbClr val="6C5CE7"/>
            </a:solidFill>
            <a:prstDash val="solid"/>
            <a:tailEnd type="triangle"/>
          </a:ln>
        </p:spPr>
      </p:sp>
      <p:sp>
        <p:nvSpPr>
          <p:cNvPr id="11" name="Shape 9"/>
          <p:cNvSpPr/>
          <p:nvPr/>
        </p:nvSpPr>
        <p:spPr>
          <a:xfrm>
            <a:off x="640080" y="3291840"/>
            <a:ext cx="4023360" cy="822960"/>
          </a:xfrm>
          <a:prstGeom prst="roundRect">
            <a:avLst>
              <a:gd name="adj" fmla="val 11111"/>
            </a:avLst>
          </a:prstGeom>
          <a:solidFill>
            <a:srgbClr val="FFFFFF"/>
          </a:solidFill>
          <a:ln w="19050">
            <a:solidFill>
              <a:srgbClr val="E6A23C"/>
            </a:solidFill>
            <a:prstDash val="solid"/>
          </a:ln>
        </p:spPr>
      </p:sp>
      <p:sp>
        <p:nvSpPr>
          <p:cNvPr id="12" name="Text 10"/>
          <p:cNvSpPr txBox="1"/>
          <p:nvPr/>
        </p:nvSpPr>
        <p:spPr>
          <a:xfrm>
            <a:off x="822960" y="3364992"/>
            <a:ext cx="3657600" cy="274320"/>
          </a:xfrm>
          <a:prstGeom prst="rect">
            <a:avLst/>
          </a:prstGeom>
          <a:noFill/>
        </p:spPr>
        <p:txBody>
          <a:bodyPr wrap="square" lIns="0" tIns="0" rIns="0" bIns="0" rtlCol="0" anchor="t"/>
          <a:lstStyle/>
          <a:p>
            <a:pPr marL="0" indent="0">
              <a:buNone/>
            </a:pPr>
            <a:r>
              <a:rPr lang="en-US" sz="1300" b="1" dirty="0">
                <a:solidFill>
                  <a:srgbClr val="E6A23C"/>
                </a:solidFill>
              </a:rPr>
              <a:t>Conventions</a:t>
            </a:r>
            <a:endParaRPr lang="en-US" sz="1300" dirty="0"/>
          </a:p>
        </p:txBody>
      </p:sp>
      <p:sp>
        <p:nvSpPr>
          <p:cNvPr id="13" name="Text 11"/>
          <p:cNvSpPr txBox="1"/>
          <p:nvPr/>
        </p:nvSpPr>
        <p:spPr>
          <a:xfrm>
            <a:off x="822960" y="3639312"/>
            <a:ext cx="3749040" cy="457200"/>
          </a:xfrm>
          <a:prstGeom prst="rect">
            <a:avLst/>
          </a:prstGeom>
          <a:noFill/>
        </p:spPr>
        <p:txBody>
          <a:bodyPr wrap="square" lIns="0" tIns="0" rIns="0" bIns="0" rtlCol="0" anchor="t"/>
          <a:lstStyle/>
          <a:p>
            <a:pPr marL="0" indent="0">
              <a:buNone/>
            </a:pPr>
            <a:r>
              <a:rPr lang="en-US" sz="950" dirty="0">
                <a:solidFill>
                  <a:srgbClr val="4A4F6B"/>
                </a:solidFill>
              </a:rPr>
              <a:t>logic in its own module; a profile script only LEFT JOINs it; nothing read from forbidden tables</a:t>
            </a:r>
            <a:endParaRPr lang="en-US" sz="950" dirty="0"/>
          </a:p>
        </p:txBody>
      </p:sp>
      <p:sp>
        <p:nvSpPr>
          <p:cNvPr id="14" name="Shape 12"/>
          <p:cNvSpPr/>
          <p:nvPr/>
        </p:nvSpPr>
        <p:spPr>
          <a:xfrm>
            <a:off x="4663440" y="3703320"/>
            <a:ext cx="548640" cy="9144"/>
          </a:xfrm>
          <a:prstGeom prst="line">
            <a:avLst/>
          </a:prstGeom>
          <a:noFill/>
          <a:ln w="19050">
            <a:solidFill>
              <a:srgbClr val="E6A23C"/>
            </a:solidFill>
            <a:prstDash val="solid"/>
            <a:tailEnd type="triangle"/>
          </a:ln>
        </p:spPr>
      </p:sp>
      <p:sp>
        <p:nvSpPr>
          <p:cNvPr id="15" name="Shape 13"/>
          <p:cNvSpPr/>
          <p:nvPr/>
        </p:nvSpPr>
        <p:spPr>
          <a:xfrm>
            <a:off x="5212080" y="1371600"/>
            <a:ext cx="2194560" cy="2743200"/>
          </a:xfrm>
          <a:prstGeom prst="roundRect">
            <a:avLst>
              <a:gd name="adj" fmla="val 5000"/>
            </a:avLst>
          </a:prstGeom>
          <a:solidFill>
            <a:srgbClr val="6C5CE7"/>
          </a:solidFill>
          <a:ln w="12700">
            <a:solidFill>
              <a:srgbClr val="6C5CE7"/>
            </a:solidFill>
            <a:prstDash val="solid"/>
          </a:ln>
        </p:spPr>
      </p:sp>
      <p:sp>
        <p:nvSpPr>
          <p:cNvPr id="16" name="Text 14"/>
          <p:cNvSpPr txBox="1"/>
          <p:nvPr/>
        </p:nvSpPr>
        <p:spPr>
          <a:xfrm>
            <a:off x="5212080" y="1554480"/>
            <a:ext cx="2194560" cy="365760"/>
          </a:xfrm>
          <a:prstGeom prst="rect">
            <a:avLst/>
          </a:prstGeom>
          <a:noFill/>
        </p:spPr>
        <p:txBody>
          <a:bodyPr wrap="square" lIns="0" tIns="0" rIns="0" bIns="0" rtlCol="0" anchor="t"/>
          <a:lstStyle/>
          <a:p>
            <a:pPr marL="0" indent="0" algn="ctr">
              <a:buNone/>
            </a:pPr>
            <a:r>
              <a:rPr lang="en-US" sz="1500" b="1" dirty="0">
                <a:solidFill>
                  <a:srgbClr val="FFFFFF"/>
                </a:solidFill>
              </a:rPr>
              <a:t>PLANNER</a:t>
            </a:r>
            <a:endParaRPr lang="en-US" sz="1500" dirty="0"/>
          </a:p>
        </p:txBody>
      </p:sp>
      <p:sp>
        <p:nvSpPr>
          <p:cNvPr id="17" name="Text 15"/>
          <p:cNvSpPr txBox="1"/>
          <p:nvPr/>
        </p:nvSpPr>
        <p:spPr>
          <a:xfrm>
            <a:off x="5303520" y="1965960"/>
            <a:ext cx="2011680" cy="2103120"/>
          </a:xfrm>
          <a:prstGeom prst="rect">
            <a:avLst/>
          </a:prstGeom>
          <a:noFill/>
        </p:spPr>
        <p:txBody>
          <a:bodyPr wrap="square" lIns="0" tIns="0" rIns="0" bIns="0" rtlCol="0" anchor="t"/>
          <a:lstStyle/>
          <a:p>
            <a:pPr marL="0" indent="0" algn="ctr">
              <a:buNone/>
            </a:pPr>
            <a:r>
              <a:rPr lang="en-US" sz="1050" dirty="0">
                <a:solidFill>
                  <a:srgbClr val="ECEAFF"/>
                </a:solidFill>
              </a:rPr>
              <a:t>proposes the files</a:t>
            </a:r>
            <a:endParaRPr lang="en-US" sz="1050" dirty="0"/>
          </a:p>
          <a:p>
            <a:pPr marL="0" indent="0" algn="ctr">
              <a:buNone/>
            </a:pPr>
            <a:r>
              <a:rPr lang="en-US" sz="1050" dirty="0">
                <a:solidFill>
                  <a:srgbClr val="ECEAFF"/>
                </a:solidFill>
              </a:rPr>
              <a:t>↓</a:t>
            </a:r>
            <a:endParaRPr lang="en-US" sz="1050" dirty="0"/>
          </a:p>
          <a:p>
            <a:pPr marL="0" indent="0" algn="ctr">
              <a:buNone/>
            </a:pPr>
            <a:r>
              <a:rPr lang="en-US" sz="1050" dirty="0">
                <a:solidFill>
                  <a:srgbClr val="ECEAFF"/>
                </a:solidFill>
              </a:rPr>
              <a:t>code checks the plan:</a:t>
            </a:r>
            <a:endParaRPr lang="en-US" sz="1050" dirty="0"/>
          </a:p>
          <a:p>
            <a:pPr marL="0" indent="0" algn="ctr">
              <a:buNone/>
            </a:pPr>
            <a:r>
              <a:rPr lang="en-US" sz="1050" dirty="0">
                <a:solidFill>
                  <a:srgbClr val="ECEAFF"/>
                </a:solidFill>
              </a:rPr>
              <a:t>file exists? registered? companions? story SQL used?</a:t>
            </a:r>
            <a:endParaRPr lang="en-US" sz="1050" dirty="0"/>
          </a:p>
          <a:p>
            <a:pPr marL="0" indent="0" algn="ctr">
              <a:buNone/>
            </a:pPr>
            <a:r>
              <a:rPr lang="en-US" sz="1050" dirty="0">
                <a:solidFill>
                  <a:srgbClr val="ECEAFF"/>
                </a:solidFill>
              </a:rPr>
              <a:t>↓</a:t>
            </a:r>
            <a:endParaRPr lang="en-US" sz="1050" dirty="0"/>
          </a:p>
          <a:p>
            <a:pPr marL="0" indent="0" algn="ctr">
              <a:buNone/>
            </a:pPr>
            <a:r>
              <a:rPr lang="en-US" sz="1050" dirty="0">
                <a:solidFill>
                  <a:srgbClr val="ECEAFF"/>
                </a:solidFill>
              </a:rPr>
              <a:t>rejected → plans again</a:t>
            </a:r>
            <a:endParaRPr lang="en-US" sz="1050" dirty="0"/>
          </a:p>
        </p:txBody>
      </p:sp>
      <p:sp>
        <p:nvSpPr>
          <p:cNvPr id="18" name="Shape 16"/>
          <p:cNvSpPr/>
          <p:nvPr/>
        </p:nvSpPr>
        <p:spPr>
          <a:xfrm>
            <a:off x="7406640" y="2743200"/>
            <a:ext cx="548640" cy="9144"/>
          </a:xfrm>
          <a:prstGeom prst="line">
            <a:avLst/>
          </a:prstGeom>
          <a:noFill/>
          <a:ln w="19050">
            <a:solidFill>
              <a:srgbClr val="6C5CE7"/>
            </a:solidFill>
            <a:prstDash val="solid"/>
            <a:tailEnd type="triangle"/>
          </a:ln>
        </p:spPr>
      </p:sp>
      <p:sp>
        <p:nvSpPr>
          <p:cNvPr id="19" name="Shape 17"/>
          <p:cNvSpPr/>
          <p:nvPr/>
        </p:nvSpPr>
        <p:spPr>
          <a:xfrm>
            <a:off x="7955280" y="1371600"/>
            <a:ext cx="3840480" cy="493776"/>
          </a:xfrm>
          <a:prstGeom prst="roundRect">
            <a:avLst>
              <a:gd name="adj" fmla="val 14815"/>
            </a:avLst>
          </a:prstGeom>
          <a:solidFill>
            <a:srgbClr val="F1F2F8"/>
          </a:solidFill>
          <a:ln w="12700">
            <a:solidFill>
              <a:srgbClr val="2E9E6B"/>
            </a:solidFill>
            <a:prstDash val="solid"/>
          </a:ln>
        </p:spPr>
      </p:sp>
      <p:sp>
        <p:nvSpPr>
          <p:cNvPr id="20" name="Text 18"/>
          <p:cNvSpPr txBox="1"/>
          <p:nvPr/>
        </p:nvSpPr>
        <p:spPr>
          <a:xfrm>
            <a:off x="8092440" y="1408176"/>
            <a:ext cx="3657600" cy="228600"/>
          </a:xfrm>
          <a:prstGeom prst="rect">
            <a:avLst/>
          </a:prstGeom>
          <a:noFill/>
        </p:spPr>
        <p:txBody>
          <a:bodyPr wrap="square" lIns="0" tIns="0" rIns="0" bIns="0" rtlCol="0" anchor="t"/>
          <a:lstStyle/>
          <a:p>
            <a:pPr marL="0" indent="0">
              <a:buNone/>
            </a:pPr>
            <a:r>
              <a:rPr lang="en-US" sz="1000" b="1" dirty="0">
                <a:solidFill>
                  <a:srgbClr val="1B1F3B"/>
                </a:solidFill>
                <a:latin typeface="Consolas" panose="020B0609020204030204" pitchFamily="34" charset="0"/>
                <a:ea typeface="Consolas" panose="020B0609020204030204" pitchFamily="34" charset="-122"/>
                <a:cs typeface="Consolas" panose="020B0609020204030204" pitchFamily="34" charset="-120"/>
              </a:rPr>
              <a:t>beneficiary_update_flags_ikg.sql</a:t>
            </a:r>
            <a:endParaRPr lang="en-US" sz="1000" dirty="0"/>
          </a:p>
        </p:txBody>
      </p:sp>
      <p:sp>
        <p:nvSpPr>
          <p:cNvPr id="21" name="Text 19"/>
          <p:cNvSpPr txBox="1"/>
          <p:nvPr/>
        </p:nvSpPr>
        <p:spPr>
          <a:xfrm>
            <a:off x="8092440" y="1618488"/>
            <a:ext cx="3657600" cy="228600"/>
          </a:xfrm>
          <a:prstGeom prst="rect">
            <a:avLst/>
          </a:prstGeom>
          <a:noFill/>
        </p:spPr>
        <p:txBody>
          <a:bodyPr wrap="square" lIns="0" tIns="0" rIns="0" bIns="0" rtlCol="0" anchor="t"/>
          <a:lstStyle/>
          <a:p>
            <a:pPr marL="0" indent="0">
              <a:buNone/>
            </a:pPr>
            <a:r>
              <a:rPr lang="en-US" sz="900" dirty="0">
                <a:solidFill>
                  <a:srgbClr val="4A4F6B"/>
                </a:solidFill>
              </a:rPr>
              <a:t>NEW module: the story's SQL, DISTRIBUTED BY the key</a:t>
            </a:r>
            <a:endParaRPr lang="en-US" sz="900" dirty="0"/>
          </a:p>
        </p:txBody>
      </p:sp>
      <p:sp>
        <p:nvSpPr>
          <p:cNvPr id="22" name="Shape 20"/>
          <p:cNvSpPr/>
          <p:nvPr/>
        </p:nvSpPr>
        <p:spPr>
          <a:xfrm>
            <a:off x="7955280" y="1938528"/>
            <a:ext cx="3840480" cy="493776"/>
          </a:xfrm>
          <a:prstGeom prst="roundRect">
            <a:avLst>
              <a:gd name="adj" fmla="val 14815"/>
            </a:avLst>
          </a:prstGeom>
          <a:solidFill>
            <a:srgbClr val="F1F2F8"/>
          </a:solidFill>
          <a:ln w="12700">
            <a:solidFill>
              <a:srgbClr val="22B8CF"/>
            </a:solidFill>
            <a:prstDash val="solid"/>
          </a:ln>
        </p:spPr>
      </p:sp>
      <p:sp>
        <p:nvSpPr>
          <p:cNvPr id="23" name="Text 21"/>
          <p:cNvSpPr txBox="1"/>
          <p:nvPr/>
        </p:nvSpPr>
        <p:spPr>
          <a:xfrm>
            <a:off x="8092440" y="1975104"/>
            <a:ext cx="3657600" cy="228600"/>
          </a:xfrm>
          <a:prstGeom prst="rect">
            <a:avLst/>
          </a:prstGeom>
          <a:noFill/>
        </p:spPr>
        <p:txBody>
          <a:bodyPr wrap="square" lIns="0" tIns="0" rIns="0" bIns="0" rtlCol="0" anchor="t"/>
          <a:lstStyle/>
          <a:p>
            <a:pPr marL="0" indent="0">
              <a:buNone/>
            </a:pPr>
            <a:r>
              <a:rPr lang="en-US" sz="1000" b="1" dirty="0">
                <a:solidFill>
                  <a:srgbClr val="1B1F3B"/>
                </a:solidFill>
                <a:latin typeface="Consolas" panose="020B0609020204030204" pitchFamily="34" charset="0"/>
                <a:ea typeface="Consolas" panose="020B0609020204030204" pitchFamily="34" charset="-122"/>
                <a:cs typeface="Consolas" panose="020B0609020204030204" pitchFamily="34" charset="-120"/>
              </a:rPr>
              <a:t>client_beneficiary_profile_curr_ikg.sql</a:t>
            </a:r>
            <a:endParaRPr lang="en-US" sz="1000" dirty="0"/>
          </a:p>
        </p:txBody>
      </p:sp>
      <p:sp>
        <p:nvSpPr>
          <p:cNvPr id="24" name="Text 22"/>
          <p:cNvSpPr txBox="1"/>
          <p:nvPr/>
        </p:nvSpPr>
        <p:spPr>
          <a:xfrm>
            <a:off x="8092440" y="2185416"/>
            <a:ext cx="3657600" cy="228600"/>
          </a:xfrm>
          <a:prstGeom prst="rect">
            <a:avLst/>
          </a:prstGeom>
          <a:noFill/>
        </p:spPr>
        <p:txBody>
          <a:bodyPr wrap="square" lIns="0" tIns="0" rIns="0" bIns="0" rtlCol="0" anchor="t"/>
          <a:lstStyle/>
          <a:p>
            <a:pPr marL="0" indent="0">
              <a:buNone/>
            </a:pPr>
            <a:r>
              <a:rPr lang="en-US" sz="900" dirty="0">
                <a:solidFill>
                  <a:srgbClr val="4A4F6B"/>
                </a:solidFill>
              </a:rPr>
              <a:t>MODIFY: LEFT JOIN + 6 columns, nothing else</a:t>
            </a:r>
            <a:endParaRPr lang="en-US" sz="900" dirty="0"/>
          </a:p>
        </p:txBody>
      </p:sp>
      <p:sp>
        <p:nvSpPr>
          <p:cNvPr id="25" name="Shape 23"/>
          <p:cNvSpPr/>
          <p:nvPr/>
        </p:nvSpPr>
        <p:spPr>
          <a:xfrm>
            <a:off x="7955280" y="2505456"/>
            <a:ext cx="3840480" cy="493776"/>
          </a:xfrm>
          <a:prstGeom prst="roundRect">
            <a:avLst>
              <a:gd name="adj" fmla="val 14815"/>
            </a:avLst>
          </a:prstGeom>
          <a:solidFill>
            <a:srgbClr val="F1F2F8"/>
          </a:solidFill>
          <a:ln w="12700">
            <a:solidFill>
              <a:srgbClr val="22B8CF"/>
            </a:solidFill>
            <a:prstDash val="solid"/>
          </a:ln>
        </p:spPr>
      </p:sp>
      <p:sp>
        <p:nvSpPr>
          <p:cNvPr id="26" name="Text 24"/>
          <p:cNvSpPr txBox="1"/>
          <p:nvPr/>
        </p:nvSpPr>
        <p:spPr>
          <a:xfrm>
            <a:off x="8092440" y="2542032"/>
            <a:ext cx="3657600" cy="228600"/>
          </a:xfrm>
          <a:prstGeom prst="rect">
            <a:avLst/>
          </a:prstGeom>
          <a:noFill/>
        </p:spPr>
        <p:txBody>
          <a:bodyPr wrap="square" lIns="0" tIns="0" rIns="0" bIns="0" rtlCol="0" anchor="t"/>
          <a:lstStyle/>
          <a:p>
            <a:pPr marL="0" indent="0">
              <a:buNone/>
            </a:pPr>
            <a:r>
              <a:rPr lang="en-US" sz="1000" b="1" dirty="0">
                <a:solidFill>
                  <a:srgbClr val="1B1F3B"/>
                </a:solidFill>
                <a:latin typeface="Consolas" panose="020B0609020204030204" pitchFamily="34" charset="0"/>
                <a:ea typeface="Consolas" panose="020B0609020204030204" pitchFamily="34" charset="-122"/>
                <a:cs typeface="Consolas" panose="020B0609020204030204" pitchFamily="34" charset="-120"/>
              </a:rPr>
              <a:t>…_profile_ikg.sql (history)</a:t>
            </a:r>
            <a:endParaRPr lang="en-US" sz="1000" dirty="0"/>
          </a:p>
        </p:txBody>
      </p:sp>
      <p:sp>
        <p:nvSpPr>
          <p:cNvPr id="27" name="Text 25"/>
          <p:cNvSpPr txBox="1"/>
          <p:nvPr/>
        </p:nvSpPr>
        <p:spPr>
          <a:xfrm>
            <a:off x="8092440" y="2752344"/>
            <a:ext cx="3657600" cy="228600"/>
          </a:xfrm>
          <a:prstGeom prst="rect">
            <a:avLst/>
          </a:prstGeom>
          <a:noFill/>
        </p:spPr>
        <p:txBody>
          <a:bodyPr wrap="square" lIns="0" tIns="0" rIns="0" bIns="0" rtlCol="0" anchor="t"/>
          <a:lstStyle/>
          <a:p>
            <a:pPr marL="0" indent="0">
              <a:buNone/>
            </a:pPr>
            <a:r>
              <a:rPr lang="en-US" sz="900" dirty="0">
                <a:solidFill>
                  <a:srgbClr val="4A4F6B"/>
                </a:solidFill>
              </a:rPr>
              <a:t>MODIFY: mirrors the new columns</a:t>
            </a:r>
            <a:endParaRPr lang="en-US" sz="900" dirty="0"/>
          </a:p>
        </p:txBody>
      </p:sp>
      <p:sp>
        <p:nvSpPr>
          <p:cNvPr id="28" name="Shape 26"/>
          <p:cNvSpPr/>
          <p:nvPr/>
        </p:nvSpPr>
        <p:spPr>
          <a:xfrm>
            <a:off x="7955280" y="3072384"/>
            <a:ext cx="3840480" cy="493776"/>
          </a:xfrm>
          <a:prstGeom prst="roundRect">
            <a:avLst>
              <a:gd name="adj" fmla="val 14815"/>
            </a:avLst>
          </a:prstGeom>
          <a:solidFill>
            <a:srgbClr val="F1F2F8"/>
          </a:solidFill>
          <a:ln w="12700">
            <a:solidFill>
              <a:srgbClr val="E6A23C"/>
            </a:solidFill>
            <a:prstDash val="solid"/>
          </a:ln>
        </p:spPr>
      </p:sp>
      <p:sp>
        <p:nvSpPr>
          <p:cNvPr id="29" name="Text 27"/>
          <p:cNvSpPr txBox="1"/>
          <p:nvPr/>
        </p:nvSpPr>
        <p:spPr>
          <a:xfrm>
            <a:off x="8092440" y="3108960"/>
            <a:ext cx="3657600" cy="228600"/>
          </a:xfrm>
          <a:prstGeom prst="rect">
            <a:avLst/>
          </a:prstGeom>
          <a:noFill/>
        </p:spPr>
        <p:txBody>
          <a:bodyPr wrap="square" lIns="0" tIns="0" rIns="0" bIns="0" rtlCol="0" anchor="t"/>
          <a:lstStyle/>
          <a:p>
            <a:pPr marL="0" indent="0">
              <a:buNone/>
            </a:pPr>
            <a:r>
              <a:rPr lang="en-US" sz="1000" b="1" dirty="0">
                <a:solidFill>
                  <a:srgbClr val="1B1F3B"/>
                </a:solidFill>
                <a:latin typeface="Consolas" panose="020B0609020204030204" pitchFamily="34" charset="0"/>
                <a:ea typeface="Consolas" panose="020B0609020204030204" pitchFamily="34" charset="-122"/>
                <a:cs typeface="Consolas" panose="020B0609020204030204" pitchFamily="34" charset="-120"/>
              </a:rPr>
              <a:t>ikg_data_refresh.py (DAG)</a:t>
            </a:r>
            <a:endParaRPr lang="en-US" sz="1000" dirty="0"/>
          </a:p>
        </p:txBody>
      </p:sp>
      <p:sp>
        <p:nvSpPr>
          <p:cNvPr id="30" name="Text 28"/>
          <p:cNvSpPr txBox="1"/>
          <p:nvPr/>
        </p:nvSpPr>
        <p:spPr>
          <a:xfrm>
            <a:off x="8092440" y="3319272"/>
            <a:ext cx="3657600" cy="228600"/>
          </a:xfrm>
          <a:prstGeom prst="rect">
            <a:avLst/>
          </a:prstGeom>
          <a:noFill/>
        </p:spPr>
        <p:txBody>
          <a:bodyPr wrap="square" lIns="0" tIns="0" rIns="0" bIns="0" rtlCol="0" anchor="t"/>
          <a:lstStyle/>
          <a:p>
            <a:pPr marL="0" indent="0">
              <a:buNone/>
            </a:pPr>
            <a:r>
              <a:rPr lang="en-US" sz="900" dirty="0">
                <a:solidFill>
                  <a:srgbClr val="4A4F6B"/>
                </a:solidFill>
              </a:rPr>
              <a:t>MODIFY: one task, like its siblings</a:t>
            </a:r>
            <a:endParaRPr lang="en-US" sz="900" dirty="0"/>
          </a:p>
        </p:txBody>
      </p:sp>
      <p:sp>
        <p:nvSpPr>
          <p:cNvPr id="31" name="Shape 29"/>
          <p:cNvSpPr/>
          <p:nvPr/>
        </p:nvSpPr>
        <p:spPr>
          <a:xfrm>
            <a:off x="7955280" y="3639312"/>
            <a:ext cx="3840480" cy="493776"/>
          </a:xfrm>
          <a:prstGeom prst="roundRect">
            <a:avLst>
              <a:gd name="adj" fmla="val 14815"/>
            </a:avLst>
          </a:prstGeom>
          <a:solidFill>
            <a:srgbClr val="F1F2F8"/>
          </a:solidFill>
          <a:ln w="12700">
            <a:solidFill>
              <a:srgbClr val="2E9E6B"/>
            </a:solidFill>
            <a:prstDash val="solid"/>
          </a:ln>
        </p:spPr>
      </p:sp>
      <p:sp>
        <p:nvSpPr>
          <p:cNvPr id="32" name="Text 30"/>
          <p:cNvSpPr txBox="1"/>
          <p:nvPr/>
        </p:nvSpPr>
        <p:spPr>
          <a:xfrm>
            <a:off x="8092440" y="3675888"/>
            <a:ext cx="3657600" cy="228600"/>
          </a:xfrm>
          <a:prstGeom prst="rect">
            <a:avLst/>
          </a:prstGeom>
          <a:noFill/>
        </p:spPr>
        <p:txBody>
          <a:bodyPr wrap="square" lIns="0" tIns="0" rIns="0" bIns="0" rtlCol="0" anchor="t"/>
          <a:lstStyle/>
          <a:p>
            <a:pPr marL="0" indent="0">
              <a:buNone/>
            </a:pPr>
            <a:r>
              <a:rPr lang="en-US" sz="1000" b="1" dirty="0">
                <a:solidFill>
                  <a:srgbClr val="1B1F3B"/>
                </a:solidFill>
                <a:latin typeface="Consolas" panose="020B0609020204030204" pitchFamily="34" charset="0"/>
                <a:ea typeface="Consolas" panose="020B0609020204030204" pitchFamily="34" charset="-122"/>
                <a:cs typeface="Consolas" panose="020B0609020204030204" pitchFamily="34" charset="-120"/>
              </a:rPr>
              <a:t>validate_…ipynb</a:t>
            </a:r>
            <a:endParaRPr lang="en-US" sz="1000" dirty="0"/>
          </a:p>
        </p:txBody>
      </p:sp>
      <p:sp>
        <p:nvSpPr>
          <p:cNvPr id="33" name="Text 31"/>
          <p:cNvSpPr txBox="1"/>
          <p:nvPr/>
        </p:nvSpPr>
        <p:spPr>
          <a:xfrm>
            <a:off x="8092440" y="3886200"/>
            <a:ext cx="3657600" cy="228600"/>
          </a:xfrm>
          <a:prstGeom prst="rect">
            <a:avLst/>
          </a:prstGeom>
          <a:noFill/>
        </p:spPr>
        <p:txBody>
          <a:bodyPr wrap="square" lIns="0" tIns="0" rIns="0" bIns="0" rtlCol="0" anchor="t"/>
          <a:lstStyle/>
          <a:p>
            <a:pPr marL="0" indent="0">
              <a:buNone/>
            </a:pPr>
            <a:r>
              <a:rPr lang="en-US" sz="900" dirty="0">
                <a:solidFill>
                  <a:srgbClr val="4A4F6B"/>
                </a:solidFill>
              </a:rPr>
              <a:t>NEW: checks the result</a:t>
            </a:r>
            <a:endParaRPr lang="en-US" sz="900" dirty="0"/>
          </a:p>
        </p:txBody>
      </p:sp>
      <p:sp>
        <p:nvSpPr>
          <p:cNvPr id="34" name="Shape 32"/>
          <p:cNvSpPr/>
          <p:nvPr/>
        </p:nvSpPr>
        <p:spPr>
          <a:xfrm>
            <a:off x="640080" y="4434840"/>
            <a:ext cx="3566160" cy="1234440"/>
          </a:xfrm>
          <a:prstGeom prst="roundRect">
            <a:avLst>
              <a:gd name="adj" fmla="val 8889"/>
            </a:avLst>
          </a:prstGeom>
          <a:solidFill>
            <a:srgbClr val="F1F2F8"/>
          </a:solidFill>
          <a:ln w="19050">
            <a:solidFill>
              <a:srgbClr val="6C5CE7"/>
            </a:solidFill>
            <a:prstDash val="solid"/>
          </a:ln>
        </p:spPr>
      </p:sp>
      <p:sp>
        <p:nvSpPr>
          <p:cNvPr id="35" name="Shape 33"/>
          <p:cNvSpPr/>
          <p:nvPr/>
        </p:nvSpPr>
        <p:spPr>
          <a:xfrm>
            <a:off x="777240" y="4572000"/>
            <a:ext cx="457200" cy="457200"/>
          </a:xfrm>
          <a:prstGeom prst="ellipse">
            <a:avLst/>
          </a:prstGeom>
          <a:solidFill>
            <a:srgbClr val="6C5CE7"/>
          </a:solidFill>
          <a:ln w="12700">
            <a:solidFill>
              <a:srgbClr val="6C5CE7"/>
            </a:solidFill>
            <a:prstDash val="solid"/>
          </a:ln>
        </p:spPr>
      </p:sp>
      <p:sp>
        <p:nvSpPr>
          <p:cNvPr id="36" name="Text 34"/>
          <p:cNvSpPr txBox="1"/>
          <p:nvPr/>
        </p:nvSpPr>
        <p:spPr>
          <a:xfrm>
            <a:off x="777240" y="457200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37" name="Text 35"/>
          <p:cNvSpPr txBox="1"/>
          <p:nvPr/>
        </p:nvSpPr>
        <p:spPr>
          <a:xfrm>
            <a:off x="1325880" y="4572000"/>
            <a:ext cx="2743200" cy="457200"/>
          </a:xfrm>
          <a:prstGeom prst="rect">
            <a:avLst/>
          </a:prstGeom>
          <a:noFill/>
        </p:spPr>
        <p:txBody>
          <a:bodyPr wrap="square" lIns="0" tIns="0" rIns="0" bIns="0" rtlCol="0" anchor="ctr"/>
          <a:lstStyle/>
          <a:p>
            <a:pPr marL="0" indent="0">
              <a:buNone/>
            </a:pPr>
            <a:r>
              <a:rPr lang="en-US" sz="1300" b="1" dirty="0">
                <a:solidFill>
                  <a:srgbClr val="1B1F3B"/>
                </a:solidFill>
              </a:rPr>
              <a:t>Coder</a:t>
            </a:r>
            <a:endParaRPr lang="en-US" sz="1300" dirty="0"/>
          </a:p>
        </p:txBody>
      </p:sp>
      <p:sp>
        <p:nvSpPr>
          <p:cNvPr id="38" name="Text 36"/>
          <p:cNvSpPr txBox="1"/>
          <p:nvPr/>
        </p:nvSpPr>
        <p:spPr>
          <a:xfrm>
            <a:off x="777240" y="5074920"/>
            <a:ext cx="3291840" cy="594360"/>
          </a:xfrm>
          <a:prstGeom prst="rect">
            <a:avLst/>
          </a:prstGeom>
          <a:noFill/>
        </p:spPr>
        <p:txBody>
          <a:bodyPr wrap="square" lIns="0" tIns="0" rIns="0" bIns="0" rtlCol="0" anchor="t"/>
          <a:lstStyle/>
          <a:p>
            <a:pPr marL="0" indent="0">
              <a:buNone/>
            </a:pPr>
            <a:r>
              <a:rPr lang="en-US" sz="1000" dirty="0">
                <a:solidFill>
                  <a:srgbClr val="4A4F6B"/>
                </a:solidFill>
              </a:rPr>
              <a:t>one file per call, imitating our patterns, over one shared context</a:t>
            </a:r>
            <a:endParaRPr lang="en-US" sz="1000" dirty="0"/>
          </a:p>
        </p:txBody>
      </p:sp>
      <p:sp>
        <p:nvSpPr>
          <p:cNvPr id="39" name="Shape 37"/>
          <p:cNvSpPr/>
          <p:nvPr/>
        </p:nvSpPr>
        <p:spPr>
          <a:xfrm>
            <a:off x="4206240" y="5029200"/>
            <a:ext cx="201168" cy="9144"/>
          </a:xfrm>
          <a:prstGeom prst="line">
            <a:avLst/>
          </a:prstGeom>
          <a:noFill/>
          <a:ln w="19050">
            <a:solidFill>
              <a:srgbClr val="9AA0BF"/>
            </a:solidFill>
            <a:prstDash val="solid"/>
            <a:tailEnd type="triangle"/>
          </a:ln>
        </p:spPr>
      </p:sp>
      <p:sp>
        <p:nvSpPr>
          <p:cNvPr id="40" name="Shape 38"/>
          <p:cNvSpPr/>
          <p:nvPr/>
        </p:nvSpPr>
        <p:spPr>
          <a:xfrm>
            <a:off x="4407408" y="4434840"/>
            <a:ext cx="3566160" cy="1234440"/>
          </a:xfrm>
          <a:prstGeom prst="roundRect">
            <a:avLst>
              <a:gd name="adj" fmla="val 8889"/>
            </a:avLst>
          </a:prstGeom>
          <a:solidFill>
            <a:srgbClr val="F1F2F8"/>
          </a:solidFill>
          <a:ln w="19050">
            <a:solidFill>
              <a:srgbClr val="22B8CF"/>
            </a:solidFill>
            <a:prstDash val="solid"/>
          </a:ln>
        </p:spPr>
      </p:sp>
      <p:sp>
        <p:nvSpPr>
          <p:cNvPr id="41" name="Shape 39"/>
          <p:cNvSpPr/>
          <p:nvPr/>
        </p:nvSpPr>
        <p:spPr>
          <a:xfrm>
            <a:off x="4544568" y="4572000"/>
            <a:ext cx="457200" cy="457200"/>
          </a:xfrm>
          <a:prstGeom prst="ellipse">
            <a:avLst/>
          </a:prstGeom>
          <a:solidFill>
            <a:srgbClr val="22B8CF"/>
          </a:solidFill>
          <a:ln w="12700">
            <a:solidFill>
              <a:srgbClr val="22B8CF"/>
            </a:solidFill>
            <a:prstDash val="solid"/>
          </a:ln>
        </p:spPr>
      </p:sp>
      <p:sp>
        <p:nvSpPr>
          <p:cNvPr id="42" name="Text 40"/>
          <p:cNvSpPr txBox="1"/>
          <p:nvPr/>
        </p:nvSpPr>
        <p:spPr>
          <a:xfrm>
            <a:off x="4544568" y="457200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43" name="Text 41"/>
          <p:cNvSpPr txBox="1"/>
          <p:nvPr/>
        </p:nvSpPr>
        <p:spPr>
          <a:xfrm>
            <a:off x="5093208" y="4572000"/>
            <a:ext cx="2743200" cy="457200"/>
          </a:xfrm>
          <a:prstGeom prst="rect">
            <a:avLst/>
          </a:prstGeom>
          <a:noFill/>
        </p:spPr>
        <p:txBody>
          <a:bodyPr wrap="square" lIns="0" tIns="0" rIns="0" bIns="0" rtlCol="0" anchor="ctr"/>
          <a:lstStyle/>
          <a:p>
            <a:pPr marL="0" indent="0">
              <a:buNone/>
            </a:pPr>
            <a:r>
              <a:rPr lang="en-US" sz="1300" b="1" dirty="0">
                <a:solidFill>
                  <a:srgbClr val="1B1F3B"/>
                </a:solidFill>
              </a:rPr>
              <a:t>Validator (no AI)</a:t>
            </a:r>
            <a:endParaRPr lang="en-US" sz="1300" dirty="0"/>
          </a:p>
        </p:txBody>
      </p:sp>
      <p:sp>
        <p:nvSpPr>
          <p:cNvPr id="44" name="Text 42"/>
          <p:cNvSpPr txBox="1"/>
          <p:nvPr/>
        </p:nvSpPr>
        <p:spPr>
          <a:xfrm>
            <a:off x="4544568" y="5074920"/>
            <a:ext cx="3291840" cy="594360"/>
          </a:xfrm>
          <a:prstGeom prst="rect">
            <a:avLst/>
          </a:prstGeom>
          <a:noFill/>
        </p:spPr>
        <p:txBody>
          <a:bodyPr wrap="square" lIns="0" tIns="0" rIns="0" bIns="0" rtlCol="0" anchor="t"/>
          <a:lstStyle/>
          <a:p>
            <a:pPr marL="0" indent="0">
              <a:buNone/>
            </a:pPr>
            <a:r>
              <a:rPr lang="en-US" sz="1000" dirty="0">
                <a:solidFill>
                  <a:srgbClr val="4A4F6B"/>
                </a:solidFill>
              </a:rPr>
              <a:t>parses every file, runs the team's rules, the DAG dry-run; failures go back to the coder</a:t>
            </a:r>
            <a:endParaRPr lang="en-US" sz="1000" dirty="0"/>
          </a:p>
        </p:txBody>
      </p:sp>
      <p:sp>
        <p:nvSpPr>
          <p:cNvPr id="45" name="Shape 43"/>
          <p:cNvSpPr/>
          <p:nvPr/>
        </p:nvSpPr>
        <p:spPr>
          <a:xfrm>
            <a:off x="7973568" y="5029200"/>
            <a:ext cx="201168" cy="9144"/>
          </a:xfrm>
          <a:prstGeom prst="line">
            <a:avLst/>
          </a:prstGeom>
          <a:noFill/>
          <a:ln w="19050">
            <a:solidFill>
              <a:srgbClr val="9AA0BF"/>
            </a:solidFill>
            <a:prstDash val="solid"/>
            <a:tailEnd type="triangle"/>
          </a:ln>
        </p:spPr>
      </p:sp>
      <p:sp>
        <p:nvSpPr>
          <p:cNvPr id="46" name="Shape 44"/>
          <p:cNvSpPr/>
          <p:nvPr/>
        </p:nvSpPr>
        <p:spPr>
          <a:xfrm>
            <a:off x="8174736" y="4434840"/>
            <a:ext cx="3566160" cy="1234440"/>
          </a:xfrm>
          <a:prstGeom prst="roundRect">
            <a:avLst>
              <a:gd name="adj" fmla="val 8889"/>
            </a:avLst>
          </a:prstGeom>
          <a:solidFill>
            <a:srgbClr val="F1F2F8"/>
          </a:solidFill>
          <a:ln w="19050">
            <a:solidFill>
              <a:srgbClr val="E6A23C"/>
            </a:solidFill>
            <a:prstDash val="solid"/>
          </a:ln>
        </p:spPr>
      </p:sp>
      <p:sp>
        <p:nvSpPr>
          <p:cNvPr id="47" name="Shape 45"/>
          <p:cNvSpPr/>
          <p:nvPr/>
        </p:nvSpPr>
        <p:spPr>
          <a:xfrm>
            <a:off x="8311896" y="4572000"/>
            <a:ext cx="457200" cy="457200"/>
          </a:xfrm>
          <a:prstGeom prst="ellipse">
            <a:avLst/>
          </a:prstGeom>
          <a:solidFill>
            <a:srgbClr val="E6A23C"/>
          </a:solidFill>
          <a:ln w="12700">
            <a:solidFill>
              <a:srgbClr val="E6A23C"/>
            </a:solidFill>
            <a:prstDash val="solid"/>
          </a:ln>
        </p:spPr>
      </p:sp>
      <p:sp>
        <p:nvSpPr>
          <p:cNvPr id="48" name="Text 46"/>
          <p:cNvSpPr txBox="1"/>
          <p:nvPr/>
        </p:nvSpPr>
        <p:spPr>
          <a:xfrm>
            <a:off x="8311896" y="4572000"/>
            <a:ext cx="457200" cy="457200"/>
          </a:xfrm>
          <a:prstGeom prst="rect">
            <a:avLst/>
          </a:prstGeom>
          <a:noFill/>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49" name="Text 47"/>
          <p:cNvSpPr txBox="1"/>
          <p:nvPr/>
        </p:nvSpPr>
        <p:spPr>
          <a:xfrm>
            <a:off x="8860536" y="4572000"/>
            <a:ext cx="2743200" cy="457200"/>
          </a:xfrm>
          <a:prstGeom prst="rect">
            <a:avLst/>
          </a:prstGeom>
          <a:noFill/>
        </p:spPr>
        <p:txBody>
          <a:bodyPr wrap="square" lIns="0" tIns="0" rIns="0" bIns="0" rtlCol="0" anchor="ctr"/>
          <a:lstStyle/>
          <a:p>
            <a:pPr marL="0" indent="0">
              <a:buNone/>
            </a:pPr>
            <a:r>
              <a:rPr lang="en-US" sz="1300" b="1" dirty="0">
                <a:solidFill>
                  <a:srgbClr val="1B1F3B"/>
                </a:solidFill>
              </a:rPr>
              <a:t>Reviewer (independent AI)</a:t>
            </a:r>
            <a:endParaRPr lang="en-US" sz="1300" dirty="0"/>
          </a:p>
        </p:txBody>
      </p:sp>
      <p:sp>
        <p:nvSpPr>
          <p:cNvPr id="50" name="Text 48"/>
          <p:cNvSpPr txBox="1"/>
          <p:nvPr/>
        </p:nvSpPr>
        <p:spPr>
          <a:xfrm>
            <a:off x="8311896" y="5074920"/>
            <a:ext cx="3291840" cy="594360"/>
          </a:xfrm>
          <a:prstGeom prst="rect">
            <a:avLst/>
          </a:prstGeom>
          <a:noFill/>
        </p:spPr>
        <p:txBody>
          <a:bodyPr wrap="square" lIns="0" tIns="0" rIns="0" bIns="0" rtlCol="0" anchor="t"/>
          <a:lstStyle/>
          <a:p>
            <a:pPr marL="0" indent="0">
              <a:buNone/>
            </a:pPr>
            <a:r>
              <a:rPr lang="en-US" sz="1000" dirty="0">
                <a:solidFill>
                  <a:srgbClr val="4A4F6B"/>
                </a:solidFill>
              </a:rPr>
              <a:t>requirements met? story SQL used? registered? conventions? → findings + score; critical/high are fixed and re-validated</a:t>
            </a:r>
            <a:endParaRPr lang="en-US" sz="1000" dirty="0"/>
          </a:p>
        </p:txBody>
      </p:sp>
      <p:sp>
        <p:nvSpPr>
          <p:cNvPr id="51" name="Text 49"/>
          <p:cNvSpPr txBox="1"/>
          <p:nvPr/>
        </p:nvSpPr>
        <p:spPr>
          <a:xfrm>
            <a:off x="640080" y="5852160"/>
            <a:ext cx="11155680" cy="365760"/>
          </a:xfrm>
          <a:prstGeom prst="rect">
            <a:avLst/>
          </a:prstGeom>
          <a:noFill/>
        </p:spPr>
        <p:txBody>
          <a:bodyPr wrap="square" lIns="0" tIns="0" rIns="0" bIns="0" rtlCol="0" anchor="t"/>
          <a:lstStyle/>
          <a:p>
            <a:pPr marL="0" indent="0">
              <a:buNone/>
            </a:pPr>
            <a:r>
              <a:rPr lang="en-US" sz="1250" i="1" dirty="0">
                <a:solidFill>
                  <a:srgbClr val="6C5CE7"/>
                </a:solidFill>
              </a:rPr>
              <a:t>Story 2547 in the demo: 5 files, DAG registered, history mirrored - the companions a human forgets most often.</a:t>
            </a:r>
            <a:endParaRPr lang="en-US" sz="1250" dirty="0"/>
          </a:p>
        </p:txBody>
      </p:sp>
      <p:sp>
        <p:nvSpPr>
          <p:cNvPr id="52" name="Slide Number Placeholder 0"/>
          <p:cNvSpPr>
            <a:spLocks noGrp="1"/>
          </p:cNvSpPr>
          <p:nvPr>
            <p:ph type="sldNum" sz="quarter" idx="4294967295"/>
          </p:nvPr>
        </p:nvSpPr>
        <p:spPr>
          <a:xfrm>
            <a:off x="11247120" y="6446520"/>
            <a:ext cx="548640" cy="274320"/>
          </a:xfrm>
          <a:prstGeom prst="rect">
            <a:avLst/>
          </a:prstGeom>
        </p:spPr>
        <p:txBody>
          <a:bodyPr/>
          <a:lstStyle>
            <a:lvl1pPr>
              <a:defRPr sz="1000">
                <a:solidFill>
                  <a:srgbClr val="9AA0BF"/>
                </a:solidFill>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65760"/>
            <a:ext cx="11064240" cy="777240"/>
          </a:xfrm>
          <a:prstGeom prst="rect">
            <a:avLst/>
          </a:prstGeom>
          <a:noFill/>
        </p:spPr>
        <p:txBody>
          <a:bodyPr wrap="square" lIns="0" tIns="0" rIns="0" bIns="0" rtlCol="0"/>
          <a:lstStyle/>
          <a:p>
            <a:pPr marL="0" indent="0" algn="l">
              <a:buNone/>
            </a:pPr>
            <a:r>
              <a:rPr lang="en-US" sz="3000" b="1" dirty="0">
                <a:solidFill>
                  <a:srgbClr val="1B1F3B"/>
                </a:solidFill>
              </a:rPr>
              <a:t>Trust: one number tells you what is left to look at</a:t>
            </a:r>
            <a:endParaRPr lang="en-US" sz="3000" dirty="0"/>
          </a:p>
        </p:txBody>
      </p:sp>
      <p:sp>
        <p:nvSpPr>
          <p:cNvPr id="3" name="Text 1"/>
          <p:cNvSpPr txBox="1"/>
          <p:nvPr/>
        </p:nvSpPr>
        <p:spPr>
          <a:xfrm>
            <a:off x="640080" y="1325880"/>
            <a:ext cx="2286000" cy="640080"/>
          </a:xfrm>
          <a:prstGeom prst="rect">
            <a:avLst/>
          </a:prstGeom>
          <a:noFill/>
        </p:spPr>
        <p:txBody>
          <a:bodyPr wrap="square" lIns="0" tIns="0" rIns="0" bIns="0" rtlCol="0" anchor="t"/>
          <a:lstStyle/>
          <a:p>
            <a:pPr marL="0" indent="0">
              <a:buNone/>
            </a:pPr>
            <a:r>
              <a:rPr lang="en-US" sz="3400" b="1" dirty="0">
                <a:solidFill>
                  <a:srgbClr val="22B8CF"/>
                </a:solidFill>
                <a:latin typeface="Cambria" panose="02040503050406030204" pitchFamily="34" charset="0"/>
                <a:ea typeface="Cambria" panose="02040503050406030204" pitchFamily="34" charset="-122"/>
                <a:cs typeface="Cambria" panose="02040503050406030204" pitchFamily="34" charset="-120"/>
              </a:rPr>
              <a:t>40%</a:t>
            </a:r>
            <a:endParaRPr lang="en-US" sz="3400" dirty="0"/>
          </a:p>
        </p:txBody>
      </p:sp>
      <p:sp>
        <p:nvSpPr>
          <p:cNvPr id="4" name="Text 2"/>
          <p:cNvSpPr txBox="1"/>
          <p:nvPr/>
        </p:nvSpPr>
        <p:spPr>
          <a:xfrm>
            <a:off x="640080" y="1965960"/>
            <a:ext cx="2286000" cy="274320"/>
          </a:xfrm>
          <a:prstGeom prst="rect">
            <a:avLst/>
          </a:prstGeom>
          <a:noFill/>
        </p:spPr>
        <p:txBody>
          <a:bodyPr wrap="square" lIns="0" tIns="0" rIns="0" bIns="0" rtlCol="0" anchor="t"/>
          <a:lstStyle/>
          <a:p>
            <a:pPr marL="0" indent="0">
              <a:buNone/>
            </a:pPr>
            <a:r>
              <a:rPr lang="en-US" sz="1300" b="1" dirty="0">
                <a:solidFill>
                  <a:srgbClr val="1B1F3B"/>
                </a:solidFill>
              </a:rPr>
              <a:t>validator quality</a:t>
            </a:r>
            <a:endParaRPr lang="en-US" sz="1300" dirty="0"/>
          </a:p>
        </p:txBody>
      </p:sp>
      <p:sp>
        <p:nvSpPr>
          <p:cNvPr id="5" name="Text 3"/>
          <p:cNvSpPr txBox="1"/>
          <p:nvPr/>
        </p:nvSpPr>
        <p:spPr>
          <a:xfrm>
            <a:off x="640080" y="2240280"/>
            <a:ext cx="2286000" cy="457200"/>
          </a:xfrm>
          <a:prstGeom prst="rect">
            <a:avLst/>
          </a:prstGeom>
          <a:noFill/>
        </p:spPr>
        <p:txBody>
          <a:bodyPr wrap="square" lIns="0" tIns="0" rIns="0" bIns="0" rtlCol="0" anchor="t"/>
          <a:lstStyle/>
          <a:p>
            <a:pPr marL="0" indent="0">
              <a:buNone/>
            </a:pPr>
            <a:r>
              <a:rPr lang="en-US" sz="1050" dirty="0">
                <a:solidFill>
                  <a:srgbClr val="4A4F6B"/>
                </a:solidFill>
              </a:rPr>
              <a:t>100 minus penalties per finding</a:t>
            </a:r>
            <a:endParaRPr lang="en-US" sz="1050" dirty="0"/>
          </a:p>
        </p:txBody>
      </p:sp>
      <p:sp>
        <p:nvSpPr>
          <p:cNvPr id="6" name="Text 4"/>
          <p:cNvSpPr txBox="1"/>
          <p:nvPr/>
        </p:nvSpPr>
        <p:spPr>
          <a:xfrm>
            <a:off x="3154680" y="1325880"/>
            <a:ext cx="2286000" cy="640080"/>
          </a:xfrm>
          <a:prstGeom prst="rect">
            <a:avLst/>
          </a:prstGeom>
          <a:noFill/>
        </p:spPr>
        <p:txBody>
          <a:bodyPr wrap="square" lIns="0" tIns="0" rIns="0" bIns="0" rtlCol="0" anchor="t"/>
          <a:lstStyle/>
          <a:p>
            <a:pPr marL="0" indent="0">
              <a:buNone/>
            </a:pPr>
            <a:r>
              <a:rPr lang="en-US" sz="3400" b="1" dirty="0">
                <a:solidFill>
                  <a:srgbClr val="E6A23C"/>
                </a:solidFill>
                <a:latin typeface="Cambria" panose="02040503050406030204" pitchFamily="34" charset="0"/>
                <a:ea typeface="Cambria" panose="02040503050406030204" pitchFamily="34" charset="-122"/>
                <a:cs typeface="Cambria" panose="02040503050406030204" pitchFamily="34" charset="-120"/>
              </a:rPr>
              <a:t>35%</a:t>
            </a:r>
            <a:endParaRPr lang="en-US" sz="3400" dirty="0"/>
          </a:p>
        </p:txBody>
      </p:sp>
      <p:sp>
        <p:nvSpPr>
          <p:cNvPr id="7" name="Text 5"/>
          <p:cNvSpPr txBox="1"/>
          <p:nvPr/>
        </p:nvSpPr>
        <p:spPr>
          <a:xfrm>
            <a:off x="3154680" y="1965960"/>
            <a:ext cx="2286000" cy="274320"/>
          </a:xfrm>
          <a:prstGeom prst="rect">
            <a:avLst/>
          </a:prstGeom>
          <a:noFill/>
        </p:spPr>
        <p:txBody>
          <a:bodyPr wrap="square" lIns="0" tIns="0" rIns="0" bIns="0" rtlCol="0" anchor="t"/>
          <a:lstStyle/>
          <a:p>
            <a:pPr marL="0" indent="0">
              <a:buNone/>
            </a:pPr>
            <a:r>
              <a:rPr lang="en-US" sz="1300" b="1" dirty="0">
                <a:solidFill>
                  <a:srgbClr val="1B1F3B"/>
                </a:solidFill>
              </a:rPr>
              <a:t>reviewer score</a:t>
            </a:r>
            <a:endParaRPr lang="en-US" sz="1300" dirty="0"/>
          </a:p>
        </p:txBody>
      </p:sp>
      <p:sp>
        <p:nvSpPr>
          <p:cNvPr id="8" name="Text 6"/>
          <p:cNvSpPr txBox="1"/>
          <p:nvPr/>
        </p:nvSpPr>
        <p:spPr>
          <a:xfrm>
            <a:off x="3154680" y="2240280"/>
            <a:ext cx="2286000" cy="457200"/>
          </a:xfrm>
          <a:prstGeom prst="rect">
            <a:avLst/>
          </a:prstGeom>
          <a:noFill/>
        </p:spPr>
        <p:txBody>
          <a:bodyPr wrap="square" lIns="0" tIns="0" rIns="0" bIns="0" rtlCol="0" anchor="t"/>
          <a:lstStyle/>
          <a:p>
            <a:pPr marL="0" indent="0">
              <a:buNone/>
            </a:pPr>
            <a:r>
              <a:rPr lang="en-US" sz="1050" dirty="0">
                <a:solidFill>
                  <a:srgbClr val="4A4F6B"/>
                </a:solidFill>
              </a:rPr>
              <a:t>the independent reviewer's 0-100</a:t>
            </a:r>
            <a:endParaRPr lang="en-US" sz="1050" dirty="0"/>
          </a:p>
        </p:txBody>
      </p:sp>
      <p:sp>
        <p:nvSpPr>
          <p:cNvPr id="9" name="Text 7"/>
          <p:cNvSpPr txBox="1"/>
          <p:nvPr/>
        </p:nvSpPr>
        <p:spPr>
          <a:xfrm>
            <a:off x="5669280" y="1325880"/>
            <a:ext cx="2286000" cy="640080"/>
          </a:xfrm>
          <a:prstGeom prst="rect">
            <a:avLst/>
          </a:prstGeom>
          <a:noFill/>
        </p:spPr>
        <p:txBody>
          <a:bodyPr wrap="square" lIns="0" tIns="0" rIns="0" bIns="0" rtlCol="0" anchor="t"/>
          <a:lstStyle/>
          <a:p>
            <a:pPr marL="0" indent="0">
              <a:buNone/>
            </a:pPr>
            <a:r>
              <a:rPr lang="en-US" sz="3400" b="1" dirty="0">
                <a:solidFill>
                  <a:srgbClr val="6C5CE7"/>
                </a:solidFill>
                <a:latin typeface="Cambria" panose="02040503050406030204" pitchFamily="34" charset="0"/>
                <a:ea typeface="Cambria" panose="02040503050406030204" pitchFamily="34" charset="-122"/>
                <a:cs typeface="Cambria" panose="02040503050406030204" pitchFamily="34" charset="-120"/>
              </a:rPr>
              <a:t>25%</a:t>
            </a:r>
            <a:endParaRPr lang="en-US" sz="3400" dirty="0"/>
          </a:p>
        </p:txBody>
      </p:sp>
      <p:sp>
        <p:nvSpPr>
          <p:cNvPr id="10" name="Text 8"/>
          <p:cNvSpPr txBox="1"/>
          <p:nvPr/>
        </p:nvSpPr>
        <p:spPr>
          <a:xfrm>
            <a:off x="5669280" y="1965960"/>
            <a:ext cx="2286000" cy="274320"/>
          </a:xfrm>
          <a:prstGeom prst="rect">
            <a:avLst/>
          </a:prstGeom>
          <a:noFill/>
        </p:spPr>
        <p:txBody>
          <a:bodyPr wrap="square" lIns="0" tIns="0" rIns="0" bIns="0" rtlCol="0" anchor="t"/>
          <a:lstStyle/>
          <a:p>
            <a:pPr marL="0" indent="0">
              <a:buNone/>
            </a:pPr>
            <a:r>
              <a:rPr lang="en-US" sz="1300" b="1" dirty="0">
                <a:solidFill>
                  <a:srgbClr val="1B1F3B"/>
                </a:solidFill>
              </a:rPr>
              <a:t>coder confidence</a:t>
            </a:r>
            <a:endParaRPr lang="en-US" sz="1300" dirty="0"/>
          </a:p>
        </p:txBody>
      </p:sp>
      <p:sp>
        <p:nvSpPr>
          <p:cNvPr id="11" name="Text 9"/>
          <p:cNvSpPr txBox="1"/>
          <p:nvPr/>
        </p:nvSpPr>
        <p:spPr>
          <a:xfrm>
            <a:off x="5669280" y="2240280"/>
            <a:ext cx="2286000" cy="457200"/>
          </a:xfrm>
          <a:prstGeom prst="rect">
            <a:avLst/>
          </a:prstGeom>
          <a:noFill/>
        </p:spPr>
        <p:txBody>
          <a:bodyPr wrap="square" lIns="0" tIns="0" rIns="0" bIns="0" rtlCol="0" anchor="t"/>
          <a:lstStyle/>
          <a:p>
            <a:pPr marL="0" indent="0">
              <a:buNone/>
            </a:pPr>
            <a:r>
              <a:rPr lang="en-US" sz="1050" dirty="0">
                <a:solidFill>
                  <a:srgbClr val="4A4F6B"/>
                </a:solidFill>
              </a:rPr>
              <a:t>the coder's own, averaged over files</a:t>
            </a:r>
            <a:endParaRPr lang="en-US" sz="1050" dirty="0"/>
          </a:p>
        </p:txBody>
      </p:sp>
      <p:sp>
        <p:nvSpPr>
          <p:cNvPr id="12" name="Text 10"/>
          <p:cNvSpPr txBox="1"/>
          <p:nvPr/>
        </p:nvSpPr>
        <p:spPr>
          <a:xfrm>
            <a:off x="640080" y="2788920"/>
            <a:ext cx="7406640" cy="457200"/>
          </a:xfrm>
          <a:prstGeom prst="rect">
            <a:avLst/>
          </a:prstGeom>
          <a:noFill/>
        </p:spPr>
        <p:txBody>
          <a:bodyPr wrap="square" lIns="0" tIns="0" rIns="0" bIns="0" rtlCol="0" anchor="t"/>
          <a:lstStyle/>
          <a:p>
            <a:pPr marL="0" indent="0">
              <a:buNone/>
            </a:pPr>
            <a:r>
              <a:rPr lang="en-US" sz="1050" dirty="0">
                <a:solidFill>
                  <a:srgbClr val="4A4F6B"/>
                </a:solidFill>
              </a:rPr>
              <a:t>capped by what is still open: no review → max 70 · open critical → max 50 · open high → max 75 · weak file → max 80 · −2 per open question</a:t>
            </a:r>
            <a:endParaRPr lang="en-US" sz="1050" dirty="0"/>
          </a:p>
        </p:txBody>
      </p:sp>
      <p:sp>
        <p:nvSpPr>
          <p:cNvPr id="13" name="Shape 11"/>
          <p:cNvSpPr/>
          <p:nvPr/>
        </p:nvSpPr>
        <p:spPr>
          <a:xfrm>
            <a:off x="8321040" y="1325880"/>
            <a:ext cx="3474720" cy="594360"/>
          </a:xfrm>
          <a:prstGeom prst="roundRect">
            <a:avLst>
              <a:gd name="adj" fmla="val 15385"/>
            </a:avLst>
          </a:prstGeom>
          <a:solidFill>
            <a:srgbClr val="2E9E6B"/>
          </a:solidFill>
          <a:ln w="12700">
            <a:solidFill>
              <a:srgbClr val="2E9E6B"/>
            </a:solidFill>
            <a:prstDash val="solid"/>
          </a:ln>
        </p:spPr>
      </p:sp>
      <p:sp>
        <p:nvSpPr>
          <p:cNvPr id="14" name="Text 12"/>
          <p:cNvSpPr txBox="1"/>
          <p:nvPr/>
        </p:nvSpPr>
        <p:spPr>
          <a:xfrm>
            <a:off x="8458200" y="1371600"/>
            <a:ext cx="3200400" cy="256032"/>
          </a:xfrm>
          <a:prstGeom prst="rect">
            <a:avLst/>
          </a:prstGeom>
          <a:noFill/>
        </p:spPr>
        <p:txBody>
          <a:bodyPr wrap="square" lIns="0" tIns="0" rIns="0" bIns="0" rtlCol="0" anchor="t"/>
          <a:lstStyle/>
          <a:p>
            <a:pPr marL="0" indent="0">
              <a:buNone/>
            </a:pPr>
            <a:r>
              <a:rPr lang="en-US" sz="1250" b="1" dirty="0">
                <a:solidFill>
                  <a:srgbClr val="FFFFFF"/>
                </a:solidFill>
              </a:rPr>
              <a:t>≥ 85  High</a:t>
            </a:r>
            <a:endParaRPr lang="en-US" sz="1250" dirty="0"/>
          </a:p>
        </p:txBody>
      </p:sp>
      <p:sp>
        <p:nvSpPr>
          <p:cNvPr id="15" name="Text 13"/>
          <p:cNvSpPr txBox="1"/>
          <p:nvPr/>
        </p:nvSpPr>
        <p:spPr>
          <a:xfrm>
            <a:off x="8458200" y="1627632"/>
            <a:ext cx="3200400" cy="256032"/>
          </a:xfrm>
          <a:prstGeom prst="rect">
            <a:avLst/>
          </a:prstGeom>
          <a:noFill/>
        </p:spPr>
        <p:txBody>
          <a:bodyPr wrap="square" lIns="0" tIns="0" rIns="0" bIns="0" rtlCol="0" anchor="t"/>
          <a:lstStyle/>
          <a:p>
            <a:pPr marL="0" indent="0">
              <a:buNone/>
            </a:pPr>
            <a:r>
              <a:rPr lang="en-US" sz="950" dirty="0">
                <a:solidFill>
                  <a:srgbClr val="FFFFFF"/>
                </a:solidFill>
              </a:rPr>
              <a:t>read the plan, skim the diff, push</a:t>
            </a:r>
            <a:endParaRPr lang="en-US" sz="950" dirty="0"/>
          </a:p>
        </p:txBody>
      </p:sp>
      <p:sp>
        <p:nvSpPr>
          <p:cNvPr id="16" name="Shape 14"/>
          <p:cNvSpPr/>
          <p:nvPr/>
        </p:nvSpPr>
        <p:spPr>
          <a:xfrm>
            <a:off x="8321040" y="2011680"/>
            <a:ext cx="3474720" cy="594360"/>
          </a:xfrm>
          <a:prstGeom prst="roundRect">
            <a:avLst>
              <a:gd name="adj" fmla="val 15385"/>
            </a:avLst>
          </a:prstGeom>
          <a:solidFill>
            <a:srgbClr val="E6A23C"/>
          </a:solidFill>
          <a:ln w="12700">
            <a:solidFill>
              <a:srgbClr val="E6A23C"/>
            </a:solidFill>
            <a:prstDash val="solid"/>
          </a:ln>
        </p:spPr>
      </p:sp>
      <p:sp>
        <p:nvSpPr>
          <p:cNvPr id="17" name="Text 15"/>
          <p:cNvSpPr txBox="1"/>
          <p:nvPr/>
        </p:nvSpPr>
        <p:spPr>
          <a:xfrm>
            <a:off x="8458200" y="2057400"/>
            <a:ext cx="3200400" cy="256032"/>
          </a:xfrm>
          <a:prstGeom prst="rect">
            <a:avLst/>
          </a:prstGeom>
          <a:noFill/>
        </p:spPr>
        <p:txBody>
          <a:bodyPr wrap="square" lIns="0" tIns="0" rIns="0" bIns="0" rtlCol="0" anchor="t"/>
          <a:lstStyle/>
          <a:p>
            <a:pPr marL="0" indent="0">
              <a:buNone/>
            </a:pPr>
            <a:r>
              <a:rPr lang="en-US" sz="1250" b="1" dirty="0">
                <a:solidFill>
                  <a:srgbClr val="FFFFFF"/>
                </a:solidFill>
              </a:rPr>
              <a:t>70-84  Medium</a:t>
            </a:r>
            <a:endParaRPr lang="en-US" sz="1250" dirty="0"/>
          </a:p>
        </p:txBody>
      </p:sp>
      <p:sp>
        <p:nvSpPr>
          <p:cNvPr id="18" name="Text 16"/>
          <p:cNvSpPr txBox="1"/>
          <p:nvPr/>
        </p:nvSpPr>
        <p:spPr>
          <a:xfrm>
            <a:off x="8458200" y="2313432"/>
            <a:ext cx="3200400" cy="256032"/>
          </a:xfrm>
          <a:prstGeom prst="rect">
            <a:avLst/>
          </a:prstGeom>
          <a:noFill/>
        </p:spPr>
        <p:txBody>
          <a:bodyPr wrap="square" lIns="0" tIns="0" rIns="0" bIns="0" rtlCol="0" anchor="t"/>
          <a:lstStyle/>
          <a:p>
            <a:pPr marL="0" indent="0">
              <a:buNone/>
            </a:pPr>
            <a:r>
              <a:rPr lang="en-US" sz="950" dirty="0">
                <a:solidFill>
                  <a:srgbClr val="FFFFFF"/>
                </a:solidFill>
              </a:rPr>
              <a:t>fix what the Review tab lists first</a:t>
            </a:r>
            <a:endParaRPr lang="en-US" sz="950" dirty="0"/>
          </a:p>
        </p:txBody>
      </p:sp>
      <p:sp>
        <p:nvSpPr>
          <p:cNvPr id="19" name="Shape 17"/>
          <p:cNvSpPr/>
          <p:nvPr/>
        </p:nvSpPr>
        <p:spPr>
          <a:xfrm>
            <a:off x="8321040" y="2697480"/>
            <a:ext cx="3474720" cy="594360"/>
          </a:xfrm>
          <a:prstGeom prst="roundRect">
            <a:avLst>
              <a:gd name="adj" fmla="val 15385"/>
            </a:avLst>
          </a:prstGeom>
          <a:solidFill>
            <a:srgbClr val="D94C4C"/>
          </a:solidFill>
          <a:ln w="12700">
            <a:solidFill>
              <a:srgbClr val="D94C4C"/>
            </a:solidFill>
            <a:prstDash val="solid"/>
          </a:ln>
        </p:spPr>
      </p:sp>
      <p:sp>
        <p:nvSpPr>
          <p:cNvPr id="20" name="Text 18"/>
          <p:cNvSpPr txBox="1"/>
          <p:nvPr/>
        </p:nvSpPr>
        <p:spPr>
          <a:xfrm>
            <a:off x="8458200" y="2743200"/>
            <a:ext cx="3200400" cy="256032"/>
          </a:xfrm>
          <a:prstGeom prst="rect">
            <a:avLst/>
          </a:prstGeom>
          <a:noFill/>
        </p:spPr>
        <p:txBody>
          <a:bodyPr wrap="square" lIns="0" tIns="0" rIns="0" bIns="0" rtlCol="0" anchor="t"/>
          <a:lstStyle/>
          <a:p>
            <a:pPr marL="0" indent="0">
              <a:buNone/>
            </a:pPr>
            <a:r>
              <a:rPr lang="en-US" sz="1250" b="1" dirty="0">
                <a:solidFill>
                  <a:srgbClr val="FFFFFF"/>
                </a:solidFill>
              </a:rPr>
              <a:t>&lt; 70  Low</a:t>
            </a:r>
            <a:endParaRPr lang="en-US" sz="1250" dirty="0"/>
          </a:p>
        </p:txBody>
      </p:sp>
      <p:sp>
        <p:nvSpPr>
          <p:cNvPr id="21" name="Text 19"/>
          <p:cNvSpPr txBox="1"/>
          <p:nvPr/>
        </p:nvSpPr>
        <p:spPr>
          <a:xfrm>
            <a:off x="8458200" y="2999232"/>
            <a:ext cx="3200400" cy="256032"/>
          </a:xfrm>
          <a:prstGeom prst="rect">
            <a:avLst/>
          </a:prstGeom>
          <a:noFill/>
        </p:spPr>
        <p:txBody>
          <a:bodyPr wrap="square" lIns="0" tIns="0" rIns="0" bIns="0" rtlCol="0" anchor="t"/>
          <a:lstStyle/>
          <a:p>
            <a:pPr marL="0" indent="0">
              <a:buNone/>
            </a:pPr>
            <a:r>
              <a:rPr lang="en-US" sz="950" dirty="0">
                <a:solidFill>
                  <a:srgbClr val="FFFFFF"/>
                </a:solidFill>
              </a:rPr>
              <a:t>the tool is pointing at a problem: read the findings</a:t>
            </a:r>
            <a:endParaRPr lang="en-US" sz="950" dirty="0"/>
          </a:p>
        </p:txBody>
      </p:sp>
      <p:sp>
        <p:nvSpPr>
          <p:cNvPr id="22" name="Shape 20"/>
          <p:cNvSpPr/>
          <p:nvPr/>
        </p:nvSpPr>
        <p:spPr>
          <a:xfrm>
            <a:off x="640080" y="3429000"/>
            <a:ext cx="3566160" cy="1143000"/>
          </a:xfrm>
          <a:prstGeom prst="roundRect">
            <a:avLst>
              <a:gd name="adj" fmla="val 9600"/>
            </a:avLst>
          </a:prstGeom>
          <a:solidFill>
            <a:srgbClr val="F1F2F8"/>
          </a:solidFill>
          <a:ln w="19050">
            <a:solidFill>
              <a:srgbClr val="22B8CF"/>
            </a:solidFill>
            <a:prstDash val="solid"/>
          </a:ln>
        </p:spPr>
      </p:sp>
      <p:sp>
        <p:nvSpPr>
          <p:cNvPr id="23" name="Text 21"/>
          <p:cNvSpPr txBox="1"/>
          <p:nvPr/>
        </p:nvSpPr>
        <p:spPr>
          <a:xfrm>
            <a:off x="822960" y="3566160"/>
            <a:ext cx="3200400" cy="320040"/>
          </a:xfrm>
          <a:prstGeom prst="rect">
            <a:avLst/>
          </a:prstGeom>
          <a:noFill/>
        </p:spPr>
        <p:txBody>
          <a:bodyPr wrap="square" lIns="0" tIns="0" rIns="0" bIns="0" rtlCol="0" anchor="t"/>
          <a:lstStyle/>
          <a:p>
            <a:pPr marL="0" indent="0">
              <a:buNone/>
            </a:pPr>
            <a:r>
              <a:rPr lang="en-US" sz="1300" b="1" dirty="0">
                <a:solidFill>
                  <a:srgbClr val="22B8CF"/>
                </a:solidFill>
              </a:rPr>
              <a:t>Every finding is listed</a:t>
            </a:r>
            <a:endParaRPr lang="en-US" sz="1300" dirty="0"/>
          </a:p>
        </p:txBody>
      </p:sp>
      <p:sp>
        <p:nvSpPr>
          <p:cNvPr id="24" name="Text 22"/>
          <p:cNvSpPr txBox="1"/>
          <p:nvPr/>
        </p:nvSpPr>
        <p:spPr>
          <a:xfrm>
            <a:off x="822960" y="3913632"/>
            <a:ext cx="3200400" cy="640080"/>
          </a:xfrm>
          <a:prstGeom prst="rect">
            <a:avLst/>
          </a:prstGeom>
          <a:noFill/>
        </p:spPr>
        <p:txBody>
          <a:bodyPr wrap="square" lIns="0" tIns="0" rIns="0" bIns="0" rtlCol="0" anchor="t"/>
          <a:lstStyle/>
          <a:p>
            <a:pPr marL="0" indent="0">
              <a:buNone/>
            </a:pPr>
            <a:r>
              <a:rPr lang="en-US" sz="1050" dirty="0">
                <a:solidFill>
                  <a:srgbClr val="4A4F6B"/>
                </a:solidFill>
              </a:rPr>
              <a:t>status fixed / open / suggestion, with the file and line, clickable</a:t>
            </a:r>
            <a:endParaRPr lang="en-US" sz="1050" dirty="0"/>
          </a:p>
        </p:txBody>
      </p:sp>
      <p:sp>
        <p:nvSpPr>
          <p:cNvPr id="25" name="Shape 23"/>
          <p:cNvSpPr/>
          <p:nvPr/>
        </p:nvSpPr>
        <p:spPr>
          <a:xfrm>
            <a:off x="4407408" y="3429000"/>
            <a:ext cx="3566160" cy="1143000"/>
          </a:xfrm>
          <a:prstGeom prst="roundRect">
            <a:avLst>
              <a:gd name="adj" fmla="val 9600"/>
            </a:avLst>
          </a:prstGeom>
          <a:solidFill>
            <a:srgbClr val="F1F2F8"/>
          </a:solidFill>
          <a:ln w="19050">
            <a:solidFill>
              <a:srgbClr val="6C5CE7"/>
            </a:solidFill>
            <a:prstDash val="solid"/>
          </a:ln>
        </p:spPr>
      </p:sp>
      <p:sp>
        <p:nvSpPr>
          <p:cNvPr id="26" name="Text 24"/>
          <p:cNvSpPr txBox="1"/>
          <p:nvPr/>
        </p:nvSpPr>
        <p:spPr>
          <a:xfrm>
            <a:off x="4590288" y="3566160"/>
            <a:ext cx="3200400" cy="320040"/>
          </a:xfrm>
          <a:prstGeom prst="rect">
            <a:avLst/>
          </a:prstGeom>
          <a:noFill/>
        </p:spPr>
        <p:txBody>
          <a:bodyPr wrap="square" lIns="0" tIns="0" rIns="0" bIns="0" rtlCol="0" anchor="t"/>
          <a:lstStyle/>
          <a:p>
            <a:pPr marL="0" indent="0">
              <a:buNone/>
            </a:pPr>
            <a:r>
              <a:rPr lang="en-US" sz="1300" b="1" dirty="0">
                <a:solidFill>
                  <a:srgbClr val="6C5CE7"/>
                </a:solidFill>
              </a:rPr>
              <a:t>Every source is listed</a:t>
            </a:r>
            <a:endParaRPr lang="en-US" sz="1300" dirty="0"/>
          </a:p>
        </p:txBody>
      </p:sp>
      <p:sp>
        <p:nvSpPr>
          <p:cNvPr id="27" name="Text 25"/>
          <p:cNvSpPr txBox="1"/>
          <p:nvPr/>
        </p:nvSpPr>
        <p:spPr>
          <a:xfrm>
            <a:off x="4590288" y="3913632"/>
            <a:ext cx="3200400" cy="640080"/>
          </a:xfrm>
          <a:prstGeom prst="rect">
            <a:avLst/>
          </a:prstGeom>
          <a:noFill/>
        </p:spPr>
        <p:txBody>
          <a:bodyPr wrap="square" lIns="0" tIns="0" rIns="0" bIns="0" rtlCol="0" anchor="t"/>
          <a:lstStyle/>
          <a:p>
            <a:pPr marL="0" indent="0">
              <a:buNone/>
            </a:pPr>
            <a:r>
              <a:rPr lang="en-US" sz="1050" dirty="0">
                <a:solidFill>
                  <a:srgbClr val="4A4F6B"/>
                </a:solidFill>
              </a:rPr>
              <a:t>which file, table and document contributed what to the code</a:t>
            </a:r>
            <a:endParaRPr lang="en-US" sz="1050" dirty="0"/>
          </a:p>
        </p:txBody>
      </p:sp>
      <p:sp>
        <p:nvSpPr>
          <p:cNvPr id="28" name="Shape 26"/>
          <p:cNvSpPr/>
          <p:nvPr/>
        </p:nvSpPr>
        <p:spPr>
          <a:xfrm>
            <a:off x="8174736" y="3429000"/>
            <a:ext cx="3566160" cy="1143000"/>
          </a:xfrm>
          <a:prstGeom prst="roundRect">
            <a:avLst>
              <a:gd name="adj" fmla="val 9600"/>
            </a:avLst>
          </a:prstGeom>
          <a:solidFill>
            <a:srgbClr val="F1F2F8"/>
          </a:solidFill>
          <a:ln w="19050">
            <a:solidFill>
              <a:srgbClr val="2E9E6B"/>
            </a:solidFill>
            <a:prstDash val="solid"/>
          </a:ln>
        </p:spPr>
      </p:sp>
      <p:sp>
        <p:nvSpPr>
          <p:cNvPr id="29" name="Text 27"/>
          <p:cNvSpPr txBox="1"/>
          <p:nvPr/>
        </p:nvSpPr>
        <p:spPr>
          <a:xfrm>
            <a:off x="8357616" y="3566160"/>
            <a:ext cx="3200400" cy="320040"/>
          </a:xfrm>
          <a:prstGeom prst="rect">
            <a:avLst/>
          </a:prstGeom>
          <a:noFill/>
        </p:spPr>
        <p:txBody>
          <a:bodyPr wrap="square" lIns="0" tIns="0" rIns="0" bIns="0" rtlCol="0" anchor="t"/>
          <a:lstStyle/>
          <a:p>
            <a:pPr marL="0" indent="0">
              <a:buNone/>
            </a:pPr>
            <a:r>
              <a:rPr lang="en-US" sz="1300" b="1" dirty="0">
                <a:solidFill>
                  <a:srgbClr val="2E9E6B"/>
                </a:solidFill>
              </a:rPr>
              <a:t>Nothing hidden, nothing stored</a:t>
            </a:r>
            <a:endParaRPr lang="en-US" sz="1300" dirty="0"/>
          </a:p>
        </p:txBody>
      </p:sp>
      <p:sp>
        <p:nvSpPr>
          <p:cNvPr id="30" name="Text 28"/>
          <p:cNvSpPr txBox="1"/>
          <p:nvPr/>
        </p:nvSpPr>
        <p:spPr>
          <a:xfrm>
            <a:off x="8357616" y="3913632"/>
            <a:ext cx="3200400" cy="640080"/>
          </a:xfrm>
          <a:prstGeom prst="rect">
            <a:avLst/>
          </a:prstGeom>
          <a:noFill/>
        </p:spPr>
        <p:txBody>
          <a:bodyPr wrap="square" lIns="0" tIns="0" rIns="0" bIns="0" rtlCol="0" anchor="t"/>
          <a:lstStyle/>
          <a:p>
            <a:pPr marL="0" indent="0">
              <a:buNone/>
            </a:pPr>
            <a:r>
              <a:rPr lang="en-US" sz="1050" dirty="0">
                <a:solidFill>
                  <a:srgbClr val="4A4F6B"/>
                </a:solidFill>
              </a:rPr>
              <a:t>diff vs repository, savepoints, full log, tokens and cost; keys never on disk; push with your own token</a:t>
            </a:r>
            <a:endParaRPr lang="en-US" sz="1050" dirty="0"/>
          </a:p>
        </p:txBody>
      </p:sp>
      <p:sp>
        <p:nvSpPr>
          <p:cNvPr id="31" name="Shape 29"/>
          <p:cNvSpPr/>
          <p:nvPr/>
        </p:nvSpPr>
        <p:spPr>
          <a:xfrm>
            <a:off x="640080" y="4846320"/>
            <a:ext cx="11155680" cy="1143000"/>
          </a:xfrm>
          <a:prstGeom prst="roundRect">
            <a:avLst>
              <a:gd name="adj" fmla="val 9600"/>
            </a:avLst>
          </a:prstGeom>
          <a:solidFill>
            <a:srgbClr val="1B1F3B"/>
          </a:solidFill>
          <a:ln w="12700">
            <a:solidFill>
              <a:srgbClr val="1B1F3B"/>
            </a:solidFill>
            <a:prstDash val="solid"/>
          </a:ln>
        </p:spPr>
      </p:sp>
      <p:sp>
        <p:nvSpPr>
          <p:cNvPr id="32" name="Text 30"/>
          <p:cNvSpPr txBox="1"/>
          <p:nvPr/>
        </p:nvSpPr>
        <p:spPr>
          <a:xfrm>
            <a:off x="822960" y="4937760"/>
            <a:ext cx="1828800" cy="320040"/>
          </a:xfrm>
          <a:prstGeom prst="rect">
            <a:avLst/>
          </a:prstGeom>
          <a:noFill/>
        </p:spPr>
        <p:txBody>
          <a:bodyPr wrap="square" lIns="0" tIns="0" rIns="0" bIns="0" rtlCol="0" anchor="t"/>
          <a:lstStyle/>
          <a:p>
            <a:pPr marL="0" indent="0">
              <a:buNone/>
            </a:pPr>
            <a:r>
              <a:rPr lang="en-US" sz="1300" b="1" dirty="0">
                <a:solidFill>
                  <a:srgbClr val="22B8CF"/>
                </a:solidFill>
              </a:rPr>
              <a:t>The ask</a:t>
            </a:r>
            <a:endParaRPr lang="en-US" sz="1300" dirty="0"/>
          </a:p>
        </p:txBody>
      </p:sp>
      <p:sp>
        <p:nvSpPr>
          <p:cNvPr id="33" name="Text 31"/>
          <p:cNvSpPr txBox="1"/>
          <p:nvPr/>
        </p:nvSpPr>
        <p:spPr>
          <a:xfrm>
            <a:off x="822960" y="5257800"/>
            <a:ext cx="10789920" cy="685800"/>
          </a:xfrm>
          <a:prstGeom prst="rect">
            <a:avLst/>
          </a:prstGeom>
          <a:noFill/>
        </p:spPr>
        <p:txBody>
          <a:bodyPr wrap="square" lIns="0" tIns="0" rIns="0" bIns="0" rtlCol="0" anchor="t"/>
          <a:lstStyle/>
          <a:p>
            <a:pPr marL="0" indent="0">
              <a:buNone/>
            </a:pPr>
            <a:r>
              <a:rPr lang="en-US" sz="1250" dirty="0">
                <a:solidFill>
                  <a:srgbClr val="CDD0E6"/>
                </a:solidFill>
              </a:rPr>
              <a:t>Pilot on the next 10 stories of IKG and NLG. Measure: time to first branch, review findings per story, confidence vs. what the human reviewer found. The developer stays accountable for every line - the tool makes the first day of every story a few minutes.</a:t>
            </a:r>
            <a:endParaRPr lang="en-US" sz="1250" dirty="0"/>
          </a:p>
        </p:txBody>
      </p:sp>
      <p:sp>
        <p:nvSpPr>
          <p:cNvPr id="34" name="Slide Number Placeholder 0"/>
          <p:cNvSpPr>
            <a:spLocks noGrp="1"/>
          </p:cNvSpPr>
          <p:nvPr>
            <p:ph type="sldNum" sz="quarter" idx="4294967295"/>
          </p:nvPr>
        </p:nvSpPr>
        <p:spPr>
          <a:xfrm>
            <a:off x="11247120" y="6446520"/>
            <a:ext cx="548640" cy="274320"/>
          </a:xfrm>
          <a:prstGeom prst="rect">
            <a:avLst/>
          </a:prstGeom>
        </p:spPr>
        <p:txBody>
          <a:bodyPr/>
          <a:lstStyle>
            <a:lvl1pPr>
              <a:defRPr sz="1000">
                <a:solidFill>
                  <a:srgbClr val="9AA0BF"/>
                </a:solidFill>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100"/>
          </p:nvPr>
        </p:nvSpPr>
        <p:spPr/>
        <p:txBody>
          <a:bodyPr/>
          <a:lstStyle/>
          <a:p>
            <a:r>
              <a:rPr sz="3000" b="1">
                <a:solidFill>
                  <a:srgbClr val="1B1F3B"/>
                </a:solidFill>
              </a:rPr>
              <a:t>Git: nothing reaches GitLab until Push and MR</a:t>
            </a:r>
            <a:endParaRPr sz="3000" b="1">
              <a:solidFill>
                <a:srgbClr val="1B1F3B"/>
              </a:solidFill>
            </a:endParaRPr>
          </a:p>
        </p:txBody>
      </p:sp>
      <p:pic>
        <p:nvPicPr>
          <p:cNvPr id="3" name="Picture 2" descr="git_diagram.png"/>
          <p:cNvPicPr>
            <a:picLocks noChangeAspect="1"/>
          </p:cNvPicPr>
          <p:nvPr/>
        </p:nvPicPr>
        <p:blipFill>
          <a:blip r:embed="rId1"/>
          <a:stretch>
            <a:fillRect/>
          </a:stretch>
        </p:blipFill>
        <p:spPr>
          <a:xfrm>
            <a:off x="640080" y="1371600"/>
            <a:ext cx="5466875" cy="4572000"/>
          </a:xfrm>
          <a:prstGeom prst="rect">
            <a:avLst/>
          </a:prstGeom>
        </p:spPr>
      </p:pic>
      <p:sp>
        <p:nvSpPr>
          <p:cNvPr id="4" name="Rectangle 3"/>
          <p:cNvSpPr/>
          <p:nvPr/>
        </p:nvSpPr>
        <p:spPr>
          <a:xfrm>
            <a:off x="6381275" y="1371600"/>
            <a:ext cx="5231605" cy="4572000"/>
          </a:xfrm>
          <a:prstGeom prst="rect">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37160" rIns="182880" rtlCol="0" anchor="t"/>
          <a:lstStyle/>
          <a:p>
            <a:pPr algn="l">
              <a:spcAft>
                <a:spcPts val="900"/>
              </a:spcAft>
            </a:pPr>
            <a:r>
              <a:rPr sz="1300" b="1">
                <a:solidFill>
                  <a:srgbClr val="1B1F3B"/>
                </a:solidFill>
              </a:rPr>
              <a:t>1 Feature branch  </a:t>
            </a:r>
            <a:r>
              <a:rPr sz="1200">
                <a:solidFill>
                  <a:srgbClr val="4A4F6B"/>
                </a:solidFill>
              </a:rPr>
              <a:t>created on the server, in this chat's private working copy, from the base branch; GitLab is only read</a:t>
            </a:r>
            <a:endParaRPr sz="1200">
              <a:solidFill>
                <a:srgbClr val="4A4F6B"/>
              </a:solidFill>
            </a:endParaRPr>
          </a:p>
          <a:p>
            <a:pPr algn="l">
              <a:spcAft>
                <a:spcPts val="900"/>
              </a:spcAft>
            </a:pPr>
            <a:r>
              <a:rPr sz="1300" b="1">
                <a:solidFill>
                  <a:srgbClr val="1B1F3B"/>
                </a:solidFill>
              </a:rPr>
              <a:t>2–3 Runs and edits  </a:t>
            </a:r>
            <a:r>
              <a:rPr sz="1200">
                <a:solidFill>
                  <a:srgbClr val="4A4F6B"/>
                </a:solidFill>
              </a:rPr>
              <a:t>every run and change request is one commit in your name; hand edits are committed at push; nothing is pushed automatically</a:t>
            </a:r>
            <a:endParaRPr sz="1200">
              <a:solidFill>
                <a:srgbClr val="4A4F6B"/>
              </a:solidFill>
            </a:endParaRPr>
          </a:p>
          <a:p>
            <a:pPr algn="l">
              <a:spcAft>
                <a:spcPts val="900"/>
              </a:spcAft>
            </a:pPr>
            <a:r>
              <a:rPr sz="1300" b="1">
                <a:solidFill>
                  <a:srgbClr val="1B1F3B"/>
                </a:solidFill>
              </a:rPr>
              <a:t>4 Push and MR  </a:t>
            </a:r>
            <a:r>
              <a:rPr sz="1200">
                <a:solidFill>
                  <a:srgbClr val="4A4F6B"/>
                </a:solidFill>
              </a:rPr>
              <a:t>with your own token: rebase on the base branch, your name on every commit, push with lease (never overwrites a colleague's work)</a:t>
            </a:r>
            <a:endParaRPr sz="1200">
              <a:solidFill>
                <a:srgbClr val="4A4F6B"/>
              </a:solidFill>
            </a:endParaRPr>
          </a:p>
          <a:p>
            <a:pPr algn="l">
              <a:spcAft>
                <a:spcPts val="900"/>
              </a:spcAft>
            </a:pPr>
            <a:r>
              <a:rPr sz="1300" b="1">
                <a:solidFill>
                  <a:srgbClr val="1B1F3B"/>
                </a:solidFill>
              </a:rPr>
              <a:t>5 Merge request  </a:t>
            </a:r>
            <a:r>
              <a:rPr sz="1200">
                <a:solidFill>
                  <a:srgbClr val="4A4F6B"/>
                </a:solidFill>
              </a:rPr>
              <a:t>opened in your name into the target branch, with the story, files and scores; conflicts with the target are previewed</a:t>
            </a:r>
            <a:endParaRPr sz="1200">
              <a:solidFill>
                <a:srgbClr val="4A4F6B"/>
              </a:solidFill>
            </a:endParaRPr>
          </a:p>
          <a:p>
            <a:pPr algn="l">
              <a:spcAft>
                <a:spcPts val="900"/>
              </a:spcAft>
            </a:pPr>
            <a:r>
              <a:rPr sz="1300" b="1">
                <a:solidFill>
                  <a:srgbClr val="1B1F3B"/>
                </a:solidFill>
              </a:rPr>
              <a:t>Isolation  </a:t>
            </a:r>
            <a:r>
              <a:rPr sz="1200">
                <a:solidFill>
                  <a:srgbClr val="4A4F6B"/>
                </a:solidFill>
              </a:rPr>
              <a:t>one shared read-only mirror per repository; one working copy and branch per chat; your token, your permissions</a:t>
            </a:r>
            <a:endParaRPr sz="1200">
              <a:solidFill>
                <a:srgbClr val="4A4F6B"/>
              </a:solidFill>
            </a:endParaRPr>
          </a:p>
        </p:txBody>
      </p:sp>
      <p:sp>
        <p:nvSpPr>
          <p:cNvPr id="5" name="TextBox 4"/>
          <p:cNvSpPr txBox="1"/>
          <p:nvPr/>
        </p:nvSpPr>
        <p:spPr>
          <a:xfrm>
            <a:off x="640080" y="6035040"/>
            <a:ext cx="10972800" cy="365760"/>
          </a:xfrm>
          <a:prstGeom prst="rect">
            <a:avLst/>
          </a:prstGeom>
          <a:noFill/>
        </p:spPr>
        <p:txBody>
          <a:bodyPr wrap="square">
            <a:spAutoFit/>
          </a:bodyPr>
          <a:lstStyle/>
          <a:p>
            <a:r>
              <a:rPr sz="1250" i="1">
                <a:solidFill>
                  <a:srgbClr val="6C5CE7"/>
                </a:solidFill>
              </a:rPr>
              <a:t>The same routine a developer follows from a laptop – branch, commit, rebase, push, merge request – on a per-chat working copy, in the developer's name.</a:t>
            </a:r>
            <a:endParaRPr sz="1250" i="1">
              <a:solidFill>
                <a:srgbClr val="6C5CE7"/>
              </a:solidFill>
            </a:endParaRPr>
          </a:p>
        </p:txBody>
      </p:sp>
    </p:spTree>
  </p:cSld>
  <p:clrMapOvr>
    <a:masterClrMapping/>
  </p:clrMapOvr>
</p:sld>
</file>

<file path=ppt/theme/theme1.xml><?xml version="1.0" encoding="utf-8"?>
<a:theme xmlns:a="http://schemas.openxmlformats.org/drawingml/2006/main" name="Agile Dev Assist">
  <a:themeElements>
    <a:clrScheme name="Agile Dev Assist">
      <a:dk1>
        <a:srgbClr val="1B1F3B"/>
      </a:dk1>
      <a:lt1>
        <a:srgbClr val="FFFFFF"/>
      </a:lt1>
      <a:dk2>
        <a:srgbClr val="4A4F6B"/>
      </a:dk2>
      <a:lt2>
        <a:srgbClr val="F1F2F8"/>
      </a:lt2>
      <a:accent1>
        <a:srgbClr val="6C5CE7"/>
      </a:accent1>
      <a:accent2>
        <a:srgbClr val="22B8CF"/>
      </a:accent2>
      <a:accent3>
        <a:srgbClr val="2E9E6B"/>
      </a:accent3>
      <a:accent4>
        <a:srgbClr val="E6A23C"/>
      </a:accent4>
      <a:accent5>
        <a:srgbClr val="D94C4C"/>
      </a:accent5>
      <a:accent6>
        <a:srgbClr val="9AA0BF"/>
      </a:accent6>
      <a:hlink>
        <a:srgbClr val="6C5CE7"/>
      </a:hlink>
      <a:folHlink>
        <a:srgbClr val="22B8CF"/>
      </a:folHlink>
    </a:clrScheme>
    <a:fontScheme name="Agile Dev Assi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gile Dev Assist">
  <a:themeElements>
    <a:clrScheme name="Agile Dev Assist">
      <a:dk1>
        <a:srgbClr val="1B1F3B"/>
      </a:dk1>
      <a:lt1>
        <a:srgbClr val="FFFFFF"/>
      </a:lt1>
      <a:dk2>
        <a:srgbClr val="4A4F6B"/>
      </a:dk2>
      <a:lt2>
        <a:srgbClr val="F1F2F8"/>
      </a:lt2>
      <a:accent1>
        <a:srgbClr val="6C5CE7"/>
      </a:accent1>
      <a:accent2>
        <a:srgbClr val="22B8CF"/>
      </a:accent2>
      <a:accent3>
        <a:srgbClr val="2E9E6B"/>
      </a:accent3>
      <a:accent4>
        <a:srgbClr val="E6A23C"/>
      </a:accent4>
      <a:accent5>
        <a:srgbClr val="D94C4C"/>
      </a:accent5>
      <a:accent6>
        <a:srgbClr val="9AA0BF"/>
      </a:accent6>
      <a:hlink>
        <a:srgbClr val="6C5CE7"/>
      </a:hlink>
      <a:folHlink>
        <a:srgbClr val="22B8CF"/>
      </a:folHlink>
    </a:clrScheme>
    <a:fontScheme name="Agile Dev Assi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7970</Words>
  <Application>WPS Presentation</Application>
  <PresentationFormat>On-screen Show (16:9)</PresentationFormat>
  <Paragraphs>301</Paragraphs>
  <Slides>8</Slides>
  <Notes>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vt:i4>
      </vt:variant>
    </vt:vector>
  </HeadingPairs>
  <TitlesOfParts>
    <vt:vector size="21" baseType="lpstr">
      <vt:lpstr>Arial</vt:lpstr>
      <vt:lpstr>SimSun</vt:lpstr>
      <vt:lpstr>Wingdings</vt:lpstr>
      <vt:lpstr>Cambria</vt:lpstr>
      <vt:lpstr>Cambria</vt:lpstr>
      <vt:lpstr>Cambria</vt:lpstr>
      <vt:lpstr>Consolas</vt:lpstr>
      <vt:lpstr>Consolas</vt:lpstr>
      <vt:lpstr>Consolas</vt:lpstr>
      <vt:lpstr>Calibri</vt:lpstr>
      <vt:lpstr>Microsoft YaHei</vt:lpstr>
      <vt:lpstr>Arial Unicode MS</vt:lpstr>
      <vt:lpstr>Agile Dev Assist</vt:lpstr>
      <vt:lpstr>PowerPoint 演示文稿</vt:lpstr>
      <vt:lpstr>Why, for whom, what changes – on one page</vt:lpstr>
      <vt:lpstr>The idea: the model is the expert, the agents are the onboarding</vt:lpstr>
      <vt:lpstr>Architecture: four layers, one rule</vt:lpstr>
      <vt:lpstr>How the two parts fit: the context pack and the assistant</vt:lpstr>
      <vt:lpstr>How it works: evidence in, every file checked twice</vt:lpstr>
      <vt:lpstr>Trust: one number tells you what is left to look at</vt:lpstr>
      <vt:lpstr>Git: nothing reaches GitLab until Push and MR</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Dev Assist</dc:title>
  <dc:creator>IKG / STAAT Insights</dc:creator>
  <dc:subject>PptxGenJS Presentation</dc:subject>
  <cp:lastModifiedBy>WPS_1767481519</cp:lastModifiedBy>
  <cp:revision>2</cp:revision>
  <dcterms:created xsi:type="dcterms:W3CDTF">2026-10-18T19:06:00Z</dcterms:created>
  <dcterms:modified xsi:type="dcterms:W3CDTF">2026-10-24T19:33:56Z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71A5F50D7B804A3B8845236B38B8E9C3_12</vt:lpwstr>
  </property>
  <property fmtid="{D5CDD505-2E9C-101B-9397-08002B2CF9AE}" pid="3" name="KSOProductBuildVer">
    <vt:lpwstr>1033-12.1.0.29162</vt:lpwstr>
  </property>
</Properties>
</file>