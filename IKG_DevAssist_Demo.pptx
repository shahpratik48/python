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cdc9eed2-90cd-c067-2273-9e17c90134d5}">
          <p14:sldIdLst>
            <p14:sldId id="256"/>
            <p14:sldId id="257"/>
          </p14:sldIdLst>
        </p14:section>
        <p14:section name="How it works" id="{ae8eb9f7-7893-e813-e552-2a9328bc5166}">
          <p14:sldIdLst>
            <p14:sldId id="258"/>
            <p14:sldId id="259"/>
            <p14:sldId id="260"/>
          </p14:sldIdLst>
        </p14:section>
        <p14:section name="Analyse · Design · Code · Review" id="{4d405c26-11f8-0bf7-6f44-f9d18d7192d9}">
          <p14:sldIdLst>
            <p14:sldId id="261"/>
            <p14:sldId id="262"/>
            <p14:sldId id="263"/>
            <p14:sldId id="264"/>
          </p14:sldIdLst>
        </p14:section>
        <p14:section name="Inputs &amp; outlook" id="{208e2ecb-97cd-663b-3911-e13eef1e709c}">
          <p14:sldIdLst>
            <p14:sldId id="265"/>
            <p14:sldId id="266"/>
            <p14:sldId id="267"/>
            <p14:sldId id="26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the assistant is a chat window. You type a story number; it reads the story and comes back with the code, checked and reviewed, plus the evidence. Nothing goes to GitLab without a human saying yes.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are from the demo story 1234. The point: it is a developer's first draft, done in minutes, with a quality report attached - not an autopilot.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Colour code: blue = understanding, teal = writing/checking, orange = review, red = the human decision. Step 4 is plain code (no AI). Steps 1-3 and 5 are agents. Step 6 is always a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for the 'is it just ChatGPT?' question. The model never writes from memory: it has to look at real files and columns through tools, and the deterministic checker has the last word on standards.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= loop of think / tool / look / submit. The 'contract' (schema + grounding) is what makes it reliable: the model cannot just say something, it has to produce a result that passes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story agent resolves every business term and table against the metadata tables and the code. A blocking gap is asked back; a small gap becomes a listed assumption. A script given in the story is never dropped.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agent reads the producing scripts of the sources, the profile script and the DAG group (pre-collected context pack). The simplicity rule keeps the profile tables maintainable.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Large files like the DAG (3000 lines) are never retyped: the coder gets the exact TaskGroup region and returns find/replace edits. Independent files are written in parallel.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independent checks: deterministic rules (same result every time) and a model-based review for things rules cannot see (is this the right grain? is the key right?). The formula makes the confidence number explainable.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is read-only except the chat history table and the GitLab branches created on push. The metadata and lineage tables come from the metadata &amp; knowledge-graph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Timings from real runs after the performance work: context packs, fix mode, one review round. Show the progress list live during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biggest lever is the quality of the inputs: stories and metadata. The second is closing the loop with what actually got merged.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731520" y="3474720"/>
            <a:ext cx="10698480" cy="146304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rgbClr val="CADCFC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rgbClr val="1E2761"/>
                </a:solidFill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IKG-ODM Development Assistant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6.png"/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15.png"/><Relationship Id="rId7" Type="http://schemas.openxmlformats.org/officeDocument/2006/relationships/image" Target="../media/image3.png"/><Relationship Id="rId6" Type="http://schemas.openxmlformats.org/officeDocument/2006/relationships/image" Target="../media/image5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0" Type="http://schemas.openxmlformats.org/officeDocument/2006/relationships/notesSlide" Target="../notesSlides/notesSlide12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IKG-ODM Development Assistant</a:t>
            </a:r>
            <a:endParaRPr lang="en-US" sz="44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731520" y="3474720"/>
            <a:ext cx="10698480" cy="146304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</a:rPr>
              <a:t>From a GitLab story to reviewed, standards-checked IKG / ODM code - in minutes, with the evidence to trust it</a:t>
            </a:r>
            <a:endParaRPr lang="en-US" sz="2000" dirty="0"/>
          </a:p>
        </p:txBody>
      </p:sp>
      <p:sp>
        <p:nvSpPr>
          <p:cNvPr id="4" name="subtitle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Demo · how the agents analyse, design, code, review and validate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</a:rPr>
              <a:t>What it does: a story number in, reviewed code out</a:t>
            </a:r>
            <a:endParaRPr lang="en-US" sz="3200" dirty="0"/>
          </a:p>
        </p:txBody>
      </p:sp>
      <p:sp>
        <p:nvSpPr>
          <p:cNvPr id="3" name="stat card 0"/>
          <p:cNvSpPr/>
          <p:nvPr/>
        </p:nvSpPr>
        <p:spPr>
          <a:xfrm>
            <a:off x="548640" y="146304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tat 0"/>
          <p:cNvSpPr txBox="1"/>
          <p:nvPr/>
        </p:nvSpPr>
        <p:spPr>
          <a:xfrm>
            <a:off x="548640" y="1600200"/>
            <a:ext cx="26517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>1</a:t>
            </a:r>
            <a:endParaRPr lang="en-US" sz="6000" dirty="0"/>
          </a:p>
        </p:txBody>
      </p:sp>
      <p:sp>
        <p:nvSpPr>
          <p:cNvPr id="5" name="stat label 0"/>
          <p:cNvSpPr txBox="1"/>
          <p:nvPr/>
        </p:nvSpPr>
        <p:spPr>
          <a:xfrm>
            <a:off x="731520" y="26060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story number typed</a:t>
            </a:r>
            <a:endParaRPr lang="en-US" sz="1500" dirty="0"/>
          </a:p>
        </p:txBody>
      </p:sp>
      <p:sp>
        <p:nvSpPr>
          <p:cNvPr id="6" name="stat sub 0"/>
          <p:cNvSpPr txBox="1"/>
          <p:nvPr/>
        </p:nvSpPr>
        <p:spPr>
          <a:xfrm>
            <a:off x="731520" y="297180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e.g. 'story 1234'</a:t>
            </a:r>
            <a:endParaRPr lang="en-US" sz="1100" dirty="0"/>
          </a:p>
        </p:txBody>
      </p:sp>
      <p:sp>
        <p:nvSpPr>
          <p:cNvPr id="7" name="stat card 1"/>
          <p:cNvSpPr/>
          <p:nvPr/>
        </p:nvSpPr>
        <p:spPr>
          <a:xfrm>
            <a:off x="3383280" y="146304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8" name="stat 1"/>
          <p:cNvSpPr txBox="1"/>
          <p:nvPr/>
        </p:nvSpPr>
        <p:spPr>
          <a:xfrm>
            <a:off x="3383280" y="1600200"/>
            <a:ext cx="26517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E8C7F"/>
                </a:solidFill>
              </a:rPr>
              <a:t>4</a:t>
            </a:r>
            <a:endParaRPr lang="en-US" sz="6000" dirty="0"/>
          </a:p>
        </p:txBody>
      </p:sp>
      <p:sp>
        <p:nvSpPr>
          <p:cNvPr id="9" name="stat label 1"/>
          <p:cNvSpPr txBox="1"/>
          <p:nvPr/>
        </p:nvSpPr>
        <p:spPr>
          <a:xfrm>
            <a:off x="3566160" y="26060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</a:rPr>
              <a:t>files generated</a:t>
            </a:r>
            <a:endParaRPr lang="en-US" sz="1500" dirty="0"/>
          </a:p>
        </p:txBody>
      </p:sp>
      <p:sp>
        <p:nvSpPr>
          <p:cNvPr id="10" name="stat sub 1"/>
          <p:cNvSpPr txBox="1"/>
          <p:nvPr/>
        </p:nvSpPr>
        <p:spPr>
          <a:xfrm>
            <a:off x="3566160" y="297180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SQL tables, profile change, DAG task, ODM rule</a:t>
            </a:r>
            <a:endParaRPr lang="en-US" sz="1100" dirty="0"/>
          </a:p>
        </p:txBody>
      </p:sp>
      <p:sp>
        <p:nvSpPr>
          <p:cNvPr id="11" name="stat card 2"/>
          <p:cNvSpPr/>
          <p:nvPr/>
        </p:nvSpPr>
        <p:spPr>
          <a:xfrm>
            <a:off x="6217920" y="146304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2" name="stat 2"/>
          <p:cNvSpPr txBox="1"/>
          <p:nvPr/>
        </p:nvSpPr>
        <p:spPr>
          <a:xfrm>
            <a:off x="6217920" y="1600200"/>
            <a:ext cx="26517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E8C7F"/>
                </a:solidFill>
              </a:rPr>
              <a:t>100</a:t>
            </a:r>
            <a:endParaRPr lang="en-US" sz="6000" dirty="0"/>
          </a:p>
        </p:txBody>
      </p:sp>
      <p:sp>
        <p:nvSpPr>
          <p:cNvPr id="13" name="stat label 2"/>
          <p:cNvSpPr txBox="1"/>
          <p:nvPr/>
        </p:nvSpPr>
        <p:spPr>
          <a:xfrm>
            <a:off x="6400800" y="26060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</a:rPr>
              <a:t>standards score (A)</a:t>
            </a:r>
            <a:endParaRPr lang="en-US" sz="1500" dirty="0"/>
          </a:p>
        </p:txBody>
      </p:sp>
      <p:sp>
        <p:nvSpPr>
          <p:cNvPr id="14" name="stat sub 2"/>
          <p:cNvSpPr txBox="1"/>
          <p:nvPr/>
        </p:nvSpPr>
        <p:spPr>
          <a:xfrm>
            <a:off x="6400800" y="297180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fixed rules from the team's own standards files</a:t>
            </a:r>
            <a:endParaRPr lang="en-US" sz="1100" dirty="0"/>
          </a:p>
        </p:txBody>
      </p:sp>
      <p:sp>
        <p:nvSpPr>
          <p:cNvPr id="15" name="stat card 3"/>
          <p:cNvSpPr/>
          <p:nvPr/>
        </p:nvSpPr>
        <p:spPr>
          <a:xfrm>
            <a:off x="9052560" y="146304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6" name="stat 3"/>
          <p:cNvSpPr txBox="1"/>
          <p:nvPr/>
        </p:nvSpPr>
        <p:spPr>
          <a:xfrm>
            <a:off x="9052560" y="1600200"/>
            <a:ext cx="26517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E8C7F"/>
                </a:solidFill>
              </a:rPr>
              <a:t>93</a:t>
            </a:r>
            <a:endParaRPr lang="en-US" sz="6000" dirty="0"/>
          </a:p>
        </p:txBody>
      </p:sp>
      <p:sp>
        <p:nvSpPr>
          <p:cNvPr id="17" name="stat label 3"/>
          <p:cNvSpPr txBox="1"/>
          <p:nvPr/>
        </p:nvSpPr>
        <p:spPr>
          <a:xfrm>
            <a:off x="9235440" y="26060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</a:rPr>
              <a:t>confidence (High)</a:t>
            </a:r>
            <a:endParaRPr lang="en-US" sz="1500" dirty="0"/>
          </a:p>
        </p:txBody>
      </p:sp>
      <p:sp>
        <p:nvSpPr>
          <p:cNvPr id="18" name="stat sub 3"/>
          <p:cNvSpPr txBox="1"/>
          <p:nvPr/>
        </p:nvSpPr>
        <p:spPr>
          <a:xfrm>
            <a:off x="9235440" y="297180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with evidence and what a human must still check</a:t>
            </a:r>
            <a:endParaRPr lang="en-US" sz="1100" dirty="0"/>
          </a:p>
        </p:txBody>
      </p:sp>
      <p:sp>
        <p:nvSpPr>
          <p:cNvPr id="19" name="in circle"/>
          <p:cNvSpPr/>
          <p:nvPr/>
        </p:nvSpPr>
        <p:spPr>
          <a:xfrm>
            <a:off x="548640" y="4023360"/>
            <a:ext cx="548640" cy="548640"/>
          </a:xfrm>
          <a:prstGeom prst="ellipse">
            <a:avLst/>
          </a:prstGeom>
          <a:solidFill>
            <a:srgbClr val="0E8C7F"/>
          </a:solidFill>
          <a:ln w="12700">
            <a:solidFill>
              <a:srgbClr val="0E8C7F"/>
            </a:solidFill>
            <a:prstDash val="solid"/>
          </a:ln>
        </p:spPr>
      </p:sp>
      <p:pic>
        <p:nvPicPr>
          <p:cNvPr id="20" name="in icon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160520"/>
            <a:ext cx="274320" cy="274320"/>
          </a:xfrm>
          <a:prstGeom prst="rect">
            <a:avLst/>
          </a:prstGeom>
        </p:spPr>
      </p:pic>
      <p:sp>
        <p:nvSpPr>
          <p:cNvPr id="21" name="in text"/>
          <p:cNvSpPr txBox="1"/>
          <p:nvPr/>
        </p:nvSpPr>
        <p:spPr>
          <a:xfrm>
            <a:off x="1280160" y="402336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In: </a:t>
            </a:r>
            <a:r>
              <a:rPr lang="en-US" sz="1500" dirty="0">
                <a:solidFill>
                  <a:srgbClr val="1B1F2A"/>
                </a:solidFill>
              </a:rPr>
              <a:t>the GitLab story (title, description, comments, any draft SQL the analyst attached)</a:t>
            </a:r>
            <a:endParaRPr lang="en-US" sz="1500" dirty="0"/>
          </a:p>
        </p:txBody>
      </p:sp>
      <p:sp>
        <p:nvSpPr>
          <p:cNvPr id="22" name="out circle"/>
          <p:cNvSpPr/>
          <p:nvPr/>
        </p:nvSpPr>
        <p:spPr>
          <a:xfrm>
            <a:off x="548640" y="4754880"/>
            <a:ext cx="548640" cy="548640"/>
          </a:xfrm>
          <a:prstGeom prst="ellipse">
            <a:avLst/>
          </a:prstGeom>
          <a:solidFill>
            <a:srgbClr val="0E8C7F"/>
          </a:solidFill>
          <a:ln w="12700">
            <a:solidFill>
              <a:srgbClr val="0E8C7F"/>
            </a:solidFill>
            <a:prstDash val="solid"/>
          </a:ln>
        </p:spPr>
      </p:sp>
      <p:pic>
        <p:nvPicPr>
          <p:cNvPr id="23" name="out 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892040"/>
            <a:ext cx="274320" cy="274320"/>
          </a:xfrm>
          <a:prstGeom prst="rect">
            <a:avLst/>
          </a:prstGeom>
        </p:spPr>
      </p:pic>
      <p:sp>
        <p:nvSpPr>
          <p:cNvPr id="24" name="out text"/>
          <p:cNvSpPr txBox="1"/>
          <p:nvPr/>
        </p:nvSpPr>
        <p:spPr>
          <a:xfrm>
            <a:off x="1280160" y="47548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Out: </a:t>
            </a:r>
            <a:r>
              <a:rPr lang="en-US" sz="1500" dirty="0">
                <a:solidFill>
                  <a:srgbClr val="1B1F2A"/>
                </a:solidFill>
              </a:rPr>
              <a:t>the code files in the repository's own style, a quality score, a confidence score, the evidence used, open points for a human, optional one-pager + slides</a:t>
            </a:r>
            <a:endParaRPr lang="en-US" sz="1500" dirty="0"/>
          </a:p>
        </p:txBody>
      </p:sp>
      <p:sp>
        <p:nvSpPr>
          <p:cNvPr id="25" name="then circle"/>
          <p:cNvSpPr/>
          <p:nvPr/>
        </p:nvSpPr>
        <p:spPr>
          <a:xfrm>
            <a:off x="548640" y="5486400"/>
            <a:ext cx="548640" cy="54864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pic>
        <p:nvPicPr>
          <p:cNvPr id="26" name="then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623560"/>
            <a:ext cx="274320" cy="274320"/>
          </a:xfrm>
          <a:prstGeom prst="rect">
            <a:avLst/>
          </a:prstGeom>
        </p:spPr>
      </p:pic>
      <p:sp>
        <p:nvSpPr>
          <p:cNvPr id="27" name="then text"/>
          <p:cNvSpPr txBox="1"/>
          <p:nvPr/>
        </p:nvSpPr>
        <p:spPr>
          <a:xfrm>
            <a:off x="1280160" y="54864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Then you: </a:t>
            </a:r>
            <a:r>
              <a:rPr lang="en-US" sz="1500" dirty="0">
                <a:solidFill>
                  <a:srgbClr val="1B1F2A"/>
                </a:solidFill>
              </a:rPr>
              <a:t>ask for changes in plain English, download a zip, or say 'push' - branches &lt;story&gt;-&lt;title&gt;-ikg / -odm are created for a normal code review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</a:rPr>
              <a:t>How it works: six steps, like a careful developer</a:t>
            </a:r>
            <a:endParaRPr lang="en-US" sz="3200" dirty="0"/>
          </a:p>
        </p:txBody>
      </p:sp>
      <p:sp>
        <p:nvSpPr>
          <p:cNvPr id="3" name="step card 0"/>
          <p:cNvSpPr/>
          <p:nvPr/>
        </p:nvSpPr>
        <p:spPr>
          <a:xfrm>
            <a:off x="548640" y="1645920"/>
            <a:ext cx="1737360" cy="2834640"/>
          </a:xfrm>
          <a:prstGeom prst="roundRect">
            <a:avLst>
              <a:gd name="adj" fmla="val 6316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4" name="step 0 circle"/>
          <p:cNvSpPr/>
          <p:nvPr/>
        </p:nvSpPr>
        <p:spPr>
          <a:xfrm>
            <a:off x="1097280" y="17830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" name="step 0 icon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1943100"/>
            <a:ext cx="320040" cy="320040"/>
          </a:xfrm>
          <a:prstGeom prst="rect">
            <a:avLst/>
          </a:prstGeom>
        </p:spPr>
      </p:pic>
      <p:sp>
        <p:nvSpPr>
          <p:cNvPr id="6" name="step title 0"/>
          <p:cNvSpPr txBox="1"/>
          <p:nvPr/>
        </p:nvSpPr>
        <p:spPr>
          <a:xfrm>
            <a:off x="658368" y="2514600"/>
            <a:ext cx="151790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1  Read the story</a:t>
            </a:r>
            <a:endParaRPr lang="en-US" sz="1300" dirty="0"/>
          </a:p>
        </p:txBody>
      </p:sp>
      <p:sp>
        <p:nvSpPr>
          <p:cNvPr id="7" name="step text 0"/>
          <p:cNvSpPr txBox="1"/>
          <p:nvPr/>
        </p:nvSpPr>
        <p:spPr>
          <a:xfrm>
            <a:off x="658368" y="3017520"/>
            <a:ext cx="1517904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F2A"/>
                </a:solidFill>
              </a:rPr>
              <a:t>GitLab issue + comments → requirement, scope (IKG / ODM / both), open questions</a:t>
            </a:r>
            <a:endParaRPr lang="en-US" sz="1050" dirty="0"/>
          </a:p>
        </p:txBody>
      </p:sp>
      <p:sp>
        <p:nvSpPr>
          <p:cNvPr id="8" name="arrow"/>
          <p:cNvSpPr/>
          <p:nvPr/>
        </p:nvSpPr>
        <p:spPr>
          <a:xfrm>
            <a:off x="2286000" y="2926080"/>
            <a:ext cx="182880" cy="32004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9" name="step card 1"/>
          <p:cNvSpPr/>
          <p:nvPr/>
        </p:nvSpPr>
        <p:spPr>
          <a:xfrm>
            <a:off x="2468880" y="1645920"/>
            <a:ext cx="1737360" cy="2834640"/>
          </a:xfrm>
          <a:prstGeom prst="roundRect">
            <a:avLst>
              <a:gd name="adj" fmla="val 6316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0" name="step 1 circle"/>
          <p:cNvSpPr/>
          <p:nvPr/>
        </p:nvSpPr>
        <p:spPr>
          <a:xfrm>
            <a:off x="3017520" y="17830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1" name="step 1 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540" y="1943100"/>
            <a:ext cx="320040" cy="320040"/>
          </a:xfrm>
          <a:prstGeom prst="rect">
            <a:avLst/>
          </a:prstGeom>
        </p:spPr>
      </p:pic>
      <p:sp>
        <p:nvSpPr>
          <p:cNvPr id="12" name="step title 1"/>
          <p:cNvSpPr txBox="1"/>
          <p:nvPr/>
        </p:nvSpPr>
        <p:spPr>
          <a:xfrm>
            <a:off x="2578608" y="2514600"/>
            <a:ext cx="151790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2  Design</a:t>
            </a:r>
            <a:endParaRPr lang="en-US" sz="1300" dirty="0"/>
          </a:p>
        </p:txBody>
      </p:sp>
      <p:sp>
        <p:nvSpPr>
          <p:cNvPr id="13" name="step text 1"/>
          <p:cNvSpPr txBox="1"/>
          <p:nvPr/>
        </p:nvSpPr>
        <p:spPr>
          <a:xfrm>
            <a:off x="2578608" y="3017520"/>
            <a:ext cx="1517904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F2A"/>
                </a:solidFill>
              </a:rPr>
              <a:t>which files, tables, DAG tasks; impact on other scripts; validation queries</a:t>
            </a:r>
            <a:endParaRPr lang="en-US" sz="1050" dirty="0"/>
          </a:p>
        </p:txBody>
      </p:sp>
      <p:sp>
        <p:nvSpPr>
          <p:cNvPr id="14" name="arrow"/>
          <p:cNvSpPr/>
          <p:nvPr/>
        </p:nvSpPr>
        <p:spPr>
          <a:xfrm>
            <a:off x="4206240" y="2926080"/>
            <a:ext cx="182880" cy="32004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step card 2"/>
          <p:cNvSpPr/>
          <p:nvPr/>
        </p:nvSpPr>
        <p:spPr>
          <a:xfrm>
            <a:off x="4389120" y="1645920"/>
            <a:ext cx="1737360" cy="2834640"/>
          </a:xfrm>
          <a:prstGeom prst="roundRect">
            <a:avLst>
              <a:gd name="adj" fmla="val 6316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6" name="step 2 circle"/>
          <p:cNvSpPr/>
          <p:nvPr/>
        </p:nvSpPr>
        <p:spPr>
          <a:xfrm>
            <a:off x="4937760" y="1783080"/>
            <a:ext cx="640080" cy="640080"/>
          </a:xfrm>
          <a:prstGeom prst="ellipse">
            <a:avLst/>
          </a:prstGeom>
          <a:solidFill>
            <a:srgbClr val="0E8C7F"/>
          </a:solidFill>
          <a:ln w="12700">
            <a:solidFill>
              <a:srgbClr val="0E8C7F"/>
            </a:solidFill>
            <a:prstDash val="solid"/>
          </a:ln>
        </p:spPr>
      </p:sp>
      <p:pic>
        <p:nvPicPr>
          <p:cNvPr id="17" name="step 2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7780" y="1943100"/>
            <a:ext cx="320040" cy="320040"/>
          </a:xfrm>
          <a:prstGeom prst="rect">
            <a:avLst/>
          </a:prstGeom>
        </p:spPr>
      </p:pic>
      <p:sp>
        <p:nvSpPr>
          <p:cNvPr id="18" name="step title 2"/>
          <p:cNvSpPr txBox="1"/>
          <p:nvPr/>
        </p:nvSpPr>
        <p:spPr>
          <a:xfrm>
            <a:off x="4498848" y="2514600"/>
            <a:ext cx="151790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3  Write the code</a:t>
            </a:r>
            <a:endParaRPr lang="en-US" sz="1300" dirty="0"/>
          </a:p>
        </p:txBody>
      </p:sp>
      <p:sp>
        <p:nvSpPr>
          <p:cNvPr id="19" name="step text 2"/>
          <p:cNvSpPr txBox="1"/>
          <p:nvPr/>
        </p:nvSpPr>
        <p:spPr>
          <a:xfrm>
            <a:off x="4498848" y="3017520"/>
            <a:ext cx="1517904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F2A"/>
                </a:solidFill>
              </a:rPr>
              <a:t>one file at a time, copying the folder's pattern; every column verified</a:t>
            </a:r>
            <a:endParaRPr lang="en-US" sz="1050" dirty="0"/>
          </a:p>
        </p:txBody>
      </p:sp>
      <p:sp>
        <p:nvSpPr>
          <p:cNvPr id="20" name="arrow"/>
          <p:cNvSpPr/>
          <p:nvPr/>
        </p:nvSpPr>
        <p:spPr>
          <a:xfrm>
            <a:off x="6126480" y="2926080"/>
            <a:ext cx="182880" cy="32004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1" name="step card 3"/>
          <p:cNvSpPr/>
          <p:nvPr/>
        </p:nvSpPr>
        <p:spPr>
          <a:xfrm>
            <a:off x="6309360" y="1645920"/>
            <a:ext cx="1737360" cy="2834640"/>
          </a:xfrm>
          <a:prstGeom prst="roundRect">
            <a:avLst>
              <a:gd name="adj" fmla="val 6316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22" name="step 3 circle"/>
          <p:cNvSpPr/>
          <p:nvPr/>
        </p:nvSpPr>
        <p:spPr>
          <a:xfrm>
            <a:off x="6858000" y="1783080"/>
            <a:ext cx="640080" cy="640080"/>
          </a:xfrm>
          <a:prstGeom prst="ellipse">
            <a:avLst/>
          </a:prstGeom>
          <a:solidFill>
            <a:srgbClr val="0E8C7F"/>
          </a:solidFill>
          <a:ln w="12700">
            <a:solidFill>
              <a:srgbClr val="0E8C7F"/>
            </a:solidFill>
            <a:prstDash val="solid"/>
          </a:ln>
        </p:spPr>
      </p:sp>
      <p:pic>
        <p:nvPicPr>
          <p:cNvPr id="23" name="step 3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020" y="1943100"/>
            <a:ext cx="320040" cy="320040"/>
          </a:xfrm>
          <a:prstGeom prst="rect">
            <a:avLst/>
          </a:prstGeom>
        </p:spPr>
      </p:pic>
      <p:sp>
        <p:nvSpPr>
          <p:cNvPr id="24" name="step title 3"/>
          <p:cNvSpPr txBox="1"/>
          <p:nvPr/>
        </p:nvSpPr>
        <p:spPr>
          <a:xfrm>
            <a:off x="6419088" y="2514600"/>
            <a:ext cx="151790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4  Check standards</a:t>
            </a:r>
            <a:endParaRPr lang="en-US" sz="1300" dirty="0"/>
          </a:p>
        </p:txBody>
      </p:sp>
      <p:sp>
        <p:nvSpPr>
          <p:cNvPr id="25" name="step text 3"/>
          <p:cNvSpPr txBox="1"/>
          <p:nvPr/>
        </p:nvSpPr>
        <p:spPr>
          <a:xfrm>
            <a:off x="6419088" y="3017520"/>
            <a:ext cx="1517904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F2A"/>
                </a:solidFill>
              </a:rPr>
              <a:t>fixed rules from the 3 standards files - no AI - score 0-100</a:t>
            </a:r>
            <a:endParaRPr lang="en-US" sz="1050" dirty="0"/>
          </a:p>
        </p:txBody>
      </p:sp>
      <p:sp>
        <p:nvSpPr>
          <p:cNvPr id="26" name="arrow"/>
          <p:cNvSpPr/>
          <p:nvPr/>
        </p:nvSpPr>
        <p:spPr>
          <a:xfrm>
            <a:off x="8046720" y="2926080"/>
            <a:ext cx="182880" cy="32004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7" name="step card 4"/>
          <p:cNvSpPr/>
          <p:nvPr/>
        </p:nvSpPr>
        <p:spPr>
          <a:xfrm>
            <a:off x="8229600" y="1645920"/>
            <a:ext cx="1737360" cy="2834640"/>
          </a:xfrm>
          <a:prstGeom prst="roundRect">
            <a:avLst>
              <a:gd name="adj" fmla="val 6316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28" name="step 4 circle"/>
          <p:cNvSpPr/>
          <p:nvPr/>
        </p:nvSpPr>
        <p:spPr>
          <a:xfrm>
            <a:off x="8778240" y="1783080"/>
            <a:ext cx="640080" cy="64008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pic>
        <p:nvPicPr>
          <p:cNvPr id="29" name="step 4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8260" y="1943100"/>
            <a:ext cx="320040" cy="320040"/>
          </a:xfrm>
          <a:prstGeom prst="rect">
            <a:avLst/>
          </a:prstGeom>
        </p:spPr>
      </p:pic>
      <p:sp>
        <p:nvSpPr>
          <p:cNvPr id="30" name="step title 4"/>
          <p:cNvSpPr txBox="1"/>
          <p:nvPr/>
        </p:nvSpPr>
        <p:spPr>
          <a:xfrm>
            <a:off x="8339328" y="2514600"/>
            <a:ext cx="151790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5  Review</a:t>
            </a:r>
            <a:endParaRPr lang="en-US" sz="1300" dirty="0"/>
          </a:p>
        </p:txBody>
      </p:sp>
      <p:sp>
        <p:nvSpPr>
          <p:cNvPr id="31" name="step text 4"/>
          <p:cNvSpPr txBox="1"/>
          <p:nvPr/>
        </p:nvSpPr>
        <p:spPr>
          <a:xfrm>
            <a:off x="8339328" y="3017520"/>
            <a:ext cx="1517904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F2A"/>
                </a:solidFill>
              </a:rPr>
              <a:t>a second agent reads everything: approve, or send findings back</a:t>
            </a:r>
            <a:endParaRPr lang="en-US" sz="1050" dirty="0"/>
          </a:p>
        </p:txBody>
      </p:sp>
      <p:sp>
        <p:nvSpPr>
          <p:cNvPr id="32" name="arrow"/>
          <p:cNvSpPr/>
          <p:nvPr/>
        </p:nvSpPr>
        <p:spPr>
          <a:xfrm>
            <a:off x="9966960" y="2926080"/>
            <a:ext cx="182880" cy="32004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3" name="step card 5"/>
          <p:cNvSpPr/>
          <p:nvPr/>
        </p:nvSpPr>
        <p:spPr>
          <a:xfrm>
            <a:off x="10149840" y="1645920"/>
            <a:ext cx="1737360" cy="2834640"/>
          </a:xfrm>
          <a:prstGeom prst="roundRect">
            <a:avLst>
              <a:gd name="adj" fmla="val 6316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34" name="step 5 circle"/>
          <p:cNvSpPr/>
          <p:nvPr/>
        </p:nvSpPr>
        <p:spPr>
          <a:xfrm>
            <a:off x="10698480" y="1783080"/>
            <a:ext cx="640080" cy="6400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35" name="step 5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8500" y="1943100"/>
            <a:ext cx="320040" cy="320040"/>
          </a:xfrm>
          <a:prstGeom prst="rect">
            <a:avLst/>
          </a:prstGeom>
        </p:spPr>
      </p:pic>
      <p:sp>
        <p:nvSpPr>
          <p:cNvPr id="36" name="step title 5"/>
          <p:cNvSpPr txBox="1"/>
          <p:nvPr/>
        </p:nvSpPr>
        <p:spPr>
          <a:xfrm>
            <a:off x="10259568" y="2514600"/>
            <a:ext cx="151790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6  You decide</a:t>
            </a:r>
            <a:endParaRPr lang="en-US" sz="1300" dirty="0"/>
          </a:p>
        </p:txBody>
      </p:sp>
      <p:sp>
        <p:nvSpPr>
          <p:cNvPr id="37" name="step text 5"/>
          <p:cNvSpPr txBox="1"/>
          <p:nvPr/>
        </p:nvSpPr>
        <p:spPr>
          <a:xfrm>
            <a:off x="10259568" y="3017520"/>
            <a:ext cx="1517904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F2A"/>
                </a:solidFill>
              </a:rPr>
              <a:t>change it, download the zip, or push the branches</a:t>
            </a:r>
            <a:endParaRPr lang="en-US" sz="1050" dirty="0"/>
          </a:p>
        </p:txBody>
      </p:sp>
      <p:sp>
        <p:nvSpPr>
          <p:cNvPr id="38" name="loop1"/>
          <p:cNvSpPr/>
          <p:nvPr/>
        </p:nvSpPr>
        <p:spPr>
          <a:xfrm>
            <a:off x="5257800" y="4480560"/>
            <a:ext cx="0" cy="457200"/>
          </a:xfrm>
          <a:prstGeom prst="line">
            <a:avLst/>
          </a:prstGeom>
          <a:noFill/>
          <a:ln w="19050">
            <a:solidFill>
              <a:srgbClr val="E07A1F"/>
            </a:solidFill>
            <a:prstDash val="dash"/>
            <a:headEnd type="triangle"/>
          </a:ln>
        </p:spPr>
      </p:sp>
      <p:sp>
        <p:nvSpPr>
          <p:cNvPr id="39" name="loop2"/>
          <p:cNvSpPr/>
          <p:nvPr/>
        </p:nvSpPr>
        <p:spPr>
          <a:xfrm>
            <a:off x="5257800" y="4937760"/>
            <a:ext cx="3840480" cy="0"/>
          </a:xfrm>
          <a:prstGeom prst="line">
            <a:avLst/>
          </a:prstGeom>
          <a:noFill/>
          <a:ln w="19050">
            <a:solidFill>
              <a:srgbClr val="E07A1F"/>
            </a:solidFill>
            <a:prstDash val="dash"/>
          </a:ln>
        </p:spPr>
      </p:sp>
      <p:sp>
        <p:nvSpPr>
          <p:cNvPr id="40" name="loop3"/>
          <p:cNvSpPr/>
          <p:nvPr/>
        </p:nvSpPr>
        <p:spPr>
          <a:xfrm>
            <a:off x="9098280" y="4480560"/>
            <a:ext cx="0" cy="457200"/>
          </a:xfrm>
          <a:prstGeom prst="line">
            <a:avLst/>
          </a:prstGeom>
          <a:noFill/>
          <a:ln w="19050">
            <a:solidFill>
              <a:srgbClr val="E07A1F"/>
            </a:solidFill>
            <a:prstDash val="dash"/>
          </a:ln>
        </p:spPr>
      </p:sp>
      <p:sp>
        <p:nvSpPr>
          <p:cNvPr id="41" name="loop label"/>
          <p:cNvSpPr txBox="1"/>
          <p:nvPr/>
        </p:nvSpPr>
        <p:spPr>
          <a:xfrm>
            <a:off x="5394960" y="498348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7A1F"/>
                </a:solidFill>
              </a:rPr>
              <a:t>findings go back to the coder, who fixes only what was flagged (one review round)</a:t>
            </a:r>
            <a:endParaRPr lang="en-US" sz="1050" dirty="0"/>
          </a:p>
        </p:txBody>
      </p:sp>
      <p:sp>
        <p:nvSpPr>
          <p:cNvPr id="42" name="knowledge box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43" name="knowledge text"/>
          <p:cNvSpPr txBox="1"/>
          <p:nvPr/>
        </p:nvSpPr>
        <p:spPr>
          <a:xfrm>
            <a:off x="731520" y="5532120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What every step can look at: </a:t>
            </a:r>
            <a:r>
              <a:rPr lang="en-US" sz="1250" dirty="0">
                <a:solidFill>
                  <a:srgbClr val="1B1F2A"/>
                </a:solidFill>
              </a:rPr>
              <a:t>the ikg-dags and odm-dags code · the business metadata, glossary, join keys and lineage tables · live columns and sample values in Greenplum · the team's skill files and ODM knowledge · the 3 standards files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</a:rPr>
              <a:t>Where the LLM is used, where it is not</a:t>
            </a:r>
            <a:endParaRPr lang="en-US" sz="3200" dirty="0"/>
          </a:p>
        </p:txBody>
      </p:sp>
      <p:sp>
        <p:nvSpPr>
          <p:cNvPr id="3" name="Agents (GPT-5 thinks) card"/>
          <p:cNvSpPr/>
          <p:nvPr/>
        </p:nvSpPr>
        <p:spPr>
          <a:xfrm>
            <a:off x="548640" y="137160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4" name="Agents (GPT-5 thinks) circle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" name="Agents (GPT-5 thinks) icon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680210"/>
            <a:ext cx="251460" cy="251460"/>
          </a:xfrm>
          <a:prstGeom prst="rect">
            <a:avLst/>
          </a:prstGeom>
        </p:spPr>
      </p:pic>
      <p:sp>
        <p:nvSpPr>
          <p:cNvPr id="6" name="Agents (GPT-5 thinks) heading"/>
          <p:cNvSpPr txBox="1"/>
          <p:nvPr/>
        </p:nvSpPr>
        <p:spPr>
          <a:xfrm>
            <a:off x="1371600" y="155448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Agents (GPT-5 thinks)</a:t>
            </a:r>
            <a:endParaRPr lang="en-US" sz="1600" dirty="0"/>
          </a:p>
        </p:txBody>
      </p:sp>
      <p:sp>
        <p:nvSpPr>
          <p:cNvPr id="7" name="Agents (GPT-5 thinks) text"/>
          <p:cNvSpPr txBox="1"/>
          <p:nvPr/>
        </p:nvSpPr>
        <p:spPr>
          <a:xfrm>
            <a:off x="731520" y="2148840"/>
            <a:ext cx="320040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</a:rPr>
              <a:t>Story agent - understands the request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</a:rPr>
              <a:t>Design agent - decides the files and tables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</a:rPr>
              <a:t>Code agent - writes one file at a time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</a:rPr>
              <a:t>Review agent - reads everything as a senior dev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</a:rPr>
              <a:t>Change agent - applies your requests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</a:rPr>
              <a:t>Each one: reads real code and data through tools, then submits a structured answer</a:t>
            </a:r>
            <a:endParaRPr lang="en-US" sz="1250" dirty="0"/>
          </a:p>
        </p:txBody>
      </p:sp>
      <p:sp>
        <p:nvSpPr>
          <p:cNvPr id="8" name="Plain code (no AI, always the same) card"/>
          <p:cNvSpPr/>
          <p:nvPr/>
        </p:nvSpPr>
        <p:spPr>
          <a:xfrm>
            <a:off x="4297680" y="137160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9" name="Plain code (no AI, always the same) circle"/>
          <p:cNvSpPr/>
          <p:nvPr/>
        </p:nvSpPr>
        <p:spPr>
          <a:xfrm>
            <a:off x="4480560" y="1554480"/>
            <a:ext cx="502920" cy="502920"/>
          </a:xfrm>
          <a:prstGeom prst="ellipse">
            <a:avLst/>
          </a:prstGeom>
          <a:solidFill>
            <a:srgbClr val="0E8C7F"/>
          </a:solidFill>
          <a:ln w="12700">
            <a:solidFill>
              <a:srgbClr val="0E8C7F"/>
            </a:solidFill>
            <a:prstDash val="solid"/>
          </a:ln>
        </p:spPr>
      </p:sp>
      <p:pic>
        <p:nvPicPr>
          <p:cNvPr id="10" name="Plain code (no AI, always the same) 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1680210"/>
            <a:ext cx="251460" cy="251460"/>
          </a:xfrm>
          <a:prstGeom prst="rect">
            <a:avLst/>
          </a:prstGeom>
        </p:spPr>
      </p:pic>
      <p:sp>
        <p:nvSpPr>
          <p:cNvPr id="11" name="Plain code (no AI, always the same) heading"/>
          <p:cNvSpPr txBox="1"/>
          <p:nvPr/>
        </p:nvSpPr>
        <p:spPr>
          <a:xfrm>
            <a:off x="5120640" y="155448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Plain code (no AI, always the same)</a:t>
            </a:r>
            <a:endParaRPr lang="en-US" sz="1600" dirty="0"/>
          </a:p>
        </p:txBody>
      </p:sp>
      <p:sp>
        <p:nvSpPr>
          <p:cNvPr id="12" name="Plain code (no AI, always the same) text"/>
          <p:cNvSpPr txBox="1"/>
          <p:nvPr/>
        </p:nvSpPr>
        <p:spPr>
          <a:xfrm>
            <a:off x="4480560" y="2148840"/>
            <a:ext cx="320040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</a:rPr>
              <a:t>Repository index: which script makes which table, which task runs it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</a:rPr>
              <a:t>Context packs: the examples, columns and DAG lines an agent needs, collected up front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</a:rPr>
              <a:t>Standards checker: every rule from the 3 yaml files, scored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</a:rPr>
              <a:t>Guards: profile table never a source; profile scripts stay simple; schemas only via params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</a:rPr>
              <a:t>Diff, zip, branch and commit via GitLab API</a:t>
            </a:r>
            <a:endParaRPr lang="en-US" sz="1250" dirty="0"/>
          </a:p>
        </p:txBody>
      </p:sp>
      <p:sp>
        <p:nvSpPr>
          <p:cNvPr id="13" name="You (always in the loop) card"/>
          <p:cNvSpPr/>
          <p:nvPr/>
        </p:nvSpPr>
        <p:spPr>
          <a:xfrm>
            <a:off x="8046720" y="137160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4" name="You (always in the loop) circle"/>
          <p:cNvSpPr/>
          <p:nvPr/>
        </p:nvSpPr>
        <p:spPr>
          <a:xfrm>
            <a:off x="8229600" y="1554480"/>
            <a:ext cx="502920" cy="50292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pic>
        <p:nvPicPr>
          <p:cNvPr id="15" name="You (always in the loop)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330" y="1680210"/>
            <a:ext cx="251460" cy="251460"/>
          </a:xfrm>
          <a:prstGeom prst="rect">
            <a:avLst/>
          </a:prstGeom>
        </p:spPr>
      </p:pic>
      <p:sp>
        <p:nvSpPr>
          <p:cNvPr id="16" name="You (always in the loop) heading"/>
          <p:cNvSpPr txBox="1"/>
          <p:nvPr/>
        </p:nvSpPr>
        <p:spPr>
          <a:xfrm>
            <a:off x="8869680" y="155448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You (always in the loop)</a:t>
            </a:r>
            <a:endParaRPr lang="en-US" sz="1600" dirty="0"/>
          </a:p>
        </p:txBody>
      </p:sp>
      <p:sp>
        <p:nvSpPr>
          <p:cNvPr id="17" name="You (always in the loop) text"/>
          <p:cNvSpPr txBox="1"/>
          <p:nvPr/>
        </p:nvSpPr>
        <p:spPr>
          <a:xfrm>
            <a:off x="8229600" y="2148840"/>
            <a:ext cx="320040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</a:rPr>
              <a:t>Answer a blocking question before any code is written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</a:rPr>
              <a:t>Read the plan, the files, the diff, the evidence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</a:rPr>
              <a:t>Ask for changes in plain English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</a:rPr>
              <a:t>Confirm the push - branches, not merges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</a:rPr>
              <a:t>Review in GitLab as for any developer</a:t>
            </a:r>
            <a:endParaRPr lang="en-US" sz="1250" dirty="0"/>
          </a:p>
        </p:txBody>
      </p:sp>
      <p:sp>
        <p:nvSpPr>
          <p:cNvPr id="18" name="rule of thumb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761"/>
                </a:solidFill>
              </a:rPr>
              <a:t>Rule of thumb: the model is used to understand and write; everything that can be checked by a rule is checked by a rule.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</a:rPr>
              <a:t>What an 'agent' is here: a model with tools and a contract</a:t>
            </a:r>
            <a:endParaRPr lang="en-US" sz="3200" dirty="0"/>
          </a:p>
        </p:txBody>
      </p:sp>
      <p:sp>
        <p:nvSpPr>
          <p:cNvPr id="3" name="loop card 0"/>
          <p:cNvSpPr/>
          <p:nvPr/>
        </p:nvSpPr>
        <p:spPr>
          <a:xfrm>
            <a:off x="548640" y="146304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4" name="loop title 0"/>
          <p:cNvSpPr txBox="1"/>
          <p:nvPr/>
        </p:nvSpPr>
        <p:spPr>
          <a:xfrm>
            <a:off x="731520" y="155448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Think</a:t>
            </a:r>
            <a:endParaRPr lang="en-US" sz="1800" dirty="0"/>
          </a:p>
        </p:txBody>
      </p:sp>
      <p:sp>
        <p:nvSpPr>
          <p:cNvPr id="5" name="loop text 0"/>
          <p:cNvSpPr txBox="1"/>
          <p:nvPr/>
        </p:nvSpPr>
        <p:spPr>
          <a:xfrm>
            <a:off x="731520" y="201168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1F2A"/>
                </a:solidFill>
              </a:rPr>
              <a:t>the model reads the task and decides what it still needs</a:t>
            </a:r>
            <a:endParaRPr lang="en-US" sz="1200" dirty="0"/>
          </a:p>
        </p:txBody>
      </p:sp>
      <p:sp>
        <p:nvSpPr>
          <p:cNvPr id="6" name="arrow"/>
          <p:cNvSpPr/>
          <p:nvPr/>
        </p:nvSpPr>
        <p:spPr>
          <a:xfrm>
            <a:off x="3108960" y="2103120"/>
            <a:ext cx="274320" cy="320040"/>
          </a:xfrm>
          <a:prstGeom prst="rightArrow">
            <a:avLst/>
          </a:prstGeom>
          <a:solidFill>
            <a:srgbClr val="0E8C7F"/>
          </a:solidFill>
          <a:ln w="12700">
            <a:solidFill>
              <a:srgbClr val="0E8C7F"/>
            </a:solidFill>
            <a:prstDash val="solid"/>
          </a:ln>
        </p:spPr>
      </p:sp>
      <p:sp>
        <p:nvSpPr>
          <p:cNvPr id="7" name="loop card 1"/>
          <p:cNvSpPr/>
          <p:nvPr/>
        </p:nvSpPr>
        <p:spPr>
          <a:xfrm>
            <a:off x="3383280" y="146304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8" name="loop title 1"/>
          <p:cNvSpPr txBox="1"/>
          <p:nvPr/>
        </p:nvSpPr>
        <p:spPr>
          <a:xfrm>
            <a:off x="3566160" y="155448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Use a tool</a:t>
            </a:r>
            <a:endParaRPr lang="en-US" sz="1800" dirty="0"/>
          </a:p>
        </p:txBody>
      </p:sp>
      <p:sp>
        <p:nvSpPr>
          <p:cNvPr id="9" name="loop text 1"/>
          <p:cNvSpPr txBox="1"/>
          <p:nvPr/>
        </p:nvSpPr>
        <p:spPr>
          <a:xfrm>
            <a:off x="3566160" y="201168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1F2A"/>
                </a:solidFill>
              </a:rPr>
              <a:t>read_file, search_code, db_columns, column_lineage, check_standards ...</a:t>
            </a:r>
            <a:endParaRPr lang="en-US" sz="1200" dirty="0"/>
          </a:p>
        </p:txBody>
      </p:sp>
      <p:sp>
        <p:nvSpPr>
          <p:cNvPr id="10" name="arrow"/>
          <p:cNvSpPr/>
          <p:nvPr/>
        </p:nvSpPr>
        <p:spPr>
          <a:xfrm>
            <a:off x="5943600" y="2103120"/>
            <a:ext cx="274320" cy="320040"/>
          </a:xfrm>
          <a:prstGeom prst="rightArrow">
            <a:avLst/>
          </a:prstGeom>
          <a:solidFill>
            <a:srgbClr val="0E8C7F"/>
          </a:solidFill>
          <a:ln w="12700">
            <a:solidFill>
              <a:srgbClr val="0E8C7F"/>
            </a:solidFill>
            <a:prstDash val="solid"/>
          </a:ln>
        </p:spPr>
      </p:sp>
      <p:sp>
        <p:nvSpPr>
          <p:cNvPr id="11" name="loop card 2"/>
          <p:cNvSpPr/>
          <p:nvPr/>
        </p:nvSpPr>
        <p:spPr>
          <a:xfrm>
            <a:off x="6217920" y="146304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2" name="loop title 2"/>
          <p:cNvSpPr txBox="1"/>
          <p:nvPr/>
        </p:nvSpPr>
        <p:spPr>
          <a:xfrm>
            <a:off x="6400800" y="155448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Look at the result</a:t>
            </a:r>
            <a:endParaRPr lang="en-US" sz="1800" dirty="0"/>
          </a:p>
        </p:txBody>
      </p:sp>
      <p:sp>
        <p:nvSpPr>
          <p:cNvPr id="13" name="loop text 2"/>
          <p:cNvSpPr txBox="1"/>
          <p:nvPr/>
        </p:nvSpPr>
        <p:spPr>
          <a:xfrm>
            <a:off x="6400800" y="201168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1F2A"/>
                </a:solidFill>
              </a:rPr>
              <a:t>real text from the repo or Greenplum comes back</a:t>
            </a:r>
            <a:endParaRPr lang="en-US" sz="1200" dirty="0"/>
          </a:p>
        </p:txBody>
      </p:sp>
      <p:sp>
        <p:nvSpPr>
          <p:cNvPr id="14" name="arrow"/>
          <p:cNvSpPr/>
          <p:nvPr/>
        </p:nvSpPr>
        <p:spPr>
          <a:xfrm>
            <a:off x="8778240" y="2103120"/>
            <a:ext cx="274320" cy="320040"/>
          </a:xfrm>
          <a:prstGeom prst="rightArrow">
            <a:avLst/>
          </a:prstGeom>
          <a:solidFill>
            <a:srgbClr val="0E8C7F"/>
          </a:solidFill>
          <a:ln w="12700">
            <a:solidFill>
              <a:srgbClr val="0E8C7F"/>
            </a:solidFill>
            <a:prstDash val="solid"/>
          </a:ln>
        </p:spPr>
      </p:sp>
      <p:sp>
        <p:nvSpPr>
          <p:cNvPr id="15" name="loop card 3"/>
          <p:cNvSpPr/>
          <p:nvPr/>
        </p:nvSpPr>
        <p:spPr>
          <a:xfrm>
            <a:off x="9052560" y="146304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loop title 3"/>
          <p:cNvSpPr txBox="1"/>
          <p:nvPr/>
        </p:nvSpPr>
        <p:spPr>
          <a:xfrm>
            <a:off x="9235440" y="155448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Submit</a:t>
            </a:r>
            <a:endParaRPr lang="en-US" sz="1800" dirty="0"/>
          </a:p>
        </p:txBody>
      </p:sp>
      <p:sp>
        <p:nvSpPr>
          <p:cNvPr id="17" name="loop text 3"/>
          <p:cNvSpPr txBox="1"/>
          <p:nvPr/>
        </p:nvSpPr>
        <p:spPr>
          <a:xfrm>
            <a:off x="9235440" y="2011680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 structured answer that must match a schema and pass grounding checks</a:t>
            </a:r>
            <a:endParaRPr lang="en-US" sz="1200" dirty="0"/>
          </a:p>
        </p:txBody>
      </p:sp>
      <p:sp>
        <p:nvSpPr>
          <p:cNvPr id="18" name="repeat"/>
          <p:cNvSpPr txBox="1"/>
          <p:nvPr/>
        </p:nvSpPr>
        <p:spPr>
          <a:xfrm>
            <a:off x="548640" y="31089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repeat 2-6 times</a:t>
            </a:r>
            <a:endParaRPr lang="en-US" sz="1100" dirty="0"/>
          </a:p>
        </p:txBody>
      </p:sp>
      <p:sp>
        <p:nvSpPr>
          <p:cNvPr id="19" name="The contract every agent must keep card"/>
          <p:cNvSpPr/>
          <p:nvPr/>
        </p:nvSpPr>
        <p:spPr>
          <a:xfrm>
            <a:off x="548640" y="3657600"/>
            <a:ext cx="5394960" cy="2468880"/>
          </a:xfrm>
          <a:prstGeom prst="roundRect">
            <a:avLst>
              <a:gd name="adj" fmla="val 4444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20" name="The contract every agent must keep circle"/>
          <p:cNvSpPr/>
          <p:nvPr/>
        </p:nvSpPr>
        <p:spPr>
          <a:xfrm>
            <a:off x="731520" y="3840480"/>
            <a:ext cx="502920" cy="502920"/>
          </a:xfrm>
          <a:prstGeom prst="ellipse">
            <a:avLst/>
          </a:prstGeom>
          <a:solidFill>
            <a:srgbClr val="0E8C7F"/>
          </a:solidFill>
          <a:ln w="12700">
            <a:solidFill>
              <a:srgbClr val="0E8C7F"/>
            </a:solidFill>
            <a:prstDash val="solid"/>
          </a:ln>
        </p:spPr>
      </p:sp>
      <p:pic>
        <p:nvPicPr>
          <p:cNvPr id="21" name="The contract every agent must keep icon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3966210"/>
            <a:ext cx="251460" cy="251460"/>
          </a:xfrm>
          <a:prstGeom prst="rect">
            <a:avLst/>
          </a:prstGeom>
        </p:spPr>
      </p:pic>
      <p:sp>
        <p:nvSpPr>
          <p:cNvPr id="22" name="The contract every agent must keep heading"/>
          <p:cNvSpPr txBox="1"/>
          <p:nvPr/>
        </p:nvSpPr>
        <p:spPr>
          <a:xfrm>
            <a:off x="1371600" y="3840480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The contract every agent must keep</a:t>
            </a:r>
            <a:endParaRPr lang="en-US" sz="1600" dirty="0"/>
          </a:p>
        </p:txBody>
      </p:sp>
      <p:sp>
        <p:nvSpPr>
          <p:cNvPr id="23" name="The contract every agent must keep text"/>
          <p:cNvSpPr txBox="1"/>
          <p:nvPr/>
        </p:nvSpPr>
        <p:spPr>
          <a:xfrm>
            <a:off x="731520" y="4434840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Output is JSON with fixed fields (e.g. path, content, evidence, confidence) - rejected and resent if a field is missing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Grounding: a SQL file must parse; a profile script may not contain new logic; a modified file may not shrink; evidence must name real files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Tool budget: 5-8 steps, then it must answer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Everything it does is written to the log you see on screen</a:t>
            </a:r>
            <a:endParaRPr lang="en-US" sz="1200" dirty="0"/>
          </a:p>
        </p:txBody>
      </p:sp>
      <p:sp>
        <p:nvSpPr>
          <p:cNvPr id="24" name="Why this matters card"/>
          <p:cNvSpPr/>
          <p:nvPr/>
        </p:nvSpPr>
        <p:spPr>
          <a:xfrm>
            <a:off x="6217920" y="3657600"/>
            <a:ext cx="5394960" cy="2468880"/>
          </a:xfrm>
          <a:prstGeom prst="roundRect">
            <a:avLst>
              <a:gd name="adj" fmla="val 4444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25" name="Why this matters circle"/>
          <p:cNvSpPr/>
          <p:nvPr/>
        </p:nvSpPr>
        <p:spPr>
          <a:xfrm>
            <a:off x="6400800" y="38404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6" name="Why this matters 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530" y="3966210"/>
            <a:ext cx="251460" cy="251460"/>
          </a:xfrm>
          <a:prstGeom prst="rect">
            <a:avLst/>
          </a:prstGeom>
        </p:spPr>
      </p:pic>
      <p:sp>
        <p:nvSpPr>
          <p:cNvPr id="27" name="Why this matters heading"/>
          <p:cNvSpPr txBox="1"/>
          <p:nvPr/>
        </p:nvSpPr>
        <p:spPr>
          <a:xfrm>
            <a:off x="7040880" y="3840480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Why this matters</a:t>
            </a:r>
            <a:endParaRPr lang="en-US" sz="1600" dirty="0"/>
          </a:p>
        </p:txBody>
      </p:sp>
      <p:sp>
        <p:nvSpPr>
          <p:cNvPr id="28" name="Why this matters text"/>
          <p:cNvSpPr txBox="1"/>
          <p:nvPr/>
        </p:nvSpPr>
        <p:spPr>
          <a:xfrm>
            <a:off x="6400800" y="4434840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No hallucinated columns: a column must be seen in information_schema or in the script that creates the table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No 'creative' style: it copies two existing scripts of the same folder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Same question, same checks: the rules do not depend on the model's mood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A wrong answer is caught by the checker or the reviewer, not by the end user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</a:rPr>
              <a:t>Step 1 - Analyse: turning a story into a precise requirement</a:t>
            </a:r>
            <a:endParaRPr lang="en-US" sz="3200" dirty="0"/>
          </a:p>
        </p:txBody>
      </p:sp>
      <p:sp>
        <p:nvSpPr>
          <p:cNvPr id="3" name="story box"/>
          <p:cNvSpPr/>
          <p:nvPr/>
        </p:nvSpPr>
        <p:spPr>
          <a:xfrm>
            <a:off x="548640" y="1371600"/>
            <a:ext cx="5120640" cy="4754880"/>
          </a:xfrm>
          <a:prstGeom prst="roundRect">
            <a:avLst>
              <a:gd name="adj" fmla="val 2308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4" name="story title"/>
          <p:cNvSpPr txBox="1"/>
          <p:nvPr/>
        </p:nvSpPr>
        <p:spPr>
          <a:xfrm>
            <a:off x="731520" y="14630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Story 1234 (GitLab)</a:t>
            </a:r>
            <a:endParaRPr lang="en-US" sz="1500" dirty="0"/>
          </a:p>
        </p:txBody>
      </p:sp>
      <p:sp>
        <p:nvSpPr>
          <p:cNvPr id="5" name="story text"/>
          <p:cNvSpPr txBox="1"/>
          <p:nvPr/>
        </p:nvSpPr>
        <p:spPr>
          <a:xfrm>
            <a:off x="731520" y="187452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1F2A"/>
                </a:solidFill>
              </a:rPr>
              <a:t>"Add a household-level count of accounts with a cash distribution in the last 4 weeks (mhh_cash_dist_acc_cnt_4w) to the household profile, so an insight can flag households with 3 or more distributing accounts."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1F2A"/>
                </a:solidFill>
              </a:rPr>
              <a:t>Comment by Product Owner: threshold = 3.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1F2A"/>
                </a:solidFill>
              </a:rPr>
              <a:t>Draft SQL attached: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1F2A"/>
                </a:solidFill>
              </a:rPr>
              <a:t>SELECT acc_mhh_n, COUNT(DISTINCT acc_n) AS cnt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1F2A"/>
                </a:solidFill>
              </a:rPr>
              <a:t>FROM core_ikg.cash_dist_4wk_acc_agg_ikg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1F2A"/>
                </a:solidFill>
              </a:rPr>
              <a:t>WHERE cash_dist_acc_count &gt; 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1F2A"/>
                </a:solidFill>
              </a:rPr>
              <a:t>GROUP BY acc_mhh_n;</a:t>
            </a:r>
            <a:endParaRPr lang="en-US" sz="1200" dirty="0"/>
          </a:p>
        </p:txBody>
      </p:sp>
      <p:sp>
        <p:nvSpPr>
          <p:cNvPr id="6" name="arrow"/>
          <p:cNvSpPr/>
          <p:nvPr/>
        </p:nvSpPr>
        <p:spPr>
          <a:xfrm>
            <a:off x="5806440" y="3474720"/>
            <a:ext cx="365760" cy="320040"/>
          </a:xfrm>
          <a:prstGeom prst="rightArrow">
            <a:avLst/>
          </a:prstGeom>
          <a:solidFill>
            <a:srgbClr val="0E8C7F"/>
          </a:solidFill>
          <a:ln w="12700">
            <a:solidFill>
              <a:srgbClr val="0E8C7F"/>
            </a:solidFill>
            <a:prstDash val="solid"/>
          </a:ln>
        </p:spPr>
      </p:sp>
      <p:sp>
        <p:nvSpPr>
          <p:cNvPr id="7" name="req box"/>
          <p:cNvSpPr/>
          <p:nvPr/>
        </p:nvSpPr>
        <p:spPr>
          <a:xfrm>
            <a:off x="6309360" y="1371600"/>
            <a:ext cx="530352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9050">
            <a:solidFill>
              <a:srgbClr val="0E8C7F"/>
            </a:solidFill>
            <a:prstDash val="solid"/>
          </a:ln>
        </p:spPr>
      </p:sp>
      <p:sp>
        <p:nvSpPr>
          <p:cNvPr id="8" name="req title"/>
          <p:cNvSpPr txBox="1"/>
          <p:nvPr/>
        </p:nvSpPr>
        <p:spPr>
          <a:xfrm>
            <a:off x="6492240" y="146304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8C7F"/>
                </a:solidFill>
              </a:rPr>
              <a:t>Requirement (Story agent, ~30 s)</a:t>
            </a:r>
            <a:endParaRPr lang="en-US" sz="1500" dirty="0"/>
          </a:p>
        </p:txBody>
      </p:sp>
      <p:sp>
        <p:nvSpPr>
          <p:cNvPr id="9" name="req text"/>
          <p:cNvSpPr txBox="1"/>
          <p:nvPr/>
        </p:nvSpPr>
        <p:spPr>
          <a:xfrm>
            <a:off x="6492240" y="1874520"/>
            <a:ext cx="4937760" cy="411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1F2A"/>
                </a:solidFill>
              </a:rPr>
              <a:t>Scope: </a:t>
            </a:r>
            <a:r>
              <a:rPr lang="en-US" sz="1200" dirty="0">
                <a:solidFill>
                  <a:srgbClr val="1B1F2A"/>
                </a:solidFill>
              </a:rPr>
              <a:t>both - a new profile column AND a new ODM insight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1F2A"/>
                </a:solidFill>
              </a:rPr>
              <a:t>Source: </a:t>
            </a:r>
            <a:r>
              <a:rPr lang="en-US" sz="1200" dirty="0">
                <a:solidFill>
                  <a:srgbClr val="1B1F2A"/>
                </a:solidFill>
              </a:rPr>
              <a:t>cash_dist_4wk_acc_agg_ikg (found by searching the repo; account level, already has the 4-week window)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1F2A"/>
                </a:solidFill>
              </a:rPr>
              <a:t>Profile change: </a:t>
            </a:r>
            <a:r>
              <a:rPr lang="en-US" sz="1200" dirty="0">
                <a:solidFill>
                  <a:srgbClr val="1B1F2A"/>
                </a:solidFill>
              </a:rPr>
              <a:t>household_profile_curr_ikg.mhh_cash_dist_acc_cnt_4w, grain = household, derived in an intermediate table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1F2A"/>
                </a:solidFill>
              </a:rPr>
              <a:t>Insight: </a:t>
            </a:r>
            <a:r>
              <a:rPr lang="en-US" sz="1200" dirty="0">
                <a:solidFill>
                  <a:srgbClr val="1B1F2A"/>
                </a:solidFill>
              </a:rPr>
              <a:t>si_cash_dist_multi_acc, target HOUSEHOLD, where count &gt;= 3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1F2A"/>
                </a:solidFill>
              </a:rPr>
              <a:t>Script in the story: </a:t>
            </a:r>
            <a:r>
              <a:rPr lang="en-US" sz="1200" dirty="0">
                <a:solidFill>
                  <a:srgbClr val="1B1F2A"/>
                </a:solidFill>
              </a:rPr>
              <a:t>kept as the logic to port (schema → params, add ikg_key / profile_date)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07A1F"/>
                </a:solidFill>
              </a:rPr>
              <a:t>Open question (blocking): </a:t>
            </a:r>
            <a:r>
              <a:rPr lang="en-US" sz="1200" dirty="0">
                <a:solidFill>
                  <a:srgbClr val="1B1F2A"/>
                </a:solidFill>
              </a:rPr>
              <a:t>is the threshold fixed or configurable? → asked in the chat before any code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1F2A"/>
                </a:solidFill>
              </a:rPr>
              <a:t>Evidence: </a:t>
            </a:r>
            <a:r>
              <a:rPr lang="en-US" sz="1200" dirty="0">
                <a:solidFill>
                  <a:srgbClr val="1B1F2A"/>
                </a:solidFill>
              </a:rPr>
              <a:t>story text, comment, the 2 scripts it read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</a:rPr>
              <a:t>Step 2 - Design: the plan, with one simplicity rule</a:t>
            </a:r>
            <a:endParaRPr lang="en-US" sz="3200" dirty="0"/>
          </a:p>
        </p:txBody>
      </p:sp>
      <p:sp>
        <p:nvSpPr>
          <p:cNvPr id="3" name="plan tag 0"/>
          <p:cNvSpPr/>
          <p:nvPr/>
        </p:nvSpPr>
        <p:spPr>
          <a:xfrm>
            <a:off x="548640" y="1371600"/>
            <a:ext cx="1005840" cy="685800"/>
          </a:xfrm>
          <a:prstGeom prst="roundRect">
            <a:avLst>
              <a:gd name="adj" fmla="val 13333"/>
            </a:avLst>
          </a:prstGeom>
          <a:solidFill>
            <a:srgbClr val="0E8C7F"/>
          </a:solidFill>
          <a:ln w="12700">
            <a:solidFill>
              <a:srgbClr val="0E8C7F"/>
            </a:solidFill>
            <a:prstDash val="solid"/>
          </a:ln>
        </p:spPr>
      </p:sp>
      <p:sp>
        <p:nvSpPr>
          <p:cNvPr id="4" name="plan tag text 0"/>
          <p:cNvSpPr txBox="1"/>
          <p:nvPr/>
        </p:nvSpPr>
        <p:spPr>
          <a:xfrm>
            <a:off x="548640" y="1371600"/>
            <a:ext cx="10058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NEW</a:t>
            </a:r>
            <a:endParaRPr lang="en-US" sz="1200" dirty="0"/>
          </a:p>
        </p:txBody>
      </p:sp>
      <p:sp>
        <p:nvSpPr>
          <p:cNvPr id="5" name="plan file 0"/>
          <p:cNvSpPr txBox="1"/>
          <p:nvPr/>
        </p:nvSpPr>
        <p:spPr>
          <a:xfrm>
            <a:off x="1737360" y="13716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ikg_cash_distribution/cash_dist_4wk_cnt_mhh_ikg.sql</a:t>
            </a:r>
            <a:endParaRPr lang="en-US" sz="1250" dirty="0"/>
          </a:p>
        </p:txBody>
      </p:sp>
      <p:sp>
        <p:nvSpPr>
          <p:cNvPr id="6" name="plan why 0"/>
          <p:cNvSpPr txBox="1"/>
          <p:nvPr/>
        </p:nvSpPr>
        <p:spPr>
          <a:xfrm>
            <a:off x="1737360" y="1719072"/>
            <a:ext cx="484632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intermediate table at household grain - all the logic lives here</a:t>
            </a:r>
            <a:endParaRPr lang="en-US" sz="1150" dirty="0"/>
          </a:p>
        </p:txBody>
      </p:sp>
      <p:sp>
        <p:nvSpPr>
          <p:cNvPr id="7" name="plan tag 1"/>
          <p:cNvSpPr/>
          <p:nvPr/>
        </p:nvSpPr>
        <p:spPr>
          <a:xfrm>
            <a:off x="548640" y="2240280"/>
            <a:ext cx="1005840" cy="68580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plan tag text 1"/>
          <p:cNvSpPr txBox="1"/>
          <p:nvPr/>
        </p:nvSpPr>
        <p:spPr>
          <a:xfrm>
            <a:off x="548640" y="2240280"/>
            <a:ext cx="10058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CHANGE</a:t>
            </a:r>
            <a:endParaRPr lang="en-US" sz="1200" dirty="0"/>
          </a:p>
        </p:txBody>
      </p:sp>
      <p:sp>
        <p:nvSpPr>
          <p:cNvPr id="9" name="plan file 1"/>
          <p:cNvSpPr txBox="1"/>
          <p:nvPr/>
        </p:nvSpPr>
        <p:spPr>
          <a:xfrm>
            <a:off x="1737360" y="22402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ikg_create_profiles/household_profile_curr_ikg.sql</a:t>
            </a:r>
            <a:endParaRPr lang="en-US" sz="1250" dirty="0"/>
          </a:p>
        </p:txBody>
      </p:sp>
      <p:sp>
        <p:nvSpPr>
          <p:cNvPr id="10" name="plan why 1"/>
          <p:cNvSpPr txBox="1"/>
          <p:nvPr/>
        </p:nvSpPr>
        <p:spPr>
          <a:xfrm>
            <a:off x="1737360" y="2587752"/>
            <a:ext cx="484632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one column + one LEFT JOIN on acc_mhh_n - nothing else</a:t>
            </a:r>
            <a:endParaRPr lang="en-US" sz="1150" dirty="0"/>
          </a:p>
        </p:txBody>
      </p:sp>
      <p:sp>
        <p:nvSpPr>
          <p:cNvPr id="11" name="plan tag 2"/>
          <p:cNvSpPr/>
          <p:nvPr/>
        </p:nvSpPr>
        <p:spPr>
          <a:xfrm>
            <a:off x="548640" y="3108960"/>
            <a:ext cx="1005840" cy="68580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plan tag text 2"/>
          <p:cNvSpPr txBox="1"/>
          <p:nvPr/>
        </p:nvSpPr>
        <p:spPr>
          <a:xfrm>
            <a:off x="548640" y="3108960"/>
            <a:ext cx="10058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CHANGE</a:t>
            </a:r>
            <a:endParaRPr lang="en-US" sz="1200" dirty="0"/>
          </a:p>
        </p:txBody>
      </p:sp>
      <p:sp>
        <p:nvSpPr>
          <p:cNvPr id="13" name="plan file 2"/>
          <p:cNvSpPr txBox="1"/>
          <p:nvPr/>
        </p:nvSpPr>
        <p:spPr>
          <a:xfrm>
            <a:off x="1737360" y="31089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dags/ikg_data_refresh.py</a:t>
            </a:r>
            <a:endParaRPr lang="en-US" sz="1250" dirty="0"/>
          </a:p>
        </p:txBody>
      </p:sp>
      <p:sp>
        <p:nvSpPr>
          <p:cNvPr id="14" name="plan why 2"/>
          <p:cNvSpPr txBox="1"/>
          <p:nvPr/>
        </p:nvSpPr>
        <p:spPr>
          <a:xfrm>
            <a:off x="1737360" y="3456432"/>
            <a:ext cx="484632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one task line + one task_map entry in TaskGroup ikg_cash_distribution</a:t>
            </a:r>
            <a:endParaRPr lang="en-US" sz="1150" dirty="0"/>
          </a:p>
        </p:txBody>
      </p:sp>
      <p:sp>
        <p:nvSpPr>
          <p:cNvPr id="15" name="plan tag 3"/>
          <p:cNvSpPr/>
          <p:nvPr/>
        </p:nvSpPr>
        <p:spPr>
          <a:xfrm>
            <a:off x="548640" y="3977640"/>
            <a:ext cx="1005840" cy="685800"/>
          </a:xfrm>
          <a:prstGeom prst="roundRect">
            <a:avLst>
              <a:gd name="adj" fmla="val 13333"/>
            </a:avLst>
          </a:prstGeom>
          <a:solidFill>
            <a:srgbClr val="0E8C7F"/>
          </a:solidFill>
          <a:ln w="12700">
            <a:solidFill>
              <a:srgbClr val="0E8C7F"/>
            </a:solidFill>
            <a:prstDash val="solid"/>
          </a:ln>
        </p:spPr>
      </p:sp>
      <p:sp>
        <p:nvSpPr>
          <p:cNvPr id="16" name="plan tag text 3"/>
          <p:cNvSpPr txBox="1"/>
          <p:nvPr/>
        </p:nvSpPr>
        <p:spPr>
          <a:xfrm>
            <a:off x="548640" y="3977640"/>
            <a:ext cx="10058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NEW</a:t>
            </a:r>
            <a:endParaRPr lang="en-US" sz="1200" dirty="0"/>
          </a:p>
        </p:txBody>
      </p:sp>
      <p:sp>
        <p:nvSpPr>
          <p:cNvPr id="17" name="plan file 3"/>
          <p:cNvSpPr txBox="1"/>
          <p:nvPr/>
        </p:nvSpPr>
        <p:spPr>
          <a:xfrm>
            <a:off x="1737360" y="39776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ds_client_insights/si_cash_dist_multi_acc.sql</a:t>
            </a:r>
            <a:endParaRPr lang="en-US" sz="1250" dirty="0"/>
          </a:p>
        </p:txBody>
      </p:sp>
      <p:sp>
        <p:nvSpPr>
          <p:cNvPr id="18" name="plan why 3"/>
          <p:cNvSpPr txBox="1"/>
          <p:nvPr/>
        </p:nvSpPr>
        <p:spPr>
          <a:xfrm>
            <a:off x="1737360" y="4325112"/>
            <a:ext cx="484632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ODM rule: insight when the count &gt;= 3</a:t>
            </a:r>
            <a:endParaRPr lang="en-US" sz="1150" dirty="0"/>
          </a:p>
        </p:txBody>
      </p:sp>
      <p:sp>
        <p:nvSpPr>
          <p:cNvPr id="19" name="The simplicity rule card"/>
          <p:cNvSpPr/>
          <p:nvPr/>
        </p:nvSpPr>
        <p:spPr>
          <a:xfrm>
            <a:off x="6949440" y="1371600"/>
            <a:ext cx="4663440" cy="2103120"/>
          </a:xfrm>
          <a:prstGeom prst="roundRect">
            <a:avLst>
              <a:gd name="adj" fmla="val 5217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20" name="The simplicity rule circle"/>
          <p:cNvSpPr/>
          <p:nvPr/>
        </p:nvSpPr>
        <p:spPr>
          <a:xfrm>
            <a:off x="7132320" y="1554480"/>
            <a:ext cx="502920" cy="502920"/>
          </a:xfrm>
          <a:prstGeom prst="ellipse">
            <a:avLst/>
          </a:prstGeom>
          <a:solidFill>
            <a:srgbClr val="0E8C7F"/>
          </a:solidFill>
          <a:ln w="12700">
            <a:solidFill>
              <a:srgbClr val="0E8C7F"/>
            </a:solidFill>
            <a:prstDash val="solid"/>
          </a:ln>
        </p:spPr>
      </p:sp>
      <p:pic>
        <p:nvPicPr>
          <p:cNvPr id="21" name="The simplicity rule icon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8050" y="1680210"/>
            <a:ext cx="251460" cy="251460"/>
          </a:xfrm>
          <a:prstGeom prst="rect">
            <a:avLst/>
          </a:prstGeom>
        </p:spPr>
      </p:pic>
      <p:sp>
        <p:nvSpPr>
          <p:cNvPr id="22" name="The simplicity rule heading"/>
          <p:cNvSpPr txBox="1"/>
          <p:nvPr/>
        </p:nvSpPr>
        <p:spPr>
          <a:xfrm>
            <a:off x="7772400" y="155448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The simplicity rule</a:t>
            </a:r>
            <a:endParaRPr lang="en-US" sz="1600" dirty="0"/>
          </a:p>
        </p:txBody>
      </p:sp>
      <p:sp>
        <p:nvSpPr>
          <p:cNvPr id="23" name="The simplicity rule text"/>
          <p:cNvSpPr txBox="1"/>
          <p:nvPr/>
        </p:nvSpPr>
        <p:spPr>
          <a:xfrm>
            <a:off x="7132320" y="2148840"/>
            <a:ext cx="429768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All joins, aggregation, CASE logic and windows go into an intermediate table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A profile script only picks the ready column up (LEFT JOIN on the entity key)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Enforced three times: in the plan, when the file is written, and by rule IKG-PROF-001</a:t>
            </a:r>
            <a:endParaRPr lang="en-US" sz="1200" dirty="0"/>
          </a:p>
        </p:txBody>
      </p:sp>
      <p:sp>
        <p:nvSpPr>
          <p:cNvPr id="24" name="Also in the plan card"/>
          <p:cNvSpPr/>
          <p:nvPr/>
        </p:nvSpPr>
        <p:spPr>
          <a:xfrm>
            <a:off x="6949440" y="3657600"/>
            <a:ext cx="4663440" cy="2468880"/>
          </a:xfrm>
          <a:prstGeom prst="roundRect">
            <a:avLst>
              <a:gd name="adj" fmla="val 4444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25" name="Also in the plan circle"/>
          <p:cNvSpPr/>
          <p:nvPr/>
        </p:nvSpPr>
        <p:spPr>
          <a:xfrm>
            <a:off x="7132320" y="38404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6" name="Also in the plan 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8050" y="3966210"/>
            <a:ext cx="251460" cy="251460"/>
          </a:xfrm>
          <a:prstGeom prst="rect">
            <a:avLst/>
          </a:prstGeom>
        </p:spPr>
      </p:pic>
      <p:sp>
        <p:nvSpPr>
          <p:cNvPr id="27" name="Also in the plan heading"/>
          <p:cNvSpPr txBox="1"/>
          <p:nvPr/>
        </p:nvSpPr>
        <p:spPr>
          <a:xfrm>
            <a:off x="7772400" y="384048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Also in the plan</a:t>
            </a:r>
            <a:endParaRPr lang="en-US" sz="1600" dirty="0"/>
          </a:p>
        </p:txBody>
      </p:sp>
      <p:sp>
        <p:nvSpPr>
          <p:cNvPr id="28" name="Also in the plan text"/>
          <p:cNvSpPr txBox="1"/>
          <p:nvPr/>
        </p:nvSpPr>
        <p:spPr>
          <a:xfrm>
            <a:off x="7132320" y="4434840"/>
            <a:ext cx="429768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Impact: which scripts read the changed table, which DAG groups are touched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Performance notes: filter by profile date early, aggregate before joining, distribute on the join key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Validation queries: row counts, key uniqueness, null share of the new column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Branch names: 1234-add-household-...-ikg and -odm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</a:rPr>
              <a:t>Step 3 - Code: copy the pattern, verify every input</a:t>
            </a:r>
            <a:endParaRPr lang="en-US" sz="3200" dirty="0"/>
          </a:p>
        </p:txBody>
      </p:sp>
      <p:sp>
        <p:nvSpPr>
          <p:cNvPr id="3" name="code box"/>
          <p:cNvSpPr/>
          <p:nvPr/>
        </p:nvSpPr>
        <p:spPr>
          <a:xfrm>
            <a:off x="548640" y="1371600"/>
            <a:ext cx="5943600" cy="4754880"/>
          </a:xfrm>
          <a:prstGeom prst="roundRect">
            <a:avLst>
              <a:gd name="adj" fmla="val 2308"/>
            </a:avLst>
          </a:prstGeom>
          <a:solidFill>
            <a:srgbClr val="1B1F2A"/>
          </a:solidFill>
          <a:ln w="12700">
            <a:solidFill>
              <a:srgbClr val="1B1F2A"/>
            </a:solidFill>
            <a:prstDash val="solid"/>
          </a:ln>
        </p:spPr>
      </p:sp>
      <p:sp>
        <p:nvSpPr>
          <p:cNvPr id="4" name="code title"/>
          <p:cNvSpPr txBox="1"/>
          <p:nvPr/>
        </p:nvSpPr>
        <p:spPr>
          <a:xfrm>
            <a:off x="731520" y="1463040"/>
            <a:ext cx="5577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cash_dist_4wk_cnt_mhh_ikg.sql (generated)</a:t>
            </a:r>
            <a:endParaRPr lang="en-US" sz="1100" dirty="0"/>
          </a:p>
        </p:txBody>
      </p:sp>
      <p:sp>
        <p:nvSpPr>
          <p:cNvPr id="5" name="code text"/>
          <p:cNvSpPr txBox="1"/>
          <p:nvPr/>
        </p:nvSpPr>
        <p:spPr>
          <a:xfrm>
            <a:off x="731520" y="1828800"/>
            <a:ext cx="5577840" cy="4206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DROP TABLE IF EXISTS {{params.IKG_SCHEMA}}.cash_dist_4wk_cnt_mhh_ikg;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CREATE TABLE {{params.IKG_SCHEMA}}.cash_dist_4wk_cnt_mhh_ikg 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SELECT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t.acc_mhh_n,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COUNT(DISTINCT t.acc_n) AS mhh_cash_dist_acc_cnt_4w,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t.acc_mhh_n AS ikg_key,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{{params.IKG_PROFILE_DATE}}::text AS profile_date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FROM {{params.IKG_SCHEMA}}.cash_dist_4wk_acc_agg_ikg 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WHERE t.profile_date = '{{params.IKG_PROFILE_DATE}}'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AND COALESCE(t.cash_dist_acc_count, 0) &gt; 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GROUP BY t.acc_mhh_n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DISTRIBUTED BY (acc_mhh_n);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ALTER TABLE ... OWNER TO {{params.IKG_TABLE_OWNER_GROUP}};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GRANT SELECT ON ... TO {{params.IKG_TABLE_READER_GROUP}};</a:t>
            </a:r>
            <a:endParaRPr lang="en-US" sz="1050" dirty="0"/>
          </a:p>
        </p:txBody>
      </p:sp>
      <p:sp>
        <p:nvSpPr>
          <p:cNvPr id="6" name="how 0 circle"/>
          <p:cNvSpPr/>
          <p:nvPr/>
        </p:nvSpPr>
        <p:spPr>
          <a:xfrm>
            <a:off x="6766560" y="1371600"/>
            <a:ext cx="548640" cy="548640"/>
          </a:xfrm>
          <a:prstGeom prst="ellipse">
            <a:avLst/>
          </a:prstGeom>
          <a:solidFill>
            <a:srgbClr val="0E8C7F"/>
          </a:solidFill>
          <a:ln w="12700">
            <a:solidFill>
              <a:srgbClr val="0E8C7F"/>
            </a:solidFill>
            <a:prstDash val="solid"/>
          </a:ln>
        </p:spPr>
      </p:sp>
      <p:pic>
        <p:nvPicPr>
          <p:cNvPr id="7" name="how 0 icon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508760"/>
            <a:ext cx="274320" cy="274320"/>
          </a:xfrm>
          <a:prstGeom prst="rect">
            <a:avLst/>
          </a:prstGeom>
        </p:spPr>
      </p:pic>
      <p:sp>
        <p:nvSpPr>
          <p:cNvPr id="8" name="how title 0"/>
          <p:cNvSpPr txBox="1"/>
          <p:nvPr/>
        </p:nvSpPr>
        <p:spPr>
          <a:xfrm>
            <a:off x="7452360" y="137160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Pattern copied</a:t>
            </a:r>
            <a:endParaRPr lang="en-US" sz="1400" dirty="0"/>
          </a:p>
        </p:txBody>
      </p:sp>
      <p:sp>
        <p:nvSpPr>
          <p:cNvPr id="9" name="how text 0"/>
          <p:cNvSpPr txBox="1"/>
          <p:nvPr/>
        </p:nvSpPr>
        <p:spPr>
          <a:xfrm>
            <a:off x="7452360" y="1691640"/>
            <a:ext cx="41148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2A"/>
                </a:solidFill>
              </a:rPr>
              <a:t>two existing scripts of ikg_cash_distribution: same DROP / CREATE AS / DISTRIBUTED BY / OWNER / GRANT shape</a:t>
            </a:r>
            <a:endParaRPr lang="en-US" sz="1150" dirty="0"/>
          </a:p>
        </p:txBody>
      </p:sp>
      <p:sp>
        <p:nvSpPr>
          <p:cNvPr id="10" name="how 1 circle"/>
          <p:cNvSpPr/>
          <p:nvPr/>
        </p:nvSpPr>
        <p:spPr>
          <a:xfrm>
            <a:off x="6766560" y="2560320"/>
            <a:ext cx="548640" cy="548640"/>
          </a:xfrm>
          <a:prstGeom prst="ellipse">
            <a:avLst/>
          </a:prstGeom>
          <a:solidFill>
            <a:srgbClr val="0E8C7F"/>
          </a:solidFill>
          <a:ln w="12700">
            <a:solidFill>
              <a:srgbClr val="0E8C7F"/>
            </a:solidFill>
            <a:prstDash val="solid"/>
          </a:ln>
        </p:spPr>
      </p:sp>
      <p:pic>
        <p:nvPicPr>
          <p:cNvPr id="11" name="how 1 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697480"/>
            <a:ext cx="274320" cy="274320"/>
          </a:xfrm>
          <a:prstGeom prst="rect">
            <a:avLst/>
          </a:prstGeom>
        </p:spPr>
      </p:pic>
      <p:sp>
        <p:nvSpPr>
          <p:cNvPr id="12" name="how title 1"/>
          <p:cNvSpPr txBox="1"/>
          <p:nvPr/>
        </p:nvSpPr>
        <p:spPr>
          <a:xfrm>
            <a:off x="7452360" y="256032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Inputs verified</a:t>
            </a:r>
            <a:endParaRPr lang="en-US" sz="1400" dirty="0"/>
          </a:p>
        </p:txBody>
      </p:sp>
      <p:sp>
        <p:nvSpPr>
          <p:cNvPr id="13" name="how text 1"/>
          <p:cNvSpPr txBox="1"/>
          <p:nvPr/>
        </p:nvSpPr>
        <p:spPr>
          <a:xfrm>
            <a:off x="7452360" y="2880360"/>
            <a:ext cx="41148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2A"/>
                </a:solidFill>
              </a:rPr>
              <a:t>columns of cash_dist_4wk_acc_agg_ikg read from the script that creates it; EDW columns from information_schema</a:t>
            </a:r>
            <a:endParaRPr lang="en-US" sz="1150" dirty="0"/>
          </a:p>
        </p:txBody>
      </p:sp>
      <p:sp>
        <p:nvSpPr>
          <p:cNvPr id="14" name="how 2 circle"/>
          <p:cNvSpPr/>
          <p:nvPr/>
        </p:nvSpPr>
        <p:spPr>
          <a:xfrm>
            <a:off x="6766560" y="37490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5" name="how 2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3886200"/>
            <a:ext cx="274320" cy="274320"/>
          </a:xfrm>
          <a:prstGeom prst="rect">
            <a:avLst/>
          </a:prstGeom>
        </p:spPr>
      </p:pic>
      <p:sp>
        <p:nvSpPr>
          <p:cNvPr id="16" name="how title 2"/>
          <p:cNvSpPr txBox="1"/>
          <p:nvPr/>
        </p:nvSpPr>
        <p:spPr>
          <a:xfrm>
            <a:off x="7452360" y="374904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Conventions applied</a:t>
            </a:r>
            <a:endParaRPr lang="en-US" sz="1400" dirty="0"/>
          </a:p>
        </p:txBody>
      </p:sp>
      <p:sp>
        <p:nvSpPr>
          <p:cNvPr id="17" name="how text 2"/>
          <p:cNvSpPr txBox="1"/>
          <p:nvPr/>
        </p:nvSpPr>
        <p:spPr>
          <a:xfrm>
            <a:off x="7452360" y="4069080"/>
            <a:ext cx="41148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2A"/>
                </a:solidFill>
              </a:rPr>
              <a:t>schemas only through params, profile_date and ikg_key present, the story's draft SQL kept as the logic</a:t>
            </a:r>
            <a:endParaRPr lang="en-US" sz="1150" dirty="0"/>
          </a:p>
        </p:txBody>
      </p:sp>
      <p:sp>
        <p:nvSpPr>
          <p:cNvPr id="18" name="how 3 circle"/>
          <p:cNvSpPr/>
          <p:nvPr/>
        </p:nvSpPr>
        <p:spPr>
          <a:xfrm>
            <a:off x="6766560" y="49377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9" name="how 3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5074920"/>
            <a:ext cx="274320" cy="274320"/>
          </a:xfrm>
          <a:prstGeom prst="rect">
            <a:avLst/>
          </a:prstGeom>
        </p:spPr>
      </p:pic>
      <p:sp>
        <p:nvSpPr>
          <p:cNvPr id="20" name="how title 3"/>
          <p:cNvSpPr txBox="1"/>
          <p:nvPr/>
        </p:nvSpPr>
        <p:spPr>
          <a:xfrm>
            <a:off x="7452360" y="4937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Self-check before submit</a:t>
            </a:r>
            <a:endParaRPr lang="en-US" sz="1400" dirty="0"/>
          </a:p>
        </p:txBody>
      </p:sp>
      <p:sp>
        <p:nvSpPr>
          <p:cNvPr id="21" name="how text 3"/>
          <p:cNvSpPr txBox="1"/>
          <p:nvPr/>
        </p:nvSpPr>
        <p:spPr>
          <a:xfrm>
            <a:off x="7452360" y="5257800"/>
            <a:ext cx="41148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2A"/>
                </a:solidFill>
              </a:rPr>
              <a:t>runs the standards checker on its own file, fixes what it can, reports what it could not</a:t>
            </a:r>
            <a:endParaRPr lang="en-US" sz="1150" dirty="0"/>
          </a:p>
        </p:txBody>
      </p:sp>
      <p:sp>
        <p:nvSpPr>
          <p:cNvPr id="22" name="file carries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Each file carries: explanation · evidence (what was verified) · confidence 0-100 · what a human must still confirm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</a:rPr>
              <a:t>Steps 4-5 - Check by rules, then a second opinion</a:t>
            </a:r>
            <a:endParaRPr lang="en-US" sz="3200" dirty="0"/>
          </a:p>
        </p:txBody>
      </p:sp>
      <p:sp>
        <p:nvSpPr>
          <p:cNvPr id="3" name="Standards checker (plain code, no AI) card"/>
          <p:cNvSpPr/>
          <p:nvPr/>
        </p:nvSpPr>
        <p:spPr>
          <a:xfrm>
            <a:off x="548640" y="1371600"/>
            <a:ext cx="5486400" cy="2514600"/>
          </a:xfrm>
          <a:prstGeom prst="roundRect">
            <a:avLst>
              <a:gd name="adj" fmla="val 4364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4" name="Standards checker (plain code, no AI) circle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0E8C7F"/>
          </a:solidFill>
          <a:ln w="12700">
            <a:solidFill>
              <a:srgbClr val="0E8C7F"/>
            </a:solidFill>
            <a:prstDash val="solid"/>
          </a:ln>
        </p:spPr>
      </p:sp>
      <p:pic>
        <p:nvPicPr>
          <p:cNvPr id="5" name="Standards checker (plain code, no AI) icon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680210"/>
            <a:ext cx="251460" cy="251460"/>
          </a:xfrm>
          <a:prstGeom prst="rect">
            <a:avLst/>
          </a:prstGeom>
        </p:spPr>
      </p:pic>
      <p:sp>
        <p:nvSpPr>
          <p:cNvPr id="6" name="Standards checker (plain code, no AI) heading"/>
          <p:cNvSpPr txBox="1"/>
          <p:nvPr/>
        </p:nvSpPr>
        <p:spPr>
          <a:xfrm>
            <a:off x="1371600" y="1554480"/>
            <a:ext cx="4480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Standards checker (plain code, no AI)</a:t>
            </a:r>
            <a:endParaRPr lang="en-US" sz="1600" dirty="0"/>
          </a:p>
        </p:txBody>
      </p:sp>
      <p:sp>
        <p:nvSpPr>
          <p:cNvPr id="7" name="Standards checker (plain code, no AI) text"/>
          <p:cNvSpPr txBox="1"/>
          <p:nvPr/>
        </p:nvSpPr>
        <p:spPr>
          <a:xfrm>
            <a:off x="731520" y="2148840"/>
            <a:ext cx="5120640" cy="160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F2A"/>
                </a:solidFill>
              </a:rPr>
              <a:t>Every rule of the team's 3 standards files + 10 project rules (params not literal schemas, owner/grant, DISTRIBUTED BY, no SELECT *, profile never a source, profile scripts simple, DAG task registered ...)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F2A"/>
                </a:solidFill>
              </a:rPr>
              <a:t>Score = 100 − (10 × critical + 5 × high + 2 × medium + 1 × low); A ≥ 90, B ≥ 80, C ≥ 70, D ≥ 60, else F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F2A"/>
                </a:solidFill>
              </a:rPr>
              <a:t>Findings on lines that already existed in the repo are listed but not scored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F2A"/>
                </a:solidFill>
              </a:rPr>
              <a:t>Findings go straight back to the coder in 'fix mode': apply exactly these, nothing else</a:t>
            </a:r>
            <a:endParaRPr lang="en-US" sz="1150" dirty="0"/>
          </a:p>
        </p:txBody>
      </p:sp>
      <p:sp>
        <p:nvSpPr>
          <p:cNvPr id="8" name="Review agent (GPT-5, once) card"/>
          <p:cNvSpPr/>
          <p:nvPr/>
        </p:nvSpPr>
        <p:spPr>
          <a:xfrm>
            <a:off x="6217920" y="137160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9" name="Review agent (GPT-5, once) circle"/>
          <p:cNvSpPr/>
          <p:nvPr/>
        </p:nvSpPr>
        <p:spPr>
          <a:xfrm>
            <a:off x="6400800" y="1554480"/>
            <a:ext cx="502920" cy="50292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pic>
        <p:nvPicPr>
          <p:cNvPr id="10" name="Review agent (GPT-5, once) 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530" y="1680210"/>
            <a:ext cx="251460" cy="251460"/>
          </a:xfrm>
          <a:prstGeom prst="rect">
            <a:avLst/>
          </a:prstGeom>
        </p:spPr>
      </p:pic>
      <p:sp>
        <p:nvSpPr>
          <p:cNvPr id="11" name="Review agent (GPT-5, once) heading"/>
          <p:cNvSpPr txBox="1"/>
          <p:nvPr/>
        </p:nvSpPr>
        <p:spPr>
          <a:xfrm>
            <a:off x="7040880" y="1554480"/>
            <a:ext cx="4389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Review agent (GPT-5, once)</a:t>
            </a:r>
            <a:endParaRPr lang="en-US" sz="1600" dirty="0"/>
          </a:p>
        </p:txBody>
      </p:sp>
      <p:sp>
        <p:nvSpPr>
          <p:cNvPr id="12" name="Review agent (GPT-5, once) text"/>
          <p:cNvSpPr txBox="1"/>
          <p:nvPr/>
        </p:nvSpPr>
        <p:spPr>
          <a:xfrm>
            <a:off x="6400800" y="2148840"/>
            <a:ext cx="5029200" cy="160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F2A"/>
                </a:solidFill>
              </a:rPr>
              <a:t>Reads the requirement, the plan, every file and the checker's findings as a senior developer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F2A"/>
                </a:solidFill>
              </a:rPr>
              <a:t>Checks correctness against the story, real columns and keys, grain, NULL handling, integration (task registered, history updated)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F2A"/>
                </a:solidFill>
              </a:rPr>
              <a:t>Critical / high findings are applied by the coder; medium / low become suggestions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1F2A"/>
                </a:solidFill>
              </a:rPr>
              <a:t>Returns its own confidence and 'what a human must verify'</a:t>
            </a:r>
            <a:endParaRPr lang="en-US" sz="1150" dirty="0"/>
          </a:p>
        </p:txBody>
      </p:sp>
      <p:sp>
        <p:nvSpPr>
          <p:cNvPr id="13" name="confidence box"/>
          <p:cNvSpPr/>
          <p:nvPr/>
        </p:nvSpPr>
        <p:spPr>
          <a:xfrm>
            <a:off x="548640" y="4069080"/>
            <a:ext cx="11064240" cy="178308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conf formula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Confidence = 0.4 × file confidence + 0.3 × reviewer confidence + 0.3 × standards score</a:t>
            </a:r>
            <a:endParaRPr lang="en-US" sz="1800" dirty="0"/>
          </a:p>
        </p:txBody>
      </p:sp>
      <p:sp>
        <p:nvSpPr>
          <p:cNvPr id="15" name="conf text"/>
          <p:cNvSpPr txBox="1"/>
          <p:nvPr/>
        </p:nvSpPr>
        <p:spPr>
          <a:xfrm>
            <a:off x="822960" y="466344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CADCFC"/>
                </a:solidFill>
              </a:rPr>
              <a:t>File confidence rubric: </a:t>
            </a:r>
            <a:r>
              <a:rPr lang="en-US" sz="1200" dirty="0">
                <a:solidFill>
                  <a:srgbClr val="FFFFFF"/>
                </a:solidFill>
              </a:rPr>
              <a:t>90+ every column verified and pattern copied · 75-89 one input assumed · 60-74 a source or expression inferred · below 60 requirement unclear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CADCFC"/>
                </a:solidFill>
              </a:rPr>
              <a:t>Bands: </a:t>
            </a:r>
            <a:r>
              <a:rPr lang="en-US" sz="1200" dirty="0">
                <a:solidFill>
                  <a:srgbClr val="FFFFFF"/>
                </a:solidFill>
              </a:rPr>
              <a:t>High ≥ 85 · Medium 70-84 · Low. The report ends with 'to raise the confidence': the open findings, the assumed inputs, what the reviewer wants confirmed.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CADCFC"/>
                </a:solidFill>
              </a:rPr>
              <a:t>Example story 1234: </a:t>
            </a:r>
            <a:r>
              <a:rPr lang="en-US" sz="1200" dirty="0">
                <a:solidFill>
                  <a:srgbClr val="FFFFFF"/>
                </a:solidFill>
              </a:rPr>
              <a:t>first draft used the literal schema core_ikg and forgot the GRANT → score 80 → fix pass → 100 (A) → reviewer approve → confidence 93 (High)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</a:rPr>
              <a:t>Key inputs: what the assistant reads</a:t>
            </a:r>
            <a:endParaRPr lang="en-US" sz="3200" dirty="0"/>
          </a:p>
        </p:txBody>
      </p:sp>
      <p:sp>
        <p:nvSpPr>
          <p:cNvPr id="3" name="src card 0"/>
          <p:cNvSpPr/>
          <p:nvPr/>
        </p:nvSpPr>
        <p:spPr>
          <a:xfrm>
            <a:off x="548640" y="137160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4" name="src 0 circle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5" name="src 0 icon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274320" cy="274320"/>
          </a:xfrm>
          <a:prstGeom prst="rect">
            <a:avLst/>
          </a:prstGeom>
        </p:spPr>
      </p:pic>
      <p:sp>
        <p:nvSpPr>
          <p:cNvPr id="6" name="src title 0"/>
          <p:cNvSpPr txBox="1"/>
          <p:nvPr/>
        </p:nvSpPr>
        <p:spPr>
          <a:xfrm>
            <a:off x="1463040" y="150876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GitLab issue board</a:t>
            </a:r>
            <a:endParaRPr lang="en-US" sz="1400" dirty="0"/>
          </a:p>
        </p:txBody>
      </p:sp>
      <p:sp>
        <p:nvSpPr>
          <p:cNvPr id="7" name="src text 0"/>
          <p:cNvSpPr txBox="1"/>
          <p:nvPr/>
        </p:nvSpPr>
        <p:spPr>
          <a:xfrm>
            <a:off x="1463040" y="1874520"/>
            <a:ext cx="42976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2A"/>
                </a:solidFill>
              </a:rPr>
              <a:t>the story: title, description, labels, comments, attached scripts</a:t>
            </a:r>
            <a:endParaRPr lang="en-US" sz="1150" dirty="0"/>
          </a:p>
        </p:txBody>
      </p:sp>
      <p:sp>
        <p:nvSpPr>
          <p:cNvPr id="8" name="src card 1"/>
          <p:cNvSpPr/>
          <p:nvPr/>
        </p:nvSpPr>
        <p:spPr>
          <a:xfrm>
            <a:off x="6217920" y="137160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9" name="src 1 circle"/>
          <p:cNvSpPr/>
          <p:nvPr/>
        </p:nvSpPr>
        <p:spPr>
          <a:xfrm>
            <a:off x="6400800" y="1554480"/>
            <a:ext cx="548640" cy="5486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0" name="src 1 icon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691640"/>
            <a:ext cx="274320" cy="274320"/>
          </a:xfrm>
          <a:prstGeom prst="rect">
            <a:avLst/>
          </a:prstGeom>
        </p:spPr>
      </p:pic>
      <p:sp>
        <p:nvSpPr>
          <p:cNvPr id="11" name="src title 1"/>
          <p:cNvSpPr txBox="1"/>
          <p:nvPr/>
        </p:nvSpPr>
        <p:spPr>
          <a:xfrm>
            <a:off x="7132320" y="150876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Code repositories</a:t>
            </a:r>
            <a:endParaRPr lang="en-US" sz="1400" dirty="0"/>
          </a:p>
        </p:txBody>
      </p:sp>
      <p:sp>
        <p:nvSpPr>
          <p:cNvPr id="12" name="src text 1"/>
          <p:cNvSpPr txBox="1"/>
          <p:nvPr/>
        </p:nvSpPr>
        <p:spPr>
          <a:xfrm>
            <a:off x="7132320" y="1874520"/>
            <a:ext cx="42976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2A"/>
                </a:solidFill>
              </a:rPr>
              <a:t>ikg-dags (dags/ikg @ ikg-master) and odm-dags (dags/odm @ odm-master): scripts, DAG tasks, examples to copy, the 3 standards files</a:t>
            </a:r>
            <a:endParaRPr lang="en-US" sz="1150" dirty="0"/>
          </a:p>
        </p:txBody>
      </p:sp>
      <p:sp>
        <p:nvSpPr>
          <p:cNvPr id="13" name="src card 2"/>
          <p:cNvSpPr/>
          <p:nvPr/>
        </p:nvSpPr>
        <p:spPr>
          <a:xfrm>
            <a:off x="548640" y="292608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4" name="src 2 circle"/>
          <p:cNvSpPr/>
          <p:nvPr/>
        </p:nvSpPr>
        <p:spPr>
          <a:xfrm>
            <a:off x="731520" y="3108960"/>
            <a:ext cx="548640" cy="5486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5" name="src 2 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246120"/>
            <a:ext cx="274320" cy="274320"/>
          </a:xfrm>
          <a:prstGeom prst="rect">
            <a:avLst/>
          </a:prstGeom>
        </p:spPr>
      </p:pic>
      <p:sp>
        <p:nvSpPr>
          <p:cNvPr id="16" name="src title 2"/>
          <p:cNvSpPr txBox="1"/>
          <p:nvPr/>
        </p:nvSpPr>
        <p:spPr>
          <a:xfrm>
            <a:off x="1463040" y="306324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Business metadata (Greenplum)</a:t>
            </a:r>
            <a:endParaRPr lang="en-US" sz="1400" dirty="0"/>
          </a:p>
        </p:txBody>
      </p:sp>
      <p:sp>
        <p:nvSpPr>
          <p:cNvPr id="17" name="src text 2"/>
          <p:cNvSpPr txBox="1"/>
          <p:nvPr/>
        </p:nvSpPr>
        <p:spPr>
          <a:xfrm>
            <a:off x="1463040" y="3429000"/>
            <a:ext cx="42976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2A"/>
                </a:solidFill>
              </a:rPr>
              <a:t>ikg_attribute_business_description, glossary, graph relationships and joining keys, profile table descriptions - what each column means and how tables join</a:t>
            </a:r>
            <a:endParaRPr lang="en-US" sz="1150" dirty="0"/>
          </a:p>
        </p:txBody>
      </p:sp>
      <p:sp>
        <p:nvSpPr>
          <p:cNvPr id="18" name="src card 3"/>
          <p:cNvSpPr/>
          <p:nvPr/>
        </p:nvSpPr>
        <p:spPr>
          <a:xfrm>
            <a:off x="6217920" y="292608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9" name="src 3 circle"/>
          <p:cNvSpPr/>
          <p:nvPr/>
        </p:nvSpPr>
        <p:spPr>
          <a:xfrm>
            <a:off x="6400800" y="3108960"/>
            <a:ext cx="548640" cy="5486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0" name="src 3 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246120"/>
            <a:ext cx="274320" cy="274320"/>
          </a:xfrm>
          <a:prstGeom prst="rect">
            <a:avLst/>
          </a:prstGeom>
        </p:spPr>
      </p:pic>
      <p:sp>
        <p:nvSpPr>
          <p:cNvPr id="21" name="src title 3"/>
          <p:cNvSpPr txBox="1"/>
          <p:nvPr/>
        </p:nvSpPr>
        <p:spPr>
          <a:xfrm>
            <a:off x="7132320" y="306324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Lineage (Greenplum)</a:t>
            </a:r>
            <a:endParaRPr lang="en-US" sz="1400" dirty="0"/>
          </a:p>
        </p:txBody>
      </p:sp>
      <p:sp>
        <p:nvSpPr>
          <p:cNvPr id="22" name="src text 3"/>
          <p:cNvSpPr txBox="1"/>
          <p:nvPr/>
        </p:nvSpPr>
        <p:spPr>
          <a:xfrm>
            <a:off x="7132320" y="3429000"/>
            <a:ext cx="42976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2A"/>
                </a:solidFill>
              </a:rPr>
              <a:t>table and column lineage tables - where a profile column comes from, so profile tables are never used as sources</a:t>
            </a:r>
            <a:endParaRPr lang="en-US" sz="1150" dirty="0"/>
          </a:p>
        </p:txBody>
      </p:sp>
      <p:sp>
        <p:nvSpPr>
          <p:cNvPr id="23" name="src card 4"/>
          <p:cNvSpPr/>
          <p:nvPr/>
        </p:nvSpPr>
        <p:spPr>
          <a:xfrm>
            <a:off x="548640" y="448056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24" name="src 4 circle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5" name="src 4 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800600"/>
            <a:ext cx="274320" cy="274320"/>
          </a:xfrm>
          <a:prstGeom prst="rect">
            <a:avLst/>
          </a:prstGeom>
        </p:spPr>
      </p:pic>
      <p:sp>
        <p:nvSpPr>
          <p:cNvPr id="26" name="src title 4"/>
          <p:cNvSpPr txBox="1"/>
          <p:nvPr/>
        </p:nvSpPr>
        <p:spPr>
          <a:xfrm>
            <a:off x="1463040" y="461772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Live schema and data</a:t>
            </a:r>
            <a:endParaRPr lang="en-US" sz="1400" dirty="0"/>
          </a:p>
        </p:txBody>
      </p:sp>
      <p:sp>
        <p:nvSpPr>
          <p:cNvPr id="27" name="src text 4"/>
          <p:cNvSpPr txBox="1"/>
          <p:nvPr/>
        </p:nvSpPr>
        <p:spPr>
          <a:xfrm>
            <a:off x="1463040" y="4983480"/>
            <a:ext cx="42976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2A"/>
                </a:solidFill>
              </a:rPr>
              <a:t>information_schema columns and types; read-only SELECT ... LIMIT 50 for sample values and codes</a:t>
            </a:r>
            <a:endParaRPr lang="en-US" sz="1150" dirty="0"/>
          </a:p>
        </p:txBody>
      </p:sp>
      <p:sp>
        <p:nvSpPr>
          <p:cNvPr id="28" name="src card 5"/>
          <p:cNvSpPr/>
          <p:nvPr/>
        </p:nvSpPr>
        <p:spPr>
          <a:xfrm>
            <a:off x="6217920" y="448056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29" name="src 5 circle"/>
          <p:cNvSpPr/>
          <p:nvPr/>
        </p:nvSpPr>
        <p:spPr>
          <a:xfrm>
            <a:off x="6400800" y="4663440"/>
            <a:ext cx="548640" cy="5486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30" name="src 5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4800600"/>
            <a:ext cx="274320" cy="274320"/>
          </a:xfrm>
          <a:prstGeom prst="rect">
            <a:avLst/>
          </a:prstGeom>
        </p:spPr>
      </p:pic>
      <p:sp>
        <p:nvSpPr>
          <p:cNvPr id="31" name="src title 5"/>
          <p:cNvSpPr txBox="1"/>
          <p:nvPr/>
        </p:nvSpPr>
        <p:spPr>
          <a:xfrm>
            <a:off x="7132320" y="461772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Team knowledge</a:t>
            </a:r>
            <a:endParaRPr lang="en-US" sz="1400" dirty="0"/>
          </a:p>
        </p:txBody>
      </p:sp>
      <p:sp>
        <p:nvSpPr>
          <p:cNvPr id="32" name="src text 5"/>
          <p:cNvSpPr txBox="1"/>
          <p:nvPr/>
        </p:nvSpPr>
        <p:spPr>
          <a:xfrm>
            <a:off x="7132320" y="4983480"/>
            <a:ext cx="42976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2A"/>
                </a:solidFill>
              </a:rPr>
              <a:t>skill files (household definitions, metadata standards), ODM knowledge base, IKG conventions, entity model</a:t>
            </a:r>
            <a:endParaRPr lang="en-US" sz="1150" dirty="0"/>
          </a:p>
        </p:txBody>
      </p:sp>
      <p:sp>
        <p:nvSpPr>
          <p:cNvPr id="33" name="model note"/>
          <p:cNvSpPr txBox="1"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Model: GPT-5 (Azure OpenAI). Secrets are typed at runtime - never stored in config, code or chat history.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</a:rPr>
              <a:t>What you see in the demo, and where people stay in control</a:t>
            </a:r>
            <a:endParaRPr lang="en-US" sz="3200" dirty="0"/>
          </a:p>
        </p:txBody>
      </p:sp>
      <p:sp>
        <p:nvSpPr>
          <p:cNvPr id="3" name="The chat window card"/>
          <p:cNvSpPr/>
          <p:nvPr/>
        </p:nvSpPr>
        <p:spPr>
          <a:xfrm>
            <a:off x="548640" y="1371600"/>
            <a:ext cx="3566160" cy="4663440"/>
          </a:xfrm>
          <a:prstGeom prst="roundRect">
            <a:avLst>
              <a:gd name="adj" fmla="val 3077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4" name="The chat window circle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" name="The chat window icon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680210"/>
            <a:ext cx="251460" cy="251460"/>
          </a:xfrm>
          <a:prstGeom prst="rect">
            <a:avLst/>
          </a:prstGeom>
        </p:spPr>
      </p:pic>
      <p:sp>
        <p:nvSpPr>
          <p:cNvPr id="6" name="The chat window heading"/>
          <p:cNvSpPr txBox="1"/>
          <p:nvPr/>
        </p:nvSpPr>
        <p:spPr>
          <a:xfrm>
            <a:off x="1371600" y="155448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The chat window</a:t>
            </a:r>
            <a:endParaRPr lang="en-US" sz="1600" dirty="0"/>
          </a:p>
        </p:txBody>
      </p:sp>
      <p:sp>
        <p:nvSpPr>
          <p:cNvPr id="7" name="The chat window text"/>
          <p:cNvSpPr txBox="1"/>
          <p:nvPr/>
        </p:nvSpPr>
        <p:spPr>
          <a:xfrm>
            <a:off x="731520" y="2148840"/>
            <a:ext cx="3200400" cy="3749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Progress list while it works: story read → requirement → plan → files 2/4 → standards → review → done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Every agent step and tool call in a live log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Right panel: files with diff viewer, log, plan, quality tab (findings, scoring, evidence)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Download zip · Push to GitLab · Documentation switch (one-pager + slides)</a:t>
            </a:r>
            <a:endParaRPr lang="en-US" sz="1200" dirty="0"/>
          </a:p>
        </p:txBody>
      </p:sp>
      <p:sp>
        <p:nvSpPr>
          <p:cNvPr id="8" name="Control points card"/>
          <p:cNvSpPr/>
          <p:nvPr/>
        </p:nvSpPr>
        <p:spPr>
          <a:xfrm>
            <a:off x="4297680" y="1371600"/>
            <a:ext cx="3566160" cy="4663440"/>
          </a:xfrm>
          <a:prstGeom prst="roundRect">
            <a:avLst>
              <a:gd name="adj" fmla="val 3077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9" name="Control points circle"/>
          <p:cNvSpPr/>
          <p:nvPr/>
        </p:nvSpPr>
        <p:spPr>
          <a:xfrm>
            <a:off x="4480560" y="1554480"/>
            <a:ext cx="502920" cy="50292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pic>
        <p:nvPicPr>
          <p:cNvPr id="10" name="Control points 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1680210"/>
            <a:ext cx="251460" cy="251460"/>
          </a:xfrm>
          <a:prstGeom prst="rect">
            <a:avLst/>
          </a:prstGeom>
        </p:spPr>
      </p:pic>
      <p:sp>
        <p:nvSpPr>
          <p:cNvPr id="11" name="Control points heading"/>
          <p:cNvSpPr txBox="1"/>
          <p:nvPr/>
        </p:nvSpPr>
        <p:spPr>
          <a:xfrm>
            <a:off x="5120640" y="155448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Control points</a:t>
            </a:r>
            <a:endParaRPr lang="en-US" sz="1600" dirty="0"/>
          </a:p>
        </p:txBody>
      </p:sp>
      <p:sp>
        <p:nvSpPr>
          <p:cNvPr id="12" name="Control points text"/>
          <p:cNvSpPr txBox="1"/>
          <p:nvPr/>
        </p:nvSpPr>
        <p:spPr>
          <a:xfrm>
            <a:off x="4480560" y="2148840"/>
            <a:ext cx="3200400" cy="3749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A blocking question stops the run until you answer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Nothing is pushed without 'push' and 'yes'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Branches, not merges - the normal review happens in GitLab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'What is required' lists what only a person can confirm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Chat commands: show plan, diff &lt;file&gt;, review, regenerate, documentation on</a:t>
            </a:r>
            <a:endParaRPr lang="en-US" sz="1200" dirty="0"/>
          </a:p>
        </p:txBody>
      </p:sp>
      <p:sp>
        <p:nvSpPr>
          <p:cNvPr id="13" name="Typical timings card"/>
          <p:cNvSpPr/>
          <p:nvPr/>
        </p:nvSpPr>
        <p:spPr>
          <a:xfrm>
            <a:off x="8046720" y="1371600"/>
            <a:ext cx="3566160" cy="4663440"/>
          </a:xfrm>
          <a:prstGeom prst="roundRect">
            <a:avLst>
              <a:gd name="adj" fmla="val 3077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4" name="Typical timings circle"/>
          <p:cNvSpPr/>
          <p:nvPr/>
        </p:nvSpPr>
        <p:spPr>
          <a:xfrm>
            <a:off x="8229600" y="1554480"/>
            <a:ext cx="502920" cy="502920"/>
          </a:xfrm>
          <a:prstGeom prst="ellipse">
            <a:avLst/>
          </a:prstGeom>
          <a:solidFill>
            <a:srgbClr val="0E8C7F"/>
          </a:solidFill>
          <a:ln w="12700">
            <a:solidFill>
              <a:srgbClr val="0E8C7F"/>
            </a:solidFill>
            <a:prstDash val="solid"/>
          </a:ln>
        </p:spPr>
      </p:sp>
      <p:pic>
        <p:nvPicPr>
          <p:cNvPr id="15" name="Typical timings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330" y="1680210"/>
            <a:ext cx="251460" cy="251460"/>
          </a:xfrm>
          <a:prstGeom prst="rect">
            <a:avLst/>
          </a:prstGeom>
        </p:spPr>
      </p:pic>
      <p:sp>
        <p:nvSpPr>
          <p:cNvPr id="16" name="Typical timings heading"/>
          <p:cNvSpPr txBox="1"/>
          <p:nvPr/>
        </p:nvSpPr>
        <p:spPr>
          <a:xfrm>
            <a:off x="8869680" y="155448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Typical timings</a:t>
            </a:r>
            <a:endParaRPr lang="en-US" sz="1600" dirty="0"/>
          </a:p>
        </p:txBody>
      </p:sp>
      <p:sp>
        <p:nvSpPr>
          <p:cNvPr id="17" name="Typical timings text"/>
          <p:cNvSpPr txBox="1"/>
          <p:nvPr/>
        </p:nvSpPr>
        <p:spPr>
          <a:xfrm>
            <a:off x="8229600" y="2148840"/>
            <a:ext cx="3200400" cy="3749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Read + understand the story: 30-60 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Design: 1-2 min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Code: 1-2 min per file, independent files in parallel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Standards fix passes: seconds to 1 min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Review + fixes: 2-3 min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A 4-file story: about 6-10 minutes end to end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</a:rPr>
              <a:t>How we can improve it further</a:t>
            </a:r>
            <a:endParaRPr lang="en-US" sz="3200" dirty="0"/>
          </a:p>
        </p:txBody>
      </p:sp>
      <p:sp>
        <p:nvSpPr>
          <p:cNvPr id="3" name="imp 0 circle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4" name="imp 0 icon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1543050"/>
            <a:ext cx="251460" cy="251460"/>
          </a:xfrm>
          <a:prstGeom prst="rect">
            <a:avLst/>
          </a:prstGeom>
        </p:spPr>
      </p:pic>
      <p:sp>
        <p:nvSpPr>
          <p:cNvPr id="5" name="imp title 0"/>
          <p:cNvSpPr txBox="1"/>
          <p:nvPr/>
        </p:nvSpPr>
        <p:spPr>
          <a:xfrm>
            <a:off x="1234440" y="137160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Better stories, better code</a:t>
            </a:r>
            <a:endParaRPr lang="en-US" sz="1400" dirty="0"/>
          </a:p>
        </p:txBody>
      </p:sp>
      <p:sp>
        <p:nvSpPr>
          <p:cNvPr id="6" name="imp text 0"/>
          <p:cNvSpPr txBox="1"/>
          <p:nvPr/>
        </p:nvSpPr>
        <p:spPr>
          <a:xfrm>
            <a:off x="1234440" y="1691640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2A"/>
                </a:solidFill>
              </a:rPr>
              <a:t>a story template (sources, grain, keys, thresholds, draft SQL) - most 'Medium' confidence comes from gaps in the story</a:t>
            </a:r>
            <a:endParaRPr lang="en-US" sz="1150" dirty="0"/>
          </a:p>
        </p:txBody>
      </p:sp>
      <p:sp>
        <p:nvSpPr>
          <p:cNvPr id="7" name="imp 1 circle"/>
          <p:cNvSpPr/>
          <p:nvPr/>
        </p:nvSpPr>
        <p:spPr>
          <a:xfrm>
            <a:off x="6217920" y="1417320"/>
            <a:ext cx="502920" cy="502920"/>
          </a:xfrm>
          <a:prstGeom prst="ellipse">
            <a:avLst/>
          </a:prstGeom>
          <a:solidFill>
            <a:srgbClr val="0E8C7F"/>
          </a:solidFill>
          <a:ln w="12700">
            <a:solidFill>
              <a:srgbClr val="0E8C7F"/>
            </a:solidFill>
            <a:prstDash val="solid"/>
          </a:ln>
        </p:spPr>
      </p:sp>
      <p:pic>
        <p:nvPicPr>
          <p:cNvPr id="8" name="imp 1 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650" y="1543050"/>
            <a:ext cx="251460" cy="251460"/>
          </a:xfrm>
          <a:prstGeom prst="rect">
            <a:avLst/>
          </a:prstGeom>
        </p:spPr>
      </p:pic>
      <p:sp>
        <p:nvSpPr>
          <p:cNvPr id="9" name="imp title 1"/>
          <p:cNvSpPr txBox="1"/>
          <p:nvPr/>
        </p:nvSpPr>
        <p:spPr>
          <a:xfrm>
            <a:off x="6903720" y="137160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Run the validation queries</a:t>
            </a:r>
            <a:endParaRPr lang="en-US" sz="1400" dirty="0"/>
          </a:p>
        </p:txBody>
      </p:sp>
      <p:sp>
        <p:nvSpPr>
          <p:cNvPr id="10" name="imp text 1"/>
          <p:cNvSpPr txBox="1"/>
          <p:nvPr/>
        </p:nvSpPr>
        <p:spPr>
          <a:xfrm>
            <a:off x="6903720" y="1691640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2A"/>
                </a:solidFill>
              </a:rPr>
              <a:t>execute the plan's row-count / uniqueness / null-share checks in a sandbox schema and feed the results into the review</a:t>
            </a:r>
            <a:endParaRPr lang="en-US" sz="1150" dirty="0"/>
          </a:p>
        </p:txBody>
      </p:sp>
      <p:sp>
        <p:nvSpPr>
          <p:cNvPr id="11" name="imp 2 circle"/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pic>
        <p:nvPicPr>
          <p:cNvPr id="12" name="imp 2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2731770"/>
            <a:ext cx="251460" cy="251460"/>
          </a:xfrm>
          <a:prstGeom prst="rect">
            <a:avLst/>
          </a:prstGeom>
        </p:spPr>
      </p:pic>
      <p:sp>
        <p:nvSpPr>
          <p:cNvPr id="13" name="imp title 2"/>
          <p:cNvSpPr txBox="1"/>
          <p:nvPr/>
        </p:nvSpPr>
        <p:spPr>
          <a:xfrm>
            <a:off x="1234440" y="256032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Learn from every merge</a:t>
            </a:r>
            <a:endParaRPr lang="en-US" sz="1400" dirty="0"/>
          </a:p>
        </p:txBody>
      </p:sp>
      <p:sp>
        <p:nvSpPr>
          <p:cNvPr id="14" name="imp text 2"/>
          <p:cNvSpPr txBox="1"/>
          <p:nvPr/>
        </p:nvSpPr>
        <p:spPr>
          <a:xfrm>
            <a:off x="1234440" y="2880360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2A"/>
                </a:solidFill>
              </a:rPr>
              <a:t>compare the generated branch with what was finally merged; turn recurring corrections into rules or examples</a:t>
            </a:r>
            <a:endParaRPr lang="en-US" sz="1150" dirty="0"/>
          </a:p>
        </p:txBody>
      </p:sp>
      <p:sp>
        <p:nvSpPr>
          <p:cNvPr id="15" name="imp 3 circle"/>
          <p:cNvSpPr/>
          <p:nvPr/>
        </p:nvSpPr>
        <p:spPr>
          <a:xfrm>
            <a:off x="6217920" y="26060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6" name="imp 3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2731770"/>
            <a:ext cx="251460" cy="251460"/>
          </a:xfrm>
          <a:prstGeom prst="rect">
            <a:avLst/>
          </a:prstGeom>
        </p:spPr>
      </p:pic>
      <p:sp>
        <p:nvSpPr>
          <p:cNvPr id="17" name="imp title 3"/>
          <p:cNvSpPr txBox="1"/>
          <p:nvPr/>
        </p:nvSpPr>
        <p:spPr>
          <a:xfrm>
            <a:off x="6903720" y="256032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Richer metadata</a:t>
            </a:r>
            <a:endParaRPr lang="en-US" sz="1400" dirty="0"/>
          </a:p>
        </p:txBody>
      </p:sp>
      <p:sp>
        <p:nvSpPr>
          <p:cNvPr id="18" name="imp text 3"/>
          <p:cNvSpPr txBox="1"/>
          <p:nvPr/>
        </p:nvSpPr>
        <p:spPr>
          <a:xfrm>
            <a:off x="6903720" y="2880360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2A"/>
                </a:solidFill>
              </a:rPr>
              <a:t>sharper column descriptions and complete lineage raise retrieval accuracy for both the chatbot and the assistant</a:t>
            </a:r>
            <a:endParaRPr lang="en-US" sz="1150" dirty="0"/>
          </a:p>
        </p:txBody>
      </p:sp>
      <p:sp>
        <p:nvSpPr>
          <p:cNvPr id="19" name="imp 4 circle"/>
          <p:cNvSpPr/>
          <p:nvPr/>
        </p:nvSpPr>
        <p:spPr>
          <a:xfrm>
            <a:off x="548640" y="3794760"/>
            <a:ext cx="502920" cy="502920"/>
          </a:xfrm>
          <a:prstGeom prst="ellipse">
            <a:avLst/>
          </a:prstGeom>
          <a:solidFill>
            <a:srgbClr val="0E8C7F"/>
          </a:solidFill>
          <a:ln w="12700">
            <a:solidFill>
              <a:srgbClr val="0E8C7F"/>
            </a:solidFill>
            <a:prstDash val="solid"/>
          </a:ln>
        </p:spPr>
      </p:sp>
      <p:pic>
        <p:nvPicPr>
          <p:cNvPr id="20" name="imp 4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70" y="3920490"/>
            <a:ext cx="251460" cy="251460"/>
          </a:xfrm>
          <a:prstGeom prst="rect">
            <a:avLst/>
          </a:prstGeom>
        </p:spPr>
      </p:pic>
      <p:sp>
        <p:nvSpPr>
          <p:cNvPr id="21" name="imp title 4"/>
          <p:cNvSpPr txBox="1"/>
          <p:nvPr/>
        </p:nvSpPr>
        <p:spPr>
          <a:xfrm>
            <a:off x="1234440" y="374904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Test data and dry runs</a:t>
            </a:r>
            <a:endParaRPr lang="en-US" sz="1400" dirty="0"/>
          </a:p>
        </p:txBody>
      </p:sp>
      <p:sp>
        <p:nvSpPr>
          <p:cNvPr id="22" name="imp text 4"/>
          <p:cNvSpPr txBox="1"/>
          <p:nvPr/>
        </p:nvSpPr>
        <p:spPr>
          <a:xfrm>
            <a:off x="1234440" y="4069080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2A"/>
                </a:solidFill>
              </a:rPr>
              <a:t>run the generated SQL against a small sample schema before the reviewer sees it</a:t>
            </a:r>
            <a:endParaRPr lang="en-US" sz="1150" dirty="0"/>
          </a:p>
        </p:txBody>
      </p:sp>
      <p:sp>
        <p:nvSpPr>
          <p:cNvPr id="23" name="imp 5 circle"/>
          <p:cNvSpPr/>
          <p:nvPr/>
        </p:nvSpPr>
        <p:spPr>
          <a:xfrm>
            <a:off x="6217920" y="3794760"/>
            <a:ext cx="502920" cy="50292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pic>
        <p:nvPicPr>
          <p:cNvPr id="24" name="imp 5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3650" y="3920490"/>
            <a:ext cx="251460" cy="251460"/>
          </a:xfrm>
          <a:prstGeom prst="rect">
            <a:avLst/>
          </a:prstGeom>
        </p:spPr>
      </p:pic>
      <p:sp>
        <p:nvSpPr>
          <p:cNvPr id="25" name="imp title 5"/>
          <p:cNvSpPr txBox="1"/>
          <p:nvPr/>
        </p:nvSpPr>
        <p:spPr>
          <a:xfrm>
            <a:off x="6903720" y="374904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ODM depth</a:t>
            </a:r>
            <a:endParaRPr lang="en-US" sz="1400" dirty="0"/>
          </a:p>
        </p:txBody>
      </p:sp>
      <p:sp>
        <p:nvSpPr>
          <p:cNvPr id="26" name="imp text 5"/>
          <p:cNvSpPr txBox="1"/>
          <p:nvPr/>
        </p:nvSpPr>
        <p:spPr>
          <a:xfrm>
            <a:off x="6903720" y="4069080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2A"/>
                </a:solidFill>
              </a:rPr>
              <a:t>more worked examples of rule files per rule type; auto-maintain the task-name files</a:t>
            </a:r>
            <a:endParaRPr lang="en-US" sz="1150" dirty="0"/>
          </a:p>
        </p:txBody>
      </p:sp>
      <p:sp>
        <p:nvSpPr>
          <p:cNvPr id="27" name="imp 6 circle"/>
          <p:cNvSpPr/>
          <p:nvPr/>
        </p:nvSpPr>
        <p:spPr>
          <a:xfrm>
            <a:off x="548640" y="49834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8" name="imp 6 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370" y="5109210"/>
            <a:ext cx="251460" cy="251460"/>
          </a:xfrm>
          <a:prstGeom prst="rect">
            <a:avLst/>
          </a:prstGeom>
        </p:spPr>
      </p:pic>
      <p:sp>
        <p:nvSpPr>
          <p:cNvPr id="29" name="imp title 6"/>
          <p:cNvSpPr txBox="1"/>
          <p:nvPr/>
        </p:nvSpPr>
        <p:spPr>
          <a:xfrm>
            <a:off x="1234440" y="493776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Team feedback in the chat</a:t>
            </a:r>
            <a:endParaRPr lang="en-US" sz="1400" dirty="0"/>
          </a:p>
        </p:txBody>
      </p:sp>
      <p:sp>
        <p:nvSpPr>
          <p:cNvPr id="30" name="imp text 6"/>
          <p:cNvSpPr txBox="1"/>
          <p:nvPr/>
        </p:nvSpPr>
        <p:spPr>
          <a:xfrm>
            <a:off x="1234440" y="5257800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2A"/>
                </a:solidFill>
              </a:rPr>
              <a:t>thumbs up / down on a file with a reason, stored with the story, used to tune prompts and rules</a:t>
            </a:r>
            <a:endParaRPr lang="en-US" sz="1150" dirty="0"/>
          </a:p>
        </p:txBody>
      </p:sp>
      <p:sp>
        <p:nvSpPr>
          <p:cNvPr id="31" name="imp 7 circle"/>
          <p:cNvSpPr/>
          <p:nvPr/>
        </p:nvSpPr>
        <p:spPr>
          <a:xfrm>
            <a:off x="6217920" y="4983480"/>
            <a:ext cx="502920" cy="502920"/>
          </a:xfrm>
          <a:prstGeom prst="ellipse">
            <a:avLst/>
          </a:prstGeom>
          <a:solidFill>
            <a:srgbClr val="0E8C7F"/>
          </a:solidFill>
          <a:ln w="12700">
            <a:solidFill>
              <a:srgbClr val="0E8C7F"/>
            </a:solidFill>
            <a:prstDash val="solid"/>
          </a:ln>
        </p:spPr>
      </p:sp>
      <p:pic>
        <p:nvPicPr>
          <p:cNvPr id="32" name="imp 7 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3650" y="5109210"/>
            <a:ext cx="251460" cy="251460"/>
          </a:xfrm>
          <a:prstGeom prst="rect">
            <a:avLst/>
          </a:prstGeom>
        </p:spPr>
      </p:pic>
      <p:sp>
        <p:nvSpPr>
          <p:cNvPr id="33" name="imp title 7"/>
          <p:cNvSpPr txBox="1"/>
          <p:nvPr/>
        </p:nvSpPr>
        <p:spPr>
          <a:xfrm>
            <a:off x="6903720" y="493776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Multi-story and MR creation</a:t>
            </a:r>
            <a:endParaRPr lang="en-US" sz="1400" dirty="0"/>
          </a:p>
        </p:txBody>
      </p:sp>
      <p:sp>
        <p:nvSpPr>
          <p:cNvPr id="34" name="imp text 7"/>
          <p:cNvSpPr txBox="1"/>
          <p:nvPr/>
        </p:nvSpPr>
        <p:spPr>
          <a:xfrm>
            <a:off x="6903720" y="5257800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2A"/>
                </a:solidFill>
              </a:rPr>
              <a:t>open the merge request with the one-pager as description; handle epics with several stories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 story number in. Reviewed code and the evidence out.</a:t>
            </a:r>
            <a:endParaRPr lang="en-US" sz="44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731520" y="3474720"/>
            <a:ext cx="10698480" cy="146304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</a:rPr>
              <a:t>Agents understand and write · rules check · people decide</a:t>
            </a:r>
            <a:endParaRPr lang="en-US" sz="2000" dirty="0"/>
          </a:p>
        </p:txBody>
      </p:sp>
      <p:sp>
        <p:nvSpPr>
          <p:cNvPr id="4" name="closing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Demo: type 'story 1234' and watch the six steps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KG DevAssist">
  <a:themeElements>
    <a:clrScheme name="IKG DevAssist">
      <a:dk1>
        <a:srgbClr val="1B1F2A"/>
      </a:dk1>
      <a:lt1>
        <a:srgbClr val="FFFFFF"/>
      </a:lt1>
      <a:dk2>
        <a:srgbClr val="1E2761"/>
      </a:dk2>
      <a:lt2>
        <a:srgbClr val="EEF2FA"/>
      </a:lt2>
      <a:accent1>
        <a:srgbClr val="1E2761"/>
      </a:accent1>
      <a:accent2>
        <a:srgbClr val="0E8C7F"/>
      </a:accent2>
      <a:accent3>
        <a:srgbClr val="E07A1F"/>
      </a:accent3>
      <a:accent4>
        <a:srgbClr val="CADCFC"/>
      </a:accent4>
      <a:accent5>
        <a:srgbClr val="6B7280"/>
      </a:accent5>
      <a:accent6>
        <a:srgbClr val="C0392B"/>
      </a:accent6>
      <a:hlink>
        <a:srgbClr val="0E8C7F"/>
      </a:hlink>
      <a:folHlink>
        <a:srgbClr val="6B7280"/>
      </a:folHlink>
    </a:clrScheme>
    <a:fontScheme name="IKG DevAssis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KG DevAssist">
  <a:themeElements>
    <a:clrScheme name="IKG DevAssist">
      <a:dk1>
        <a:srgbClr val="1B1F2A"/>
      </a:dk1>
      <a:lt1>
        <a:srgbClr val="FFFFFF"/>
      </a:lt1>
      <a:dk2>
        <a:srgbClr val="1E2761"/>
      </a:dk2>
      <a:lt2>
        <a:srgbClr val="EEF2FA"/>
      </a:lt2>
      <a:accent1>
        <a:srgbClr val="1E2761"/>
      </a:accent1>
      <a:accent2>
        <a:srgbClr val="0E8C7F"/>
      </a:accent2>
      <a:accent3>
        <a:srgbClr val="E07A1F"/>
      </a:accent3>
      <a:accent4>
        <a:srgbClr val="CADCFC"/>
      </a:accent4>
      <a:accent5>
        <a:srgbClr val="6B7280"/>
      </a:accent5>
      <a:accent6>
        <a:srgbClr val="C0392B"/>
      </a:accent6>
      <a:hlink>
        <a:srgbClr val="0E8C7F"/>
      </a:hlink>
      <a:folHlink>
        <a:srgbClr val="6B7280"/>
      </a:folHlink>
    </a:clrScheme>
    <a:fontScheme name="IKG DevAssis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11824</Words>
  <Application>WPS Presentation</Application>
  <PresentationFormat>On-screen Show (16:9)</PresentationFormat>
  <Paragraphs>349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SimSun</vt:lpstr>
      <vt:lpstr>Wingdings</vt:lpstr>
      <vt:lpstr>Courier New</vt:lpstr>
      <vt:lpstr>Courier New</vt:lpstr>
      <vt:lpstr>Courier New</vt:lpstr>
      <vt:lpstr>Cambria</vt:lpstr>
      <vt:lpstr>Calibri</vt:lpstr>
      <vt:lpstr>Microsoft YaHei</vt:lpstr>
      <vt:lpstr>Arial Unicode MS</vt:lpstr>
      <vt:lpstr>IKG DevAssist</vt:lpstr>
      <vt:lpstr>IKG-ODM Development Assistant</vt:lpstr>
      <vt:lpstr>What it does: a story number in, reviewed code out</vt:lpstr>
      <vt:lpstr>How it works: six steps, like a careful developer</vt:lpstr>
      <vt:lpstr>Where the LLM is used, where it is not</vt:lpstr>
      <vt:lpstr>What an 'agent' is here: a model with tools and a contract</vt:lpstr>
      <vt:lpstr>Step 1 - Analyse: turning a story into a precise requirement</vt:lpstr>
      <vt:lpstr>Step 2 - Design: the plan, with one simplicity rule</vt:lpstr>
      <vt:lpstr>Step 3 - Code: copy the pattern, verify every input</vt:lpstr>
      <vt:lpstr>Steps 4-5 - Check by rules, then a second opinion</vt:lpstr>
      <vt:lpstr>Key inputs: what the assistant reads</vt:lpstr>
      <vt:lpstr>What you see in the demo, and where people stay in control</vt:lpstr>
      <vt:lpstr>How we can improve it further</vt:lpstr>
      <vt:lpstr>A story number in. Reviewed code and the evidence out.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IKG-ODM Development Assistant</dc:title>
  <dc:creator>Data Science</dc:creator>
  <dc:subject>PptxGenJS Presentation</dc:subject>
  <cp:lastModifiedBy>WPS_1767481519</cp:lastModifiedBy>
  <cp:revision>3</cp:revision>
  <dcterms:created xsi:type="dcterms:W3CDTF">2026-10-10T15:36:00Z</dcterms:created>
  <dcterms:modified xsi:type="dcterms:W3CDTF">2026-10-10T16:14:26Z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52B1BB877605487999A318C2A7C7B804_13</vt:lpwstr>
  </property>
</Properties>
</file>