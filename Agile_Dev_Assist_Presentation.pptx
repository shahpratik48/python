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0" r:id="rId31"/>
    <p:sldId id="257" r:id="rId3"/>
    <p:sldId id="258" r:id="rId4"/>
    <p:sldId id="259" r:id="rId5"/>
    <p:sldId id="281" r:id="rId32"/>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2" r:id="rId33"/>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2795f88-caf4-f5a6-fae4-8ef4632b1adf}">
          <p14:sldIdLst>
            <p14:sldId id="256"/>
            <p14:sldId id="257"/>
          </p14:sldIdLst>
        </p14:section>
        <p14:section name="The idea" id="{741cbab1-f566-cf13-1c46-ab51231c6910}">
          <p14:sldIdLst>
            <p14:sldId id="258"/>
            <p14:sldId id="259"/>
            <p14:sldId id="260"/>
          </p14:sldIdLst>
        </p14:section>
        <p14:section name="Inputs and tools" id="{c2028dff-7a54-b829-eebc-a5b101181fb7}">
          <p14:sldIdLst>
            <p14:sldId id="261"/>
            <p14:sldId id="262"/>
          </p14:sldIdLst>
        </p14:section>
        <p14:section name="Agents" id="{fbc006ce-a83a-3f4b-db1e-457bad4535da}">
          <p14:sldIdLst>
            <p14:sldId id="263"/>
            <p14:sldId id="264"/>
            <p14:sldId id="265"/>
            <p14:sldId id="266"/>
            <p14:sldId id="267"/>
            <p14:sldId id="268"/>
            <p14:sldId id="269"/>
            <p14:sldId id="270"/>
          </p14:sldIdLst>
        </p14:section>
        <p14:section name="How it decides" id="{3d7cae29-ad3a-8263-0937-38bb9e5a6d0e}">
          <p14:sldIdLst>
            <p14:sldId id="271"/>
            <p14:sldId id="272"/>
          </p14:sldIdLst>
        </p14:section>
        <p14:section name="Trust" id="{b829f28b-bd75-6197-2071-2f919d7c8a81}">
          <p14:sldIdLst>
            <p14:sldId id="273"/>
            <p14:sldId id="274"/>
            <p14:sldId id="275"/>
            <p14:sldId id="276"/>
          </p14:sldIdLst>
        </p14:section>
        <p14:section name="Demo" id="{64154b10-2ee6-e80e-290d-e1becc37a4ab}">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1. One sentence to remember: the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1. The cost is in context, not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2. This is the slide for the non-technical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Layman slide: each input becomes a fact sheet; the planner is the design review; the rest is build 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4, last paragraph. Grounding is the key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in one slide. The reviewer later checks the same things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only AI calls happen in the agent layer; every other layer is ordinary code. The rule that ties it together: the AI proposes, deterministic code verifies.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is RAG - retrieval-augmented - but exact retrieval, because the targets are identifiers. A vector store is a contained addition for prose wikis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briefing. Context pack = the briefing written down, produced once by the readers. Two caches: ours stores finished reader results (0 calls next time); Azure's stores identical prompt prefixes (tenth of the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token kinds and one dollar figure. Cached is the biggest number and the cheapest. Most spend is the planner loop and the review fixes - fewer planner rounds =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5, last paragraph. The honest history: the first run produced one file; the log told us why; both causes are now deterministic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6, first two paragraphs.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6, last paragraph. Example from the self-test: 40% x 100 + 35% x 92 + 25% x 86.7 = 94,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arithmetic once; then show that a single open high finding caps the score, which is the point: an average must not hide a real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10881360" cy="1371600"/>
          </a:xfrm>
          <a:prstGeom prst="rect">
            <a:avLst/>
          </a:prstGeom>
          <a:noFill/>
          <a:ln/>
        </p:spPr>
        <p:txBody>
          <a:bodyPr wrap="square" rtlCol="0"/>
          <a:lstStyle>
            <a:lvl1pPr algn="l" indent="0" marL="0">
              <a:buNone/>
              <a:defRPr lang="en-US" sz="4200" b="1" dirty="0">
                <a:solidFill>
                  <a:srgbClr val="FFFFFF"/>
                </a:solidFill>
              </a:defRPr>
            </a:lvl1pPr>
          </a:lstStyle>
          <a:p>
            <a:pPr algn="l" indent="0" marL="0">
              <a:buNone/>
            </a:pPr>
            <a:endParaRPr lang="en-US" sz="4200" dirty="0"/>
          </a:p>
        </p:txBody>
      </p:sp>
      <p:sp>
        <p:nvSpPr>
          <p:cNvPr id="3" name="Text 0"/>
          <p:cNvSpPr/>
          <p:nvPr>
            <p:ph idx="101" type="body" hasCustomPrompt="1"/>
          </p:nvPr>
        </p:nvSpPr>
        <p:spPr>
          <a:xfrm>
            <a:off x="640080" y="3566160"/>
            <a:ext cx="10881360" cy="1463040"/>
          </a:xfrm>
          <a:prstGeom prst="rect">
            <a:avLst/>
          </a:prstGeom>
          <a:noFill/>
          <a:ln/>
        </p:spPr>
        <p:txBody>
          <a:bodyPr wrap="square" rtlCol="0"/>
          <a:lstStyle>
            <a:lvl1pPr algn="l" indent="0" marL="0">
              <a:buNone/>
              <a:defRPr lang="en-US" sz="2000" dirty="0">
                <a:solidFill>
                  <a:srgbClr val="CDD0E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000" b="1" dirty="0">
                <a:solidFill>
                  <a:srgbClr val="1B1F3B"/>
                </a:solidFill>
              </a:defRPr>
            </a:lvl1pPr>
          </a:lstStyle>
          <a:p>
            <a:pPr algn="l" indent="0" marL="0">
              <a:buNone/>
            </a:pPr>
            <a:endParaRPr lang="en-US" sz="3000" dirty="0"/>
          </a:p>
        </p:txBody>
      </p:sp>
      <p:sp>
        <p:nvSpPr>
          <p:cNvPr id="3" name="Text 0"/>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9AA0BF"/>
                </a:solidFill>
              </a:rPr>
              <a:t>Agile Dev Assist</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6C5CE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377440"/>
            <a:ext cx="10881360" cy="109728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640080" y="3566160"/>
            <a:ext cx="10881360" cy="1097280"/>
          </a:xfrm>
          <a:prstGeom prst="rect">
            <a:avLst/>
          </a:prstGeom>
          <a:noFill/>
          <a:ln/>
        </p:spPr>
        <p:txBody>
          <a:bodyPr wrap="square" rtlCol="0"/>
          <a:lstStyle>
            <a:lvl1pPr algn="l" indent="0" marL="0">
              <a:buNone/>
              <a:defRPr lang="en-US" sz="1800" dirty="0">
                <a:solidFill>
                  <a:srgbClr val="ECEAFF"/>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778240" y="-1097280"/>
            <a:ext cx="4754880" cy="4754880"/>
          </a:xfrm>
          <a:prstGeom prst="ellipse">
            <a:avLst/>
          </a:prstGeom>
          <a:solidFill>
            <a:srgbClr val="6C5CE7">
              <a:alpha val="25000"/>
            </a:srgbClr>
          </a:solidFill>
          <a:ln w="12700">
            <a:solidFill>
              <a:srgbClr val="6C5CE7">
                <a:alpha val="25000"/>
              </a:srgbClr>
            </a:solidFill>
            <a:prstDash val="solid"/>
          </a:ln>
        </p:spPr>
      </p:sp>
      <p:sp>
        <p:nvSpPr>
          <p:cNvPr id="3" name="Shape 1"/>
          <p:cNvSpPr/>
          <p:nvPr/>
        </p:nvSpPr>
        <p:spPr>
          <a:xfrm>
            <a:off x="10241280" y="1463040"/>
            <a:ext cx="3108960" cy="3108960"/>
          </a:xfrm>
          <a:prstGeom prst="ellipse">
            <a:avLst/>
          </a:prstGeom>
          <a:solidFill>
            <a:srgbClr val="22B8CF">
              <a:alpha val="30000"/>
            </a:srgbClr>
          </a:solidFill>
          <a:ln w="12700">
            <a:solidFill>
              <a:srgbClr val="22B8CF">
                <a:alpha val="30000"/>
              </a:srgbClr>
            </a:solidFill>
            <a:prstDash val="solid"/>
          </a:ln>
        </p:spPr>
      </p:sp>
      <p:sp>
        <p:nvSpPr>
          <p:cNvPr id="4" name="Text 2"/>
          <p:cNvSpPr txBox="1"/>
          <p:nvPr/>
        </p:nvSpPr>
        <p:spPr>
          <a:xfrm>
            <a:off x="640080" y="1463040"/>
            <a:ext cx="7315200" cy="365760"/>
          </a:xfrm>
          <a:prstGeom prst="rect">
            <a:avLst/>
          </a:prstGeom>
          <a:noFill/>
          <a:ln/>
        </p:spPr>
        <p:txBody>
          <a:bodyPr wrap="square" lIns="0" tIns="0" rIns="0" bIns="0" rtlCol="0" anchor="t"/>
          <a:lstStyle/>
          <a:p>
            <a:pPr indent="0" marL="0">
              <a:buNone/>
            </a:pPr>
            <a:r>
              <a:rPr lang="en-US" sz="1400" b="1" spc="400" kern="0" dirty="0">
                <a:solidFill>
                  <a:srgbClr val="22B8CF"/>
                </a:solidFill>
              </a:rPr>
              <a:t>AGILE DEV ASSIST</a:t>
            </a:r>
            <a:endParaRPr lang="en-US" sz="1400" dirty="0"/>
          </a:p>
        </p:txBody>
      </p:sp>
      <p:sp>
        <p:nvSpPr>
          <p:cNvPr id="5" name="Text 0"/>
          <p:cNvSpPr/>
          <p:nvPr>
            <p:ph idx="100" type="title" hasCustomPrompt="1"/>
          </p:nvPr>
        </p:nvSpPr>
        <p:spPr>
          <a:xfrm>
            <a:off x="640080" y="2103120"/>
            <a:ext cx="10881360" cy="1371600"/>
          </a:xfrm>
          <a:prstGeom prst="rect">
            <a:avLst/>
          </a:prstGeom>
          <a:noFill/>
          <a:ln/>
        </p:spPr>
        <p:txBody>
          <a:bodyPr wrap="square" lIns="0" tIns="0" rIns="0" bIns="0" rtlCol="0"/>
          <a:lstStyle/>
          <a:p>
            <a:pPr algn="l" indent="0" marL="0">
              <a:buNone/>
            </a:pPr>
            <a:r>
              <a:rPr lang="en-US" sz="4200" b="1" dirty="0">
                <a:solidFill>
                  <a:srgbClr val="FFFFFF"/>
                </a:solidFill>
              </a:rPr>
              <a:t>From user story to reviewed, repository-ready code in minutes</a:t>
            </a:r>
            <a:endParaRPr lang="en-US" sz="4200" dirty="0"/>
          </a:p>
        </p:txBody>
      </p:sp>
      <p:sp>
        <p:nvSpPr>
          <p:cNvPr id="6" name="Text 0"/>
          <p:cNvSpPr/>
          <p:nvPr>
            <p:ph idx="101" type="body" hasCustomPrompt="1"/>
          </p:nvPr>
        </p:nvSpPr>
        <p:spPr>
          <a:xfrm>
            <a:off x="640080" y="3566160"/>
            <a:ext cx="10881360" cy="1463040"/>
          </a:xfrm>
          <a:prstGeom prst="rect">
            <a:avLst/>
          </a:prstGeom>
          <a:noFill/>
          <a:ln/>
        </p:spPr>
        <p:txBody>
          <a:bodyPr wrap="square" lIns="0" tIns="0" rIns="0" bIns="0" rtlCol="0"/>
          <a:lstStyle/>
          <a:p>
            <a:pPr algn="l" indent="0" marL="0">
              <a:buNone/>
            </a:pPr>
            <a:r>
              <a:rPr lang="en-US" sz="2000" dirty="0">
                <a:solidFill>
                  <a:srgbClr val="CDD0E6"/>
                </a:solidFill>
              </a:rPr>
              <a:t>How a team of AI agents onboards an expert model to our applications - and why you can trust what comes out</a:t>
            </a:r>
            <a:endParaRPr lang="en-US" sz="2000" dirty="0"/>
          </a:p>
        </p:txBody>
      </p:sp>
      <p:sp>
        <p:nvSpPr>
          <p:cNvPr id="7" name="Text 5"/>
          <p:cNvSpPr txBox="1"/>
          <p:nvPr/>
        </p:nvSpPr>
        <p:spPr>
          <a:xfrm>
            <a:off x="640080" y="6035040"/>
            <a:ext cx="7315200" cy="365760"/>
          </a:xfrm>
          <a:prstGeom prst="rect">
            <a:avLst/>
          </a:prstGeom>
          <a:noFill/>
          <a:ln/>
        </p:spPr>
        <p:txBody>
          <a:bodyPr wrap="square" lIns="0" tIns="0" rIns="0" bIns="0" rtlCol="0" anchor="t"/>
          <a:lstStyle/>
          <a:p>
            <a:pPr indent="0" marL="0">
              <a:buNone/>
            </a:pPr>
            <a:r>
              <a:rPr lang="en-US" sz="1200" dirty="0">
                <a:solidFill>
                  <a:srgbClr val="9AA0BF"/>
                </a:solidFill>
              </a:rPr>
              <a:t>IKG / STAAT Insights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A small story costs a developer 1-2 days, and most of it is not typing</a:t>
            </a:r>
            <a:endParaRPr lang="en-US" sz="3000" dirty="0"/>
          </a:p>
        </p:txBody>
      </p:sp>
      <p:sp>
        <p:nvSpPr>
          <p:cNvPr id="3" name="Text 1"/>
          <p:cNvSpPr txBox="1"/>
          <p:nvPr/>
        </p:nvSpPr>
        <p:spPr>
          <a:xfrm>
            <a:off x="640080" y="1463040"/>
            <a:ext cx="3291840" cy="822960"/>
          </a:xfrm>
          <a:prstGeom prst="rect">
            <a:avLst/>
          </a:prstGeom>
          <a:noFill/>
          <a:ln/>
        </p:spPr>
        <p:txBody>
          <a:bodyPr wrap="square" lIns="0" tIns="0" rIns="0" bIns="0" rtlCol="0" anchor="t"/>
          <a:lstStyle/>
          <a:p>
            <a:pPr indent="0" marL="0">
              <a:buNone/>
            </a:pPr>
            <a:r>
              <a:rPr lang="en-US" sz="4400" b="1" dirty="0">
                <a:solidFill>
                  <a:srgbClr val="6C5CE7"/>
                </a:solidFill>
                <a:latin typeface="Cambria" pitchFamily="34" charset="0"/>
                <a:ea typeface="Cambria" pitchFamily="34" charset="-122"/>
                <a:cs typeface="Cambria" pitchFamily="34" charset="-120"/>
              </a:rPr>
              <a:t>1-2 days</a:t>
            </a:r>
            <a:endParaRPr lang="en-US" sz="4400" dirty="0"/>
          </a:p>
        </p:txBody>
      </p:sp>
      <p:sp>
        <p:nvSpPr>
          <p:cNvPr id="4" name="Text 2"/>
          <p:cNvSpPr txBox="1"/>
          <p:nvPr/>
        </p:nvSpPr>
        <p:spPr>
          <a:xfrm>
            <a:off x="640080" y="2331720"/>
            <a:ext cx="3291840" cy="640080"/>
          </a:xfrm>
          <a:prstGeom prst="rect">
            <a:avLst/>
          </a:prstGeom>
          <a:noFill/>
          <a:ln/>
        </p:spPr>
        <p:txBody>
          <a:bodyPr wrap="square" lIns="0" tIns="0" rIns="0" bIns="0" rtlCol="0" anchor="t"/>
          <a:lstStyle/>
          <a:p>
            <a:pPr indent="0" marL="0">
              <a:buNone/>
            </a:pPr>
            <a:r>
              <a:rPr lang="en-US" sz="1300" dirty="0">
                <a:solidFill>
                  <a:srgbClr val="4A4F6B"/>
                </a:solidFill>
              </a:rPr>
              <a:t>from ticket to a branch a reviewer would accept</a:t>
            </a:r>
            <a:endParaRPr lang="en-US" sz="1300" dirty="0"/>
          </a:p>
        </p:txBody>
      </p:sp>
      <p:sp>
        <p:nvSpPr>
          <p:cNvPr id="5" name="Text 3"/>
          <p:cNvSpPr txBox="1"/>
          <p:nvPr/>
        </p:nvSpPr>
        <p:spPr>
          <a:xfrm>
            <a:off x="4297680" y="1463040"/>
            <a:ext cx="3291840" cy="822960"/>
          </a:xfrm>
          <a:prstGeom prst="rect">
            <a:avLst/>
          </a:prstGeom>
          <a:noFill/>
          <a:ln/>
        </p:spPr>
        <p:txBody>
          <a:bodyPr wrap="square" lIns="0" tIns="0" rIns="0" bIns="0" rtlCol="0" anchor="t"/>
          <a:lstStyle/>
          <a:p>
            <a:pPr indent="0" marL="0">
              <a:buNone/>
            </a:pPr>
            <a:r>
              <a:rPr lang="en-US" sz="4400" b="1" dirty="0">
                <a:solidFill>
                  <a:srgbClr val="6C5CE7"/>
                </a:solidFill>
                <a:latin typeface="Cambria" pitchFamily="34" charset="0"/>
                <a:ea typeface="Cambria" pitchFamily="34" charset="-122"/>
                <a:cs typeface="Cambria" pitchFamily="34" charset="-120"/>
              </a:rPr>
              <a:t>~2 hours</a:t>
            </a:r>
            <a:endParaRPr lang="en-US" sz="4400" dirty="0"/>
          </a:p>
        </p:txBody>
      </p:sp>
      <p:sp>
        <p:nvSpPr>
          <p:cNvPr id="6" name="Text 4"/>
          <p:cNvSpPr txBox="1"/>
          <p:nvPr/>
        </p:nvSpPr>
        <p:spPr>
          <a:xfrm>
            <a:off x="4297680" y="2331720"/>
            <a:ext cx="3291840" cy="640080"/>
          </a:xfrm>
          <a:prstGeom prst="rect">
            <a:avLst/>
          </a:prstGeom>
          <a:noFill/>
          <a:ln/>
        </p:spPr>
        <p:txBody>
          <a:bodyPr wrap="square" lIns="0" tIns="0" rIns="0" bIns="0" rtlCol="0" anchor="t"/>
          <a:lstStyle/>
          <a:p>
            <a:pPr indent="0" marL="0">
              <a:buNone/>
            </a:pPr>
            <a:r>
              <a:rPr lang="en-US" sz="1300" dirty="0">
                <a:solidFill>
                  <a:srgbClr val="4A4F6B"/>
                </a:solidFill>
              </a:rPr>
              <a:t>of that is writing code</a:t>
            </a:r>
            <a:endParaRPr lang="en-US" sz="1300" dirty="0"/>
          </a:p>
        </p:txBody>
      </p:sp>
      <p:sp>
        <p:nvSpPr>
          <p:cNvPr id="7" name="Text 5"/>
          <p:cNvSpPr txBox="1"/>
          <p:nvPr/>
        </p:nvSpPr>
        <p:spPr>
          <a:xfrm>
            <a:off x="7955280" y="1463040"/>
            <a:ext cx="3566160" cy="822960"/>
          </a:xfrm>
          <a:prstGeom prst="rect">
            <a:avLst/>
          </a:prstGeom>
          <a:noFill/>
          <a:ln/>
        </p:spPr>
        <p:txBody>
          <a:bodyPr wrap="square" lIns="0" tIns="0" rIns="0" bIns="0" rtlCol="0" anchor="t"/>
          <a:lstStyle/>
          <a:p>
            <a:pPr indent="0" marL="0">
              <a:buNone/>
            </a:pPr>
            <a:r>
              <a:rPr lang="en-US" sz="4400" b="1" dirty="0">
                <a:solidFill>
                  <a:srgbClr val="D94C4C"/>
                </a:solidFill>
                <a:latin typeface="Cambria" pitchFamily="34" charset="0"/>
                <a:ea typeface="Cambria" pitchFamily="34" charset="-122"/>
                <a:cs typeface="Cambria" pitchFamily="34" charset="-120"/>
              </a:rPr>
              <a:t>#1 defect</a:t>
            </a:r>
            <a:endParaRPr lang="en-US" sz="4400" dirty="0"/>
          </a:p>
        </p:txBody>
      </p:sp>
      <p:sp>
        <p:nvSpPr>
          <p:cNvPr id="8" name="Text 6"/>
          <p:cNvSpPr txBox="1"/>
          <p:nvPr/>
        </p:nvSpPr>
        <p:spPr>
          <a:xfrm>
            <a:off x="7955280" y="2331720"/>
            <a:ext cx="3566160" cy="640080"/>
          </a:xfrm>
          <a:prstGeom prst="rect">
            <a:avLst/>
          </a:prstGeom>
          <a:noFill/>
          <a:ln/>
        </p:spPr>
        <p:txBody>
          <a:bodyPr wrap="square" lIns="0" tIns="0" rIns="0" bIns="0" rtlCol="0" anchor="t"/>
          <a:lstStyle/>
          <a:p>
            <a:pPr indent="0" marL="0">
              <a:buNone/>
            </a:pPr>
            <a:r>
              <a:rPr lang="en-US" sz="1300" dirty="0">
                <a:solidFill>
                  <a:srgbClr val="4A4F6B"/>
                </a:solidFill>
              </a:rPr>
              <a:t>the forgotten companion: a script that never runs, an archive that breaks</a:t>
            </a:r>
            <a:endParaRPr lang="en-US" sz="1300" dirty="0"/>
          </a:p>
        </p:txBody>
      </p:sp>
      <p:sp>
        <p:nvSpPr>
          <p:cNvPr id="9" name="Shape 7"/>
          <p:cNvSpPr/>
          <p:nvPr/>
        </p:nvSpPr>
        <p:spPr>
          <a:xfrm>
            <a:off x="640080" y="3840480"/>
            <a:ext cx="1920240" cy="685800"/>
          </a:xfrm>
          <a:prstGeom prst="chevron">
            <a:avLst/>
          </a:prstGeom>
          <a:solidFill>
            <a:srgbClr val="22B8CF"/>
          </a:solidFill>
          <a:ln w="12700">
            <a:solidFill>
              <a:srgbClr val="22B8CF"/>
            </a:solidFill>
            <a:prstDash val="solid"/>
          </a:ln>
        </p:spPr>
      </p:sp>
      <p:sp>
        <p:nvSpPr>
          <p:cNvPr id="10" name="Text 8"/>
          <p:cNvSpPr txBox="1"/>
          <p:nvPr/>
        </p:nvSpPr>
        <p:spPr>
          <a:xfrm>
            <a:off x="868680" y="3840480"/>
            <a:ext cx="1463040" cy="6858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9"/>
          <p:cNvSpPr txBox="1"/>
          <p:nvPr/>
        </p:nvSpPr>
        <p:spPr>
          <a:xfrm>
            <a:off x="685800" y="4617720"/>
            <a:ext cx="1783080" cy="1005840"/>
          </a:xfrm>
          <a:prstGeom prst="rect">
            <a:avLst/>
          </a:prstGeom>
          <a:noFill/>
          <a:ln/>
        </p:spPr>
        <p:txBody>
          <a:bodyPr wrap="square" lIns="0" tIns="0" rIns="0" bIns="0" rtlCol="0" anchor="t"/>
          <a:lstStyle/>
          <a:p>
            <a:pPr indent="0" marL="0">
              <a:buNone/>
            </a:pPr>
            <a:r>
              <a:rPr lang="en-US" sz="1200" dirty="0">
                <a:solidFill>
                  <a:srgbClr val="4A4F6B"/>
                </a:solidFill>
              </a:rPr>
              <a:t>Read the story and the SQL in it</a:t>
            </a:r>
            <a:endParaRPr lang="en-US" sz="1200" dirty="0"/>
          </a:p>
        </p:txBody>
      </p:sp>
      <p:sp>
        <p:nvSpPr>
          <p:cNvPr id="12" name="Shape 10"/>
          <p:cNvSpPr/>
          <p:nvPr/>
        </p:nvSpPr>
        <p:spPr>
          <a:xfrm>
            <a:off x="2514600" y="3840480"/>
            <a:ext cx="1920240" cy="685800"/>
          </a:xfrm>
          <a:prstGeom prst="chevron">
            <a:avLst/>
          </a:prstGeom>
          <a:solidFill>
            <a:srgbClr val="22B8CF"/>
          </a:solidFill>
          <a:ln w="12700">
            <a:solidFill>
              <a:srgbClr val="22B8CF"/>
            </a:solidFill>
            <a:prstDash val="solid"/>
          </a:ln>
        </p:spPr>
      </p:sp>
      <p:sp>
        <p:nvSpPr>
          <p:cNvPr id="13" name="Text 11"/>
          <p:cNvSpPr txBox="1"/>
          <p:nvPr/>
        </p:nvSpPr>
        <p:spPr>
          <a:xfrm>
            <a:off x="2743200" y="3840480"/>
            <a:ext cx="1463040" cy="6858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2"/>
          <p:cNvSpPr txBox="1"/>
          <p:nvPr/>
        </p:nvSpPr>
        <p:spPr>
          <a:xfrm>
            <a:off x="2560320" y="4617720"/>
            <a:ext cx="1783080" cy="1005840"/>
          </a:xfrm>
          <a:prstGeom prst="rect">
            <a:avLst/>
          </a:prstGeom>
          <a:noFill/>
          <a:ln/>
        </p:spPr>
        <p:txBody>
          <a:bodyPr wrap="square" lIns="0" tIns="0" rIns="0" bIns="0" rtlCol="0" anchor="t"/>
          <a:lstStyle/>
          <a:p>
            <a:pPr indent="0" marL="0">
              <a:buNone/>
            </a:pPr>
            <a:r>
              <a:rPr lang="en-US" sz="1200" dirty="0">
                <a:solidFill>
                  <a:srgbClr val="4A4F6B"/>
                </a:solidFill>
              </a:rPr>
              <a:t>Find the folder and a file to imitate</a:t>
            </a:r>
            <a:endParaRPr lang="en-US" sz="1200" dirty="0"/>
          </a:p>
        </p:txBody>
      </p:sp>
      <p:sp>
        <p:nvSpPr>
          <p:cNvPr id="15" name="Shape 13"/>
          <p:cNvSpPr/>
          <p:nvPr/>
        </p:nvSpPr>
        <p:spPr>
          <a:xfrm>
            <a:off x="4389120" y="3840480"/>
            <a:ext cx="1920240" cy="685800"/>
          </a:xfrm>
          <a:prstGeom prst="chevron">
            <a:avLst/>
          </a:prstGeom>
          <a:solidFill>
            <a:srgbClr val="22B8CF"/>
          </a:solidFill>
          <a:ln w="12700">
            <a:solidFill>
              <a:srgbClr val="22B8CF"/>
            </a:solidFill>
            <a:prstDash val="solid"/>
          </a:ln>
        </p:spPr>
      </p:sp>
      <p:sp>
        <p:nvSpPr>
          <p:cNvPr id="16" name="Text 14"/>
          <p:cNvSpPr txBox="1"/>
          <p:nvPr/>
        </p:nvSpPr>
        <p:spPr>
          <a:xfrm>
            <a:off x="4617720" y="3840480"/>
            <a:ext cx="1463040" cy="6858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4434840" y="4617720"/>
            <a:ext cx="1783080" cy="1005840"/>
          </a:xfrm>
          <a:prstGeom prst="rect">
            <a:avLst/>
          </a:prstGeom>
          <a:noFill/>
          <a:ln/>
        </p:spPr>
        <p:txBody>
          <a:bodyPr wrap="square" lIns="0" tIns="0" rIns="0" bIns="0" rtlCol="0" anchor="t"/>
          <a:lstStyle/>
          <a:p>
            <a:pPr indent="0" marL="0">
              <a:buNone/>
            </a:pPr>
            <a:r>
              <a:rPr lang="en-US" sz="1200" dirty="0">
                <a:solidFill>
                  <a:srgbClr val="4A4F6B"/>
                </a:solidFill>
              </a:rPr>
              <a:t>Understand the tables and the glossary</a:t>
            </a:r>
            <a:endParaRPr lang="en-US" sz="1200" dirty="0"/>
          </a:p>
        </p:txBody>
      </p:sp>
      <p:sp>
        <p:nvSpPr>
          <p:cNvPr id="18" name="Shape 16"/>
          <p:cNvSpPr/>
          <p:nvPr/>
        </p:nvSpPr>
        <p:spPr>
          <a:xfrm>
            <a:off x="6263640" y="3840480"/>
            <a:ext cx="1920240" cy="685800"/>
          </a:xfrm>
          <a:prstGeom prst="chevron">
            <a:avLst/>
          </a:prstGeom>
          <a:solidFill>
            <a:srgbClr val="6C5CE7"/>
          </a:solidFill>
          <a:ln w="12700">
            <a:solidFill>
              <a:srgbClr val="6C5CE7"/>
            </a:solidFill>
            <a:prstDash val="solid"/>
          </a:ln>
        </p:spPr>
      </p:sp>
      <p:sp>
        <p:nvSpPr>
          <p:cNvPr id="19" name="Text 17"/>
          <p:cNvSpPr txBox="1"/>
          <p:nvPr/>
        </p:nvSpPr>
        <p:spPr>
          <a:xfrm>
            <a:off x="6492240" y="3840480"/>
            <a:ext cx="1463040" cy="6858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0" name="Text 18"/>
          <p:cNvSpPr txBox="1"/>
          <p:nvPr/>
        </p:nvSpPr>
        <p:spPr>
          <a:xfrm>
            <a:off x="6309360" y="4617720"/>
            <a:ext cx="1783080" cy="1005840"/>
          </a:xfrm>
          <a:prstGeom prst="rect">
            <a:avLst/>
          </a:prstGeom>
          <a:noFill/>
          <a:ln/>
        </p:spPr>
        <p:txBody>
          <a:bodyPr wrap="square" lIns="0" tIns="0" rIns="0" bIns="0" rtlCol="0" anchor="t"/>
          <a:lstStyle/>
          <a:p>
            <a:pPr indent="0" marL="0">
              <a:buNone/>
            </a:pPr>
            <a:r>
              <a:rPr lang="en-US" sz="1200" dirty="0">
                <a:solidFill>
                  <a:srgbClr val="4A4F6B"/>
                </a:solidFill>
              </a:rPr>
              <a:t>Write it the way the team writes it</a:t>
            </a:r>
            <a:endParaRPr lang="en-US" sz="1200" dirty="0"/>
          </a:p>
        </p:txBody>
      </p:sp>
      <p:sp>
        <p:nvSpPr>
          <p:cNvPr id="21" name="Shape 19"/>
          <p:cNvSpPr/>
          <p:nvPr/>
        </p:nvSpPr>
        <p:spPr>
          <a:xfrm>
            <a:off x="8138160" y="3840480"/>
            <a:ext cx="1920240" cy="685800"/>
          </a:xfrm>
          <a:prstGeom prst="chevron">
            <a:avLst/>
          </a:prstGeom>
          <a:solidFill>
            <a:srgbClr val="22B8CF"/>
          </a:solidFill>
          <a:ln w="12700">
            <a:solidFill>
              <a:srgbClr val="22B8CF"/>
            </a:solidFill>
            <a:prstDash val="solid"/>
          </a:ln>
        </p:spPr>
      </p:sp>
      <p:sp>
        <p:nvSpPr>
          <p:cNvPr id="22" name="Text 20"/>
          <p:cNvSpPr txBox="1"/>
          <p:nvPr/>
        </p:nvSpPr>
        <p:spPr>
          <a:xfrm>
            <a:off x="8366760" y="3840480"/>
            <a:ext cx="1463040" cy="6858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1"/>
          <p:cNvSpPr txBox="1"/>
          <p:nvPr/>
        </p:nvSpPr>
        <p:spPr>
          <a:xfrm>
            <a:off x="8183880" y="4617720"/>
            <a:ext cx="1783080" cy="1005840"/>
          </a:xfrm>
          <a:prstGeom prst="rect">
            <a:avLst/>
          </a:prstGeom>
          <a:noFill/>
          <a:ln/>
        </p:spPr>
        <p:txBody>
          <a:bodyPr wrap="square" lIns="0" tIns="0" rIns="0" bIns="0" rtlCol="0" anchor="t"/>
          <a:lstStyle/>
          <a:p>
            <a:pPr indent="0" marL="0">
              <a:buNone/>
            </a:pPr>
            <a:r>
              <a:rPr lang="en-US" sz="1200" dirty="0">
                <a:solidFill>
                  <a:srgbClr val="4A4F6B"/>
                </a:solidFill>
              </a:rPr>
              <a:t>Register it: DAG, config, history</a:t>
            </a:r>
            <a:endParaRPr lang="en-US" sz="1200" dirty="0"/>
          </a:p>
        </p:txBody>
      </p:sp>
      <p:sp>
        <p:nvSpPr>
          <p:cNvPr id="24" name="Shape 22"/>
          <p:cNvSpPr/>
          <p:nvPr/>
        </p:nvSpPr>
        <p:spPr>
          <a:xfrm>
            <a:off x="10012680" y="3840480"/>
            <a:ext cx="1920240" cy="685800"/>
          </a:xfrm>
          <a:prstGeom prst="chevron">
            <a:avLst/>
          </a:prstGeom>
          <a:solidFill>
            <a:srgbClr val="22B8CF"/>
          </a:solidFill>
          <a:ln w="12700">
            <a:solidFill>
              <a:srgbClr val="22B8CF"/>
            </a:solidFill>
            <a:prstDash val="solid"/>
          </a:ln>
        </p:spPr>
      </p:sp>
      <p:sp>
        <p:nvSpPr>
          <p:cNvPr id="25" name="Text 23"/>
          <p:cNvSpPr txBox="1"/>
          <p:nvPr/>
        </p:nvSpPr>
        <p:spPr>
          <a:xfrm>
            <a:off x="10241280" y="3840480"/>
            <a:ext cx="1463040" cy="6858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10058400" y="4617720"/>
            <a:ext cx="1783080" cy="1005840"/>
          </a:xfrm>
          <a:prstGeom prst="rect">
            <a:avLst/>
          </a:prstGeom>
          <a:noFill/>
          <a:ln/>
        </p:spPr>
        <p:txBody>
          <a:bodyPr wrap="square" lIns="0" tIns="0" rIns="0" bIns="0" rtlCol="0" anchor="t"/>
          <a:lstStyle/>
          <a:p>
            <a:pPr indent="0" marL="0">
              <a:buNone/>
            </a:pPr>
            <a:r>
              <a:rPr lang="en-US" sz="1200" dirty="0">
                <a:solidFill>
                  <a:srgbClr val="4A4F6B"/>
                </a:solidFill>
              </a:rPr>
              <a:t>Self-review against the standards</a:t>
            </a:r>
            <a:endParaRPr lang="en-US" sz="1200" dirty="0"/>
          </a:p>
        </p:txBody>
      </p:sp>
      <p:sp>
        <p:nvSpPr>
          <p:cNvPr id="27" name="Text 25"/>
          <p:cNvSpPr txBox="1"/>
          <p:nvPr/>
        </p:nvSpPr>
        <p:spPr>
          <a:xfrm>
            <a:off x="6263640" y="3520440"/>
            <a:ext cx="1828800" cy="274320"/>
          </a:xfrm>
          <a:prstGeom prst="rect">
            <a:avLst/>
          </a:prstGeom>
          <a:noFill/>
          <a:ln/>
        </p:spPr>
        <p:txBody>
          <a:bodyPr wrap="square" lIns="0" tIns="0" rIns="0" bIns="0" rtlCol="0" anchor="t"/>
          <a:lstStyle/>
          <a:p>
            <a:pPr indent="0" marL="0">
              <a:buNone/>
            </a:pPr>
            <a:r>
              <a:rPr lang="en-US" sz="1100" b="1" dirty="0">
                <a:solidFill>
                  <a:srgbClr val="6C5CE7"/>
                </a:solidFill>
              </a:rPr>
              <a:t>typing</a:t>
            </a:r>
            <a:endParaRPr lang="en-US" sz="1100" dirty="0"/>
          </a:p>
        </p:txBody>
      </p:sp>
      <p:sp>
        <p:nvSpPr>
          <p:cNvPr id="28" name="Text 26"/>
          <p:cNvSpPr txBox="1"/>
          <p:nvPr/>
        </p:nvSpPr>
        <p:spPr>
          <a:xfrm>
            <a:off x="640080" y="3520440"/>
            <a:ext cx="5486400" cy="274320"/>
          </a:xfrm>
          <a:prstGeom prst="rect">
            <a:avLst/>
          </a:prstGeom>
          <a:noFill/>
          <a:ln/>
        </p:spPr>
        <p:txBody>
          <a:bodyPr wrap="square" lIns="0" tIns="0" rIns="0" bIns="0" rtlCol="0" anchor="t"/>
          <a:lstStyle/>
          <a:p>
            <a:pPr indent="0" marL="0">
              <a:buNone/>
            </a:pPr>
            <a:r>
              <a:rPr lang="en-US" sz="1100" b="1" dirty="0">
                <a:solidFill>
                  <a:srgbClr val="22B8CF"/>
                </a:solidFill>
              </a:rPr>
              <a:t>finding out - knowledge that lives in people's heads and in a 3,000-file repository</a:t>
            </a:r>
            <a:endParaRPr lang="en-US" sz="1100" dirty="0"/>
          </a:p>
        </p:txBody>
      </p:sp>
      <p:sp>
        <p:nvSpPr>
          <p:cNvPr id="29" name="Text 27"/>
          <p:cNvSpPr txBox="1"/>
          <p:nvPr/>
        </p:nvSpPr>
        <p:spPr>
          <a:xfrm>
            <a:off x="640080" y="6035040"/>
            <a:ext cx="10972800" cy="365760"/>
          </a:xfrm>
          <a:prstGeom prst="rect">
            <a:avLst/>
          </a:prstGeom>
          <a:noFill/>
          <a:ln/>
        </p:spPr>
        <p:txBody>
          <a:bodyPr wrap="square" lIns="0" tIns="0" rIns="0" bIns="0" rtlCol="0" anchor="t"/>
          <a:lstStyle/>
          <a:p>
            <a:pPr indent="0" marL="0">
              <a:buNone/>
            </a:pPr>
            <a:r>
              <a:rPr lang="en-US" sz="1250" i="1" dirty="0">
                <a:solidFill>
                  <a:srgbClr val="6C5CE7"/>
                </a:solidFill>
              </a:rPr>
              <a:t>Steps 2, 3, 5 and 6 are the expensive ones - and they are the same for every story and every developer.</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In plain words: a brilliant developer joined the team this morning</a:t>
            </a:r>
            <a:endParaRPr lang="en-US" sz="3000" dirty="0"/>
          </a:p>
        </p:txBody>
      </p:sp>
      <p:sp>
        <p:nvSpPr>
          <p:cNvPr id="3" name="Shape 1"/>
          <p:cNvSpPr/>
          <p:nvPr/>
        </p:nvSpPr>
        <p:spPr>
          <a:xfrm>
            <a:off x="640080" y="1371600"/>
            <a:ext cx="5212080" cy="4480560"/>
          </a:xfrm>
          <a:prstGeom prst="roundRect">
            <a:avLst>
              <a:gd name="adj" fmla="val 2449"/>
            </a:avLst>
          </a:prstGeom>
          <a:solidFill>
            <a:srgbClr val="F1F2F8"/>
          </a:solidFill>
          <a:ln w="12700">
            <a:solidFill>
              <a:srgbClr val="F1F2F8"/>
            </a:solidFill>
            <a:prstDash val="solid"/>
          </a:ln>
        </p:spPr>
      </p:sp>
      <p:sp>
        <p:nvSpPr>
          <p:cNvPr id="4" name="Text 2"/>
          <p:cNvSpPr txBox="1"/>
          <p:nvPr/>
        </p:nvSpPr>
        <p:spPr>
          <a:xfrm>
            <a:off x="822960" y="1508760"/>
            <a:ext cx="4846320" cy="411480"/>
          </a:xfrm>
          <a:prstGeom prst="rect">
            <a:avLst/>
          </a:prstGeom>
          <a:noFill/>
          <a:ln/>
        </p:spPr>
        <p:txBody>
          <a:bodyPr wrap="square" lIns="0" tIns="0" rIns="0" bIns="0" rtlCol="0" anchor="ctr"/>
          <a:lstStyle/>
          <a:p>
            <a:pPr indent="0" marL="0">
              <a:buNone/>
            </a:pPr>
            <a:r>
              <a:rPr lang="en-US" sz="1800" b="1" dirty="0">
                <a:solidFill>
                  <a:srgbClr val="1B1F3B"/>
                </a:solidFill>
              </a:rPr>
              <a:t>The LLM = the new senior engineer</a:t>
            </a:r>
            <a:endParaRPr lang="en-US" sz="1800" dirty="0"/>
          </a:p>
        </p:txBody>
      </p:sp>
      <p:sp>
        <p:nvSpPr>
          <p:cNvPr id="5" name="Text 3"/>
          <p:cNvSpPr txBox="1"/>
          <p:nvPr/>
        </p:nvSpPr>
        <p:spPr>
          <a:xfrm>
            <a:off x="822960" y="1938528"/>
            <a:ext cx="4846320" cy="38404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4A4F6B"/>
                </a:solidFill>
              </a:rPr>
              <a:t>Knows SQL, Python, Airflow, R better than anyone</a:t>
            </a:r>
            <a:endParaRPr lang="en-US" sz="1400" dirty="0"/>
          </a:p>
          <a:p>
            <a:pPr marL="342900" indent="-342900">
              <a:spcAft>
                <a:spcPts val="300"/>
              </a:spcAft>
              <a:buSzPct val="100000"/>
              <a:buChar char="•"/>
            </a:pPr>
            <a:r>
              <a:rPr lang="en-US" sz="1400" dirty="0">
                <a:solidFill>
                  <a:srgbClr val="4A4F6B"/>
                </a:solidFill>
              </a:rPr>
              <a:t>Writes clean, fast, well-structured code on request</a:t>
            </a:r>
            <a:endParaRPr lang="en-US" sz="1400" dirty="0"/>
          </a:p>
          <a:p>
            <a:pPr marL="342900" indent="-342900">
              <a:spcAft>
                <a:spcPts val="300"/>
              </a:spcAft>
              <a:buSzPct val="100000"/>
              <a:buChar char="•"/>
            </a:pPr>
            <a:r>
              <a:rPr lang="en-US" sz="1400" dirty="0">
                <a:solidFill>
                  <a:srgbClr val="4A4F6B"/>
                </a:solidFill>
              </a:rPr>
              <a:t>Has read millions of repositories - but never ours</a:t>
            </a:r>
            <a:endParaRPr lang="en-US" sz="1400" dirty="0"/>
          </a:p>
          <a:p>
            <a:pPr marL="342900" indent="-342900">
              <a:spcAft>
                <a:spcPts val="300"/>
              </a:spcAft>
              <a:buSzPct val="100000"/>
              <a:buChar char="•"/>
            </a:pPr>
            <a:r>
              <a:rPr lang="en-US" sz="1400" dirty="0">
                <a:solidFill>
                  <a:srgbClr val="4A4F6B"/>
                </a:solidFill>
              </a:rPr>
              <a:t>Does not know what acc_mhh_n means or where profile scripts live</a:t>
            </a:r>
            <a:endParaRPr lang="en-US" sz="1400" dirty="0"/>
          </a:p>
          <a:p>
            <a:pPr marL="342900" indent="-342900">
              <a:spcAft>
                <a:spcPts val="300"/>
              </a:spcAft>
              <a:buSzPct val="100000"/>
              <a:buChar char="•"/>
            </a:pPr>
            <a:r>
              <a:rPr lang="en-US" sz="1400" dirty="0">
                <a:solidFill>
                  <a:srgbClr val="4A4F6B"/>
                </a:solidFill>
              </a:rPr>
              <a:t>Does not know a new table needs a history script and a TABLE_CONFIG entry</a:t>
            </a:r>
            <a:endParaRPr lang="en-US" sz="1400" dirty="0"/>
          </a:p>
          <a:p>
            <a:pPr marL="342900" indent="-342900">
              <a:spcAft>
                <a:spcPts val="300"/>
              </a:spcAft>
              <a:buSzPct val="100000"/>
              <a:buChar char="•"/>
            </a:pPr>
            <a:r>
              <a:rPr lang="en-US" sz="1400" dirty="0">
                <a:solidFill>
                  <a:srgbClr val="4A4F6B"/>
                </a:solidFill>
              </a:rPr>
              <a:t>Left alone: writes correct code that is wrong for us</a:t>
            </a:r>
            <a:endParaRPr lang="en-US" sz="1400" dirty="0"/>
          </a:p>
        </p:txBody>
      </p:sp>
      <p:sp>
        <p:nvSpPr>
          <p:cNvPr id="6" name="Shape 4"/>
          <p:cNvSpPr/>
          <p:nvPr/>
        </p:nvSpPr>
        <p:spPr>
          <a:xfrm>
            <a:off x="6309360" y="1371600"/>
            <a:ext cx="5212080" cy="4480560"/>
          </a:xfrm>
          <a:prstGeom prst="roundRect">
            <a:avLst>
              <a:gd name="adj" fmla="val 2449"/>
            </a:avLst>
          </a:prstGeom>
          <a:solidFill>
            <a:srgbClr val="6C5CE7"/>
          </a:solidFill>
          <a:ln w="12700">
            <a:solidFill>
              <a:srgbClr val="6C5CE7"/>
            </a:solidFill>
            <a:prstDash val="solid"/>
          </a:ln>
        </p:spPr>
      </p:sp>
      <p:sp>
        <p:nvSpPr>
          <p:cNvPr id="7" name="Text 5"/>
          <p:cNvSpPr txBox="1"/>
          <p:nvPr/>
        </p:nvSpPr>
        <p:spPr>
          <a:xfrm>
            <a:off x="6492240" y="1508760"/>
            <a:ext cx="4846320" cy="411480"/>
          </a:xfrm>
          <a:prstGeom prst="rect">
            <a:avLst/>
          </a:prstGeom>
          <a:noFill/>
          <a:ln/>
        </p:spPr>
        <p:txBody>
          <a:bodyPr wrap="square" lIns="0" tIns="0" rIns="0" bIns="0" rtlCol="0" anchor="ctr"/>
          <a:lstStyle/>
          <a:p>
            <a:pPr indent="0" marL="0">
              <a:buNone/>
            </a:pPr>
            <a:r>
              <a:rPr lang="en-US" sz="1800" b="1" dirty="0">
                <a:solidFill>
                  <a:srgbClr val="FFFFFF"/>
                </a:solidFill>
              </a:rPr>
              <a:t>Agile Dev Assist = the onboarding</a:t>
            </a:r>
            <a:endParaRPr lang="en-US" sz="1800" dirty="0"/>
          </a:p>
        </p:txBody>
      </p:sp>
      <p:sp>
        <p:nvSpPr>
          <p:cNvPr id="8" name="Text 6"/>
          <p:cNvSpPr txBox="1"/>
          <p:nvPr/>
        </p:nvSpPr>
        <p:spPr>
          <a:xfrm>
            <a:off x="6492240" y="1938528"/>
            <a:ext cx="4846320" cy="38404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ECEAFF"/>
                </a:solidFill>
              </a:rPr>
              <a:t>Hands over the story and explains what is really asked</a:t>
            </a:r>
            <a:endParaRPr lang="en-US" sz="1400" dirty="0"/>
          </a:p>
          <a:p>
            <a:pPr marL="342900" indent="-342900">
              <a:spcAft>
                <a:spcPts val="300"/>
              </a:spcAft>
              <a:buSzPct val="100000"/>
              <a:buChar char="•"/>
            </a:pPr>
            <a:r>
              <a:rPr lang="en-US" sz="1400" dirty="0">
                <a:solidFill>
                  <a:srgbClr val="ECEAFF"/>
                </a:solidFill>
              </a:rPr>
              <a:t>Points to the wiki, glossary and coding standards</a:t>
            </a:r>
            <a:endParaRPr lang="en-US" sz="1400" dirty="0"/>
          </a:p>
          <a:p>
            <a:pPr marL="342900" indent="-342900">
              <a:spcAft>
                <a:spcPts val="300"/>
              </a:spcAft>
              <a:buSzPct val="100000"/>
              <a:buChar char="•"/>
            </a:pPr>
            <a:r>
              <a:rPr lang="en-US" sz="1400" dirty="0">
                <a:solidFill>
                  <a:srgbClr val="ECEAFF"/>
                </a:solidFill>
              </a:rPr>
              <a:t>Gives database access and explains the tables</a:t>
            </a:r>
            <a:endParaRPr lang="en-US" sz="1400" dirty="0"/>
          </a:p>
          <a:p>
            <a:pPr marL="342900" indent="-342900">
              <a:spcAft>
                <a:spcPts val="300"/>
              </a:spcAft>
              <a:buSzPct val="100000"/>
              <a:buChar char="•"/>
            </a:pPr>
            <a:r>
              <a:rPr lang="en-US" sz="1400" dirty="0">
                <a:solidFill>
                  <a:srgbClr val="ECEAFF"/>
                </a:solidFill>
              </a:rPr>
              <a:t>Walks through the repository: "this is how we do it here"</a:t>
            </a:r>
            <a:endParaRPr lang="en-US" sz="1400" dirty="0"/>
          </a:p>
          <a:p>
            <a:pPr marL="342900" indent="-342900">
              <a:spcAft>
                <a:spcPts val="300"/>
              </a:spcAft>
              <a:buSzPct val="100000"/>
              <a:buChar char="•"/>
            </a:pPr>
            <a:r>
              <a:rPr lang="en-US" sz="1400" dirty="0">
                <a:solidFill>
                  <a:srgbClr val="ECEAFF"/>
                </a:solidFill>
              </a:rPr>
              <a:t>Agrees a design, lets them code one file at a time</a:t>
            </a:r>
            <a:endParaRPr lang="en-US" sz="1400" dirty="0"/>
          </a:p>
          <a:p>
            <a:pPr marL="342900" indent="-342900">
              <a:spcAft>
                <a:spcPts val="300"/>
              </a:spcAft>
              <a:buSzPct val="100000"/>
              <a:buChar char="•"/>
            </a:pPr>
            <a:r>
              <a:rPr lang="en-US" sz="1400" dirty="0">
                <a:solidFill>
                  <a:srgbClr val="ECEAFF"/>
                </a:solidFill>
              </a:rPr>
              <a:t>Runs the linters and does the code review before merge</a:t>
            </a:r>
            <a:endParaRPr lang="en-US" sz="1400" dirty="0"/>
          </a:p>
        </p:txBody>
      </p:sp>
      <p:sp>
        <p:nvSpPr>
          <p:cNvPr id="9" name="Shape 7"/>
          <p:cNvSpPr/>
          <p:nvPr/>
        </p:nvSpPr>
        <p:spPr>
          <a:xfrm>
            <a:off x="5897880" y="3611880"/>
            <a:ext cx="365760" cy="9144"/>
          </a:xfrm>
          <a:prstGeom prst="line">
            <a:avLst/>
          </a:prstGeom>
          <a:noFill/>
          <a:ln w="19050">
            <a:solidFill>
              <a:srgbClr val="6C5CE7"/>
            </a:solidFill>
            <a:prstDash val="solid"/>
            <a:tailEnd type="triangle"/>
          </a:ln>
        </p:spPr>
      </p:sp>
      <p:sp>
        <p:nvSpPr>
          <p:cNvPr id="10" name="Text 8"/>
          <p:cNvSpPr txBox="1"/>
          <p:nvPr/>
        </p:nvSpPr>
        <p:spPr>
          <a:xfrm>
            <a:off x="640080" y="6035040"/>
            <a:ext cx="10972800" cy="365760"/>
          </a:xfrm>
          <a:prstGeom prst="rect">
            <a:avLst/>
          </a:prstGeom>
          <a:noFill/>
          <a:ln/>
        </p:spPr>
        <p:txBody>
          <a:bodyPr wrap="square" lIns="0" tIns="0" rIns="0" bIns="0" rtlCol="0" anchor="t"/>
          <a:lstStyle/>
          <a:p>
            <a:pPr indent="0" marL="0">
              <a:buNone/>
            </a:pPr>
            <a:r>
              <a:rPr lang="en-US" sz="1250" i="1" dirty="0">
                <a:solidFill>
                  <a:srgbClr val="6C5CE7"/>
                </a:solidFill>
              </a:rPr>
              <a:t>Each agent is the same expert given one job, the right documents and the right tools. What it learns is written down and handed on.</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The whole system on one page</a:t>
            </a:r>
            <a:endParaRPr lang="en-US" sz="3000" dirty="0"/>
          </a:p>
        </p:txBody>
      </p:sp>
      <p:sp>
        <p:nvSpPr>
          <p:cNvPr id="3" name="Shape 1"/>
          <p:cNvSpPr/>
          <p:nvPr/>
        </p:nvSpPr>
        <p:spPr>
          <a:xfrm>
            <a:off x="640080" y="1371600"/>
            <a:ext cx="2651760" cy="658368"/>
          </a:xfrm>
          <a:prstGeom prst="roundRect">
            <a:avLst>
              <a:gd name="adj" fmla="val 13889"/>
            </a:avLst>
          </a:prstGeom>
          <a:solidFill>
            <a:srgbClr val="F1F2F8"/>
          </a:solidFill>
          <a:ln w="12700">
            <a:solidFill>
              <a:srgbClr val="F1F2F8"/>
            </a:solidFill>
            <a:prstDash val="solid"/>
          </a:ln>
        </p:spPr>
      </p:sp>
      <p:sp>
        <p:nvSpPr>
          <p:cNvPr id="4" name="Text 2"/>
          <p:cNvSpPr txBox="1"/>
          <p:nvPr/>
        </p:nvSpPr>
        <p:spPr>
          <a:xfrm>
            <a:off x="777240" y="1444752"/>
            <a:ext cx="2377440" cy="274320"/>
          </a:xfrm>
          <a:prstGeom prst="rect">
            <a:avLst/>
          </a:prstGeom>
          <a:noFill/>
          <a:ln/>
        </p:spPr>
        <p:txBody>
          <a:bodyPr wrap="square" lIns="0" tIns="0" rIns="0" bIns="0" rtlCol="0" anchor="t"/>
          <a:lstStyle/>
          <a:p>
            <a:pPr indent="0" marL="0">
              <a:buNone/>
            </a:pPr>
            <a:r>
              <a:rPr lang="en-US" sz="1300" b="1" dirty="0">
                <a:solidFill>
                  <a:srgbClr val="1B1F3B"/>
                </a:solidFill>
              </a:rPr>
              <a:t>Story</a:t>
            </a:r>
            <a:endParaRPr lang="en-US" sz="1300" dirty="0"/>
          </a:p>
        </p:txBody>
      </p:sp>
      <p:sp>
        <p:nvSpPr>
          <p:cNvPr id="5" name="Text 3"/>
          <p:cNvSpPr txBox="1"/>
          <p:nvPr/>
        </p:nvSpPr>
        <p:spPr>
          <a:xfrm>
            <a:off x="777240" y="1719072"/>
            <a:ext cx="2377440" cy="274320"/>
          </a:xfrm>
          <a:prstGeom prst="rect">
            <a:avLst/>
          </a:prstGeom>
          <a:noFill/>
          <a:ln/>
        </p:spPr>
        <p:txBody>
          <a:bodyPr wrap="square" lIns="0" tIns="0" rIns="0" bIns="0" rtlCol="0" anchor="t"/>
          <a:lstStyle/>
          <a:p>
            <a:pPr indent="0" marL="0">
              <a:buNone/>
            </a:pPr>
            <a:r>
              <a:rPr lang="en-US" sz="1050" dirty="0">
                <a:solidFill>
                  <a:srgbClr val="4A4F6B"/>
                </a:solidFill>
              </a:rPr>
              <a:t>GitLab / GitHub issue, file, text</a:t>
            </a:r>
            <a:endParaRPr lang="en-US" sz="1050" dirty="0"/>
          </a:p>
        </p:txBody>
      </p:sp>
      <p:sp>
        <p:nvSpPr>
          <p:cNvPr id="6" name="Shape 4"/>
          <p:cNvSpPr/>
          <p:nvPr/>
        </p:nvSpPr>
        <p:spPr>
          <a:xfrm>
            <a:off x="3337560" y="1700784"/>
            <a:ext cx="411480" cy="9144"/>
          </a:xfrm>
          <a:prstGeom prst="line">
            <a:avLst/>
          </a:prstGeom>
          <a:noFill/>
          <a:ln w="19050">
            <a:solidFill>
              <a:srgbClr val="9AA0BF"/>
            </a:solidFill>
            <a:prstDash val="solid"/>
            <a:tailEnd type="triangle"/>
          </a:ln>
        </p:spPr>
      </p:sp>
      <p:sp>
        <p:nvSpPr>
          <p:cNvPr id="7" name="Shape 5"/>
          <p:cNvSpPr/>
          <p:nvPr/>
        </p:nvSpPr>
        <p:spPr>
          <a:xfrm>
            <a:off x="640080" y="2148840"/>
            <a:ext cx="2651760" cy="658368"/>
          </a:xfrm>
          <a:prstGeom prst="roundRect">
            <a:avLst>
              <a:gd name="adj" fmla="val 13889"/>
            </a:avLst>
          </a:prstGeom>
          <a:solidFill>
            <a:srgbClr val="F1F2F8"/>
          </a:solidFill>
          <a:ln w="12700">
            <a:solidFill>
              <a:srgbClr val="F1F2F8"/>
            </a:solidFill>
            <a:prstDash val="solid"/>
          </a:ln>
        </p:spPr>
      </p:sp>
      <p:sp>
        <p:nvSpPr>
          <p:cNvPr id="8" name="Text 6"/>
          <p:cNvSpPr txBox="1"/>
          <p:nvPr/>
        </p:nvSpPr>
        <p:spPr>
          <a:xfrm>
            <a:off x="777240" y="2221992"/>
            <a:ext cx="2377440" cy="274320"/>
          </a:xfrm>
          <a:prstGeom prst="rect">
            <a:avLst/>
          </a:prstGeom>
          <a:noFill/>
          <a:ln/>
        </p:spPr>
        <p:txBody>
          <a:bodyPr wrap="square" lIns="0" tIns="0" rIns="0" bIns="0" rtlCol="0" anchor="t"/>
          <a:lstStyle/>
          <a:p>
            <a:pPr indent="0" marL="0">
              <a:buNone/>
            </a:pPr>
            <a:r>
              <a:rPr lang="en-US" sz="1300" b="1" dirty="0">
                <a:solidFill>
                  <a:srgbClr val="1B1F3B"/>
                </a:solidFill>
              </a:rPr>
              <a:t>Skills</a:t>
            </a:r>
            <a:endParaRPr lang="en-US" sz="1300" dirty="0"/>
          </a:p>
        </p:txBody>
      </p:sp>
      <p:sp>
        <p:nvSpPr>
          <p:cNvPr id="9" name="Text 7"/>
          <p:cNvSpPr txBox="1"/>
          <p:nvPr/>
        </p:nvSpPr>
        <p:spPr>
          <a:xfrm>
            <a:off x="777240" y="2496312"/>
            <a:ext cx="2377440" cy="274320"/>
          </a:xfrm>
          <a:prstGeom prst="rect">
            <a:avLst/>
          </a:prstGeom>
          <a:noFill/>
          <a:ln/>
        </p:spPr>
        <p:txBody>
          <a:bodyPr wrap="square" lIns="0" tIns="0" rIns="0" bIns="0" rtlCol="0" anchor="t"/>
          <a:lstStyle/>
          <a:p>
            <a:pPr indent="0" marL="0">
              <a:buNone/>
            </a:pPr>
            <a:r>
              <a:rPr lang="en-US" sz="1050" dirty="0">
                <a:solidFill>
                  <a:srgbClr val="4A4F6B"/>
                </a:solidFill>
              </a:rPr>
              <a:t>team how-to documents</a:t>
            </a:r>
            <a:endParaRPr lang="en-US" sz="1050" dirty="0"/>
          </a:p>
        </p:txBody>
      </p:sp>
      <p:sp>
        <p:nvSpPr>
          <p:cNvPr id="10" name="Shape 8"/>
          <p:cNvSpPr/>
          <p:nvPr/>
        </p:nvSpPr>
        <p:spPr>
          <a:xfrm>
            <a:off x="3337560" y="2478024"/>
            <a:ext cx="411480" cy="9144"/>
          </a:xfrm>
          <a:prstGeom prst="line">
            <a:avLst/>
          </a:prstGeom>
          <a:noFill/>
          <a:ln w="19050">
            <a:solidFill>
              <a:srgbClr val="9AA0BF"/>
            </a:solidFill>
            <a:prstDash val="solid"/>
            <a:tailEnd type="triangle"/>
          </a:ln>
        </p:spPr>
      </p:sp>
      <p:sp>
        <p:nvSpPr>
          <p:cNvPr id="11" name="Shape 9"/>
          <p:cNvSpPr/>
          <p:nvPr/>
        </p:nvSpPr>
        <p:spPr>
          <a:xfrm>
            <a:off x="640080" y="2926080"/>
            <a:ext cx="2651760" cy="658368"/>
          </a:xfrm>
          <a:prstGeom prst="roundRect">
            <a:avLst>
              <a:gd name="adj" fmla="val 13889"/>
            </a:avLst>
          </a:prstGeom>
          <a:solidFill>
            <a:srgbClr val="F1F2F8"/>
          </a:solidFill>
          <a:ln w="12700">
            <a:solidFill>
              <a:srgbClr val="F1F2F8"/>
            </a:solidFill>
            <a:prstDash val="solid"/>
          </a:ln>
        </p:spPr>
      </p:sp>
      <p:sp>
        <p:nvSpPr>
          <p:cNvPr id="12" name="Text 10"/>
          <p:cNvSpPr txBox="1"/>
          <p:nvPr/>
        </p:nvSpPr>
        <p:spPr>
          <a:xfrm>
            <a:off x="777240" y="2999232"/>
            <a:ext cx="2377440" cy="274320"/>
          </a:xfrm>
          <a:prstGeom prst="rect">
            <a:avLst/>
          </a:prstGeom>
          <a:noFill/>
          <a:ln/>
        </p:spPr>
        <p:txBody>
          <a:bodyPr wrap="square" lIns="0" tIns="0" rIns="0" bIns="0" rtlCol="0" anchor="t"/>
          <a:lstStyle/>
          <a:p>
            <a:pPr indent="0" marL="0">
              <a:buNone/>
            </a:pPr>
            <a:r>
              <a:rPr lang="en-US" sz="1300" b="1" dirty="0">
                <a:solidFill>
                  <a:srgbClr val="1B1F3B"/>
                </a:solidFill>
              </a:rPr>
              <a:t>Glossary</a:t>
            </a:r>
            <a:endParaRPr lang="en-US" sz="1300" dirty="0"/>
          </a:p>
        </p:txBody>
      </p:sp>
      <p:sp>
        <p:nvSpPr>
          <p:cNvPr id="13" name="Text 11"/>
          <p:cNvSpPr txBox="1"/>
          <p:nvPr/>
        </p:nvSpPr>
        <p:spPr>
          <a:xfrm>
            <a:off x="777240" y="3273552"/>
            <a:ext cx="2377440" cy="274320"/>
          </a:xfrm>
          <a:prstGeom prst="rect">
            <a:avLst/>
          </a:prstGeom>
          <a:noFill/>
          <a:ln/>
        </p:spPr>
        <p:txBody>
          <a:bodyPr wrap="square" lIns="0" tIns="0" rIns="0" bIns="0" rtlCol="0" anchor="t"/>
          <a:lstStyle/>
          <a:p>
            <a:pPr indent="0" marL="0">
              <a:buNone/>
            </a:pPr>
            <a:r>
              <a:rPr lang="en-US" sz="1050" dirty="0">
                <a:solidFill>
                  <a:srgbClr val="4A4F6B"/>
                </a:solidFill>
              </a:rPr>
              <a:t>data dictionary</a:t>
            </a:r>
            <a:endParaRPr lang="en-US" sz="1050" dirty="0"/>
          </a:p>
        </p:txBody>
      </p:sp>
      <p:sp>
        <p:nvSpPr>
          <p:cNvPr id="14" name="Shape 12"/>
          <p:cNvSpPr/>
          <p:nvPr/>
        </p:nvSpPr>
        <p:spPr>
          <a:xfrm>
            <a:off x="3337560" y="3255264"/>
            <a:ext cx="411480" cy="9144"/>
          </a:xfrm>
          <a:prstGeom prst="line">
            <a:avLst/>
          </a:prstGeom>
          <a:noFill/>
          <a:ln w="19050">
            <a:solidFill>
              <a:srgbClr val="9AA0BF"/>
            </a:solidFill>
            <a:prstDash val="solid"/>
            <a:tailEnd type="triangle"/>
          </a:ln>
        </p:spPr>
      </p:sp>
      <p:sp>
        <p:nvSpPr>
          <p:cNvPr id="15" name="Shape 13"/>
          <p:cNvSpPr/>
          <p:nvPr/>
        </p:nvSpPr>
        <p:spPr>
          <a:xfrm>
            <a:off x="640080" y="3703320"/>
            <a:ext cx="2651760" cy="658368"/>
          </a:xfrm>
          <a:prstGeom prst="roundRect">
            <a:avLst>
              <a:gd name="adj" fmla="val 13889"/>
            </a:avLst>
          </a:prstGeom>
          <a:solidFill>
            <a:srgbClr val="F1F2F8"/>
          </a:solidFill>
          <a:ln w="12700">
            <a:solidFill>
              <a:srgbClr val="F1F2F8"/>
            </a:solidFill>
            <a:prstDash val="solid"/>
          </a:ln>
        </p:spPr>
      </p:sp>
      <p:sp>
        <p:nvSpPr>
          <p:cNvPr id="16" name="Text 14"/>
          <p:cNvSpPr txBox="1"/>
          <p:nvPr/>
        </p:nvSpPr>
        <p:spPr>
          <a:xfrm>
            <a:off x="777240" y="3776472"/>
            <a:ext cx="2377440" cy="274320"/>
          </a:xfrm>
          <a:prstGeom prst="rect">
            <a:avLst/>
          </a:prstGeom>
          <a:noFill/>
          <a:ln/>
        </p:spPr>
        <p:txBody>
          <a:bodyPr wrap="square" lIns="0" tIns="0" rIns="0" bIns="0" rtlCol="0" anchor="t"/>
          <a:lstStyle/>
          <a:p>
            <a:pPr indent="0" marL="0">
              <a:buNone/>
            </a:pPr>
            <a:r>
              <a:rPr lang="en-US" sz="1300" b="1" dirty="0">
                <a:solidFill>
                  <a:srgbClr val="1B1F3B"/>
                </a:solidFill>
              </a:rPr>
              <a:t>Standards</a:t>
            </a:r>
            <a:endParaRPr lang="en-US" sz="1300" dirty="0"/>
          </a:p>
        </p:txBody>
      </p:sp>
      <p:sp>
        <p:nvSpPr>
          <p:cNvPr id="17" name="Text 15"/>
          <p:cNvSpPr txBox="1"/>
          <p:nvPr/>
        </p:nvSpPr>
        <p:spPr>
          <a:xfrm>
            <a:off x="777240" y="4050792"/>
            <a:ext cx="2377440" cy="274320"/>
          </a:xfrm>
          <a:prstGeom prst="rect">
            <a:avLst/>
          </a:prstGeom>
          <a:noFill/>
          <a:ln/>
        </p:spPr>
        <p:txBody>
          <a:bodyPr wrap="square" lIns="0" tIns="0" rIns="0" bIns="0" rtlCol="0" anchor="t"/>
          <a:lstStyle/>
          <a:p>
            <a:pPr indent="0" marL="0">
              <a:buNone/>
            </a:pPr>
            <a:r>
              <a:rPr lang="en-US" sz="1050" dirty="0">
                <a:solidFill>
                  <a:srgbClr val="4A4F6B"/>
                </a:solidFill>
              </a:rPr>
              <a:t>conventions, rules</a:t>
            </a:r>
            <a:endParaRPr lang="en-US" sz="1050" dirty="0"/>
          </a:p>
        </p:txBody>
      </p:sp>
      <p:sp>
        <p:nvSpPr>
          <p:cNvPr id="18" name="Shape 16"/>
          <p:cNvSpPr/>
          <p:nvPr/>
        </p:nvSpPr>
        <p:spPr>
          <a:xfrm>
            <a:off x="3337560" y="4032504"/>
            <a:ext cx="411480" cy="9144"/>
          </a:xfrm>
          <a:prstGeom prst="line">
            <a:avLst/>
          </a:prstGeom>
          <a:noFill/>
          <a:ln w="19050">
            <a:solidFill>
              <a:srgbClr val="9AA0BF"/>
            </a:solidFill>
            <a:prstDash val="solid"/>
            <a:tailEnd type="triangle"/>
          </a:ln>
        </p:spPr>
      </p:sp>
      <p:sp>
        <p:nvSpPr>
          <p:cNvPr id="19" name="Shape 17"/>
          <p:cNvSpPr/>
          <p:nvPr/>
        </p:nvSpPr>
        <p:spPr>
          <a:xfrm>
            <a:off x="640080" y="4480560"/>
            <a:ext cx="2651760" cy="658368"/>
          </a:xfrm>
          <a:prstGeom prst="roundRect">
            <a:avLst>
              <a:gd name="adj" fmla="val 13889"/>
            </a:avLst>
          </a:prstGeom>
          <a:solidFill>
            <a:srgbClr val="F1F2F8"/>
          </a:solidFill>
          <a:ln w="12700">
            <a:solidFill>
              <a:srgbClr val="F1F2F8"/>
            </a:solidFill>
            <a:prstDash val="solid"/>
          </a:ln>
        </p:spPr>
      </p:sp>
      <p:sp>
        <p:nvSpPr>
          <p:cNvPr id="20" name="Text 18"/>
          <p:cNvSpPr txBox="1"/>
          <p:nvPr/>
        </p:nvSpPr>
        <p:spPr>
          <a:xfrm>
            <a:off x="777240" y="4553712"/>
            <a:ext cx="2377440" cy="274320"/>
          </a:xfrm>
          <a:prstGeom prst="rect">
            <a:avLst/>
          </a:prstGeom>
          <a:noFill/>
          <a:ln/>
        </p:spPr>
        <p:txBody>
          <a:bodyPr wrap="square" lIns="0" tIns="0" rIns="0" bIns="0" rtlCol="0" anchor="t"/>
          <a:lstStyle/>
          <a:p>
            <a:pPr indent="0" marL="0">
              <a:buNone/>
            </a:pPr>
            <a:r>
              <a:rPr lang="en-US" sz="1300" b="1" dirty="0">
                <a:solidFill>
                  <a:srgbClr val="1B1F3B"/>
                </a:solidFill>
              </a:rPr>
              <a:t>Greenplum</a:t>
            </a:r>
            <a:endParaRPr lang="en-US" sz="1300" dirty="0"/>
          </a:p>
        </p:txBody>
      </p:sp>
      <p:sp>
        <p:nvSpPr>
          <p:cNvPr id="21" name="Text 19"/>
          <p:cNvSpPr txBox="1"/>
          <p:nvPr/>
        </p:nvSpPr>
        <p:spPr>
          <a:xfrm>
            <a:off x="777240" y="4828032"/>
            <a:ext cx="2377440" cy="274320"/>
          </a:xfrm>
          <a:prstGeom prst="rect">
            <a:avLst/>
          </a:prstGeom>
          <a:noFill/>
          <a:ln/>
        </p:spPr>
        <p:txBody>
          <a:bodyPr wrap="square" lIns="0" tIns="0" rIns="0" bIns="0" rtlCol="0" anchor="t"/>
          <a:lstStyle/>
          <a:p>
            <a:pPr indent="0" marL="0">
              <a:buNone/>
            </a:pPr>
            <a:r>
              <a:rPr lang="en-US" sz="1050" dirty="0">
                <a:solidFill>
                  <a:srgbClr val="4A4F6B"/>
                </a:solidFill>
              </a:rPr>
              <a:t>tables, queries (read-only)</a:t>
            </a:r>
            <a:endParaRPr lang="en-US" sz="1050" dirty="0"/>
          </a:p>
        </p:txBody>
      </p:sp>
      <p:sp>
        <p:nvSpPr>
          <p:cNvPr id="22" name="Shape 20"/>
          <p:cNvSpPr/>
          <p:nvPr/>
        </p:nvSpPr>
        <p:spPr>
          <a:xfrm>
            <a:off x="3337560" y="4809744"/>
            <a:ext cx="411480" cy="9144"/>
          </a:xfrm>
          <a:prstGeom prst="line">
            <a:avLst/>
          </a:prstGeom>
          <a:noFill/>
          <a:ln w="19050">
            <a:solidFill>
              <a:srgbClr val="9AA0BF"/>
            </a:solidFill>
            <a:prstDash val="solid"/>
            <a:tailEnd type="triangle"/>
          </a:ln>
        </p:spPr>
      </p:sp>
      <p:sp>
        <p:nvSpPr>
          <p:cNvPr id="23" name="Shape 21"/>
          <p:cNvSpPr/>
          <p:nvPr/>
        </p:nvSpPr>
        <p:spPr>
          <a:xfrm>
            <a:off x="640080" y="5257800"/>
            <a:ext cx="2651760" cy="658368"/>
          </a:xfrm>
          <a:prstGeom prst="roundRect">
            <a:avLst>
              <a:gd name="adj" fmla="val 13889"/>
            </a:avLst>
          </a:prstGeom>
          <a:solidFill>
            <a:srgbClr val="F1F2F8"/>
          </a:solidFill>
          <a:ln w="12700">
            <a:solidFill>
              <a:srgbClr val="F1F2F8"/>
            </a:solidFill>
            <a:prstDash val="solid"/>
          </a:ln>
        </p:spPr>
      </p:sp>
      <p:sp>
        <p:nvSpPr>
          <p:cNvPr id="24" name="Text 22"/>
          <p:cNvSpPr txBox="1"/>
          <p:nvPr/>
        </p:nvSpPr>
        <p:spPr>
          <a:xfrm>
            <a:off x="777240" y="5330952"/>
            <a:ext cx="2377440" cy="274320"/>
          </a:xfrm>
          <a:prstGeom prst="rect">
            <a:avLst/>
          </a:prstGeom>
          <a:noFill/>
          <a:ln/>
        </p:spPr>
        <p:txBody>
          <a:bodyPr wrap="square" lIns="0" tIns="0" rIns="0" bIns="0" rtlCol="0" anchor="t"/>
          <a:lstStyle/>
          <a:p>
            <a:pPr indent="0" marL="0">
              <a:buNone/>
            </a:pPr>
            <a:r>
              <a:rPr lang="en-US" sz="1300" b="1" dirty="0">
                <a:solidFill>
                  <a:srgbClr val="1B1F3B"/>
                </a:solidFill>
              </a:rPr>
              <a:t>Git repository</a:t>
            </a:r>
            <a:endParaRPr lang="en-US" sz="1300" dirty="0"/>
          </a:p>
        </p:txBody>
      </p:sp>
      <p:sp>
        <p:nvSpPr>
          <p:cNvPr id="25" name="Text 23"/>
          <p:cNvSpPr txBox="1"/>
          <p:nvPr/>
        </p:nvSpPr>
        <p:spPr>
          <a:xfrm>
            <a:off x="777240" y="5605272"/>
            <a:ext cx="2377440" cy="274320"/>
          </a:xfrm>
          <a:prstGeom prst="rect">
            <a:avLst/>
          </a:prstGeom>
          <a:noFill/>
          <a:ln/>
        </p:spPr>
        <p:txBody>
          <a:bodyPr wrap="square" lIns="0" tIns="0" rIns="0" bIns="0" rtlCol="0" anchor="t"/>
          <a:lstStyle/>
          <a:p>
            <a:pPr indent="0" marL="0">
              <a:buNone/>
            </a:pPr>
            <a:r>
              <a:rPr lang="en-US" sz="1050" dirty="0">
                <a:solidFill>
                  <a:srgbClr val="4A4F6B"/>
                </a:solidFill>
              </a:rPr>
              <a:t>whole code base, indexed</a:t>
            </a:r>
            <a:endParaRPr lang="en-US" sz="1050" dirty="0"/>
          </a:p>
        </p:txBody>
      </p:sp>
      <p:sp>
        <p:nvSpPr>
          <p:cNvPr id="26" name="Shape 24"/>
          <p:cNvSpPr/>
          <p:nvPr/>
        </p:nvSpPr>
        <p:spPr>
          <a:xfrm>
            <a:off x="3337560" y="5586984"/>
            <a:ext cx="411480" cy="9144"/>
          </a:xfrm>
          <a:prstGeom prst="line">
            <a:avLst/>
          </a:prstGeom>
          <a:noFill/>
          <a:ln w="19050">
            <a:solidFill>
              <a:srgbClr val="9AA0BF"/>
            </a:solidFill>
            <a:prstDash val="solid"/>
            <a:tailEnd type="triangle"/>
          </a:ln>
        </p:spPr>
      </p:sp>
      <p:sp>
        <p:nvSpPr>
          <p:cNvPr id="27" name="Shape 25"/>
          <p:cNvSpPr/>
          <p:nvPr/>
        </p:nvSpPr>
        <p:spPr>
          <a:xfrm>
            <a:off x="3794760" y="1371600"/>
            <a:ext cx="1371600" cy="4544568"/>
          </a:xfrm>
          <a:prstGeom prst="roundRect">
            <a:avLst>
              <a:gd name="adj" fmla="val 8000"/>
            </a:avLst>
          </a:prstGeom>
          <a:solidFill>
            <a:srgbClr val="22B8CF"/>
          </a:solidFill>
          <a:ln w="12700">
            <a:solidFill>
              <a:srgbClr val="22B8CF"/>
            </a:solidFill>
            <a:prstDash val="solid"/>
          </a:ln>
        </p:spPr>
      </p:sp>
      <p:sp>
        <p:nvSpPr>
          <p:cNvPr id="28" name="Text 26"/>
          <p:cNvSpPr txBox="1"/>
          <p:nvPr/>
        </p:nvSpPr>
        <p:spPr>
          <a:xfrm>
            <a:off x="3794760" y="1371600"/>
            <a:ext cx="1371600" cy="4544568"/>
          </a:xfrm>
          <a:prstGeom prst="rect">
            <a:avLst/>
          </a:prstGeom>
          <a:noFill/>
          <a:ln/>
        </p:spPr>
        <p:txBody>
          <a:bodyPr wrap="square" lIns="0" tIns="0" rIns="0" bIns="0" rtlCol="0" anchor="ctr"/>
          <a:lstStyle/>
          <a:p>
            <a:pPr algn="ctr" indent="0" marL="0">
              <a:buNone/>
            </a:pPr>
            <a:r>
              <a:rPr lang="en-US" sz="1500" b="1" dirty="0">
                <a:solidFill>
                  <a:srgbClr val="FFFFFF"/>
                </a:solidFill>
              </a:rPr>
              <a:t>Standard JSON</a:t>
            </a:r>
            <a:endParaRPr lang="en-US" sz="1500" dirty="0"/>
          </a:p>
        </p:txBody>
      </p:sp>
      <p:sp>
        <p:nvSpPr>
          <p:cNvPr id="29" name="Shape 27"/>
          <p:cNvSpPr/>
          <p:nvPr/>
        </p:nvSpPr>
        <p:spPr>
          <a:xfrm>
            <a:off x="5212080" y="3639312"/>
            <a:ext cx="411480" cy="9144"/>
          </a:xfrm>
          <a:prstGeom prst="line">
            <a:avLst/>
          </a:prstGeom>
          <a:noFill/>
          <a:ln w="19050">
            <a:solidFill>
              <a:srgbClr val="9AA0BF"/>
            </a:solidFill>
            <a:prstDash val="solid"/>
            <a:tailEnd type="triangle"/>
          </a:ln>
        </p:spPr>
      </p:sp>
      <p:sp>
        <p:nvSpPr>
          <p:cNvPr id="30" name="Shape 28"/>
          <p:cNvSpPr/>
          <p:nvPr/>
        </p:nvSpPr>
        <p:spPr>
          <a:xfrm>
            <a:off x="5669280" y="1371600"/>
            <a:ext cx="3291840" cy="4544568"/>
          </a:xfrm>
          <a:prstGeom prst="roundRect">
            <a:avLst>
              <a:gd name="adj" fmla="val 3333"/>
            </a:avLst>
          </a:prstGeom>
          <a:solidFill>
            <a:srgbClr val="6C5CE7"/>
          </a:solidFill>
          <a:ln w="12700">
            <a:solidFill>
              <a:srgbClr val="6C5CE7"/>
            </a:solidFill>
            <a:prstDash val="solid"/>
          </a:ln>
        </p:spPr>
      </p:sp>
      <p:sp>
        <p:nvSpPr>
          <p:cNvPr id="31" name="Text 29"/>
          <p:cNvSpPr txBox="1"/>
          <p:nvPr/>
        </p:nvSpPr>
        <p:spPr>
          <a:xfrm>
            <a:off x="5669280" y="1463040"/>
            <a:ext cx="3291840" cy="365760"/>
          </a:xfrm>
          <a:prstGeom prst="rect">
            <a:avLst/>
          </a:prstGeom>
          <a:noFill/>
          <a:ln/>
        </p:spPr>
        <p:txBody>
          <a:bodyPr wrap="square" lIns="0" tIns="0" rIns="0" bIns="0" rtlCol="0" anchor="t"/>
          <a:lstStyle/>
          <a:p>
            <a:pPr algn="ctr" indent="0" marL="0">
              <a:buNone/>
            </a:pPr>
            <a:r>
              <a:rPr lang="en-US" sz="1500" b="1" dirty="0">
                <a:solidFill>
                  <a:srgbClr val="FFFFFF"/>
                </a:solidFill>
              </a:rPr>
              <a:t>7 agents + validator</a:t>
            </a:r>
            <a:endParaRPr lang="en-US" sz="1500" dirty="0"/>
          </a:p>
        </p:txBody>
      </p:sp>
      <p:sp>
        <p:nvSpPr>
          <p:cNvPr id="32" name="Text 30"/>
          <p:cNvSpPr txBox="1"/>
          <p:nvPr/>
        </p:nvSpPr>
        <p:spPr>
          <a:xfrm>
            <a:off x="5806440" y="1965960"/>
            <a:ext cx="3017520" cy="548640"/>
          </a:xfrm>
          <a:prstGeom prst="rect">
            <a:avLst/>
          </a:prstGeom>
          <a:noFill/>
          <a:ln/>
        </p:spPr>
        <p:txBody>
          <a:bodyPr wrap="square" lIns="0" tIns="0" rIns="0" bIns="0" rtlCol="0" anchor="ctr"/>
          <a:lstStyle/>
          <a:p>
            <a:pPr algn="ctr" indent="0" marL="0">
              <a:buNone/>
            </a:pPr>
            <a:r>
              <a:rPr lang="en-US" sz="1200" dirty="0">
                <a:solidFill>
                  <a:srgbClr val="ECEAFF"/>
                </a:solidFill>
              </a:rPr>
              <a:t>analyse: story · knowledge · data · repo</a:t>
            </a:r>
            <a:endParaRPr lang="en-US" sz="1200" dirty="0"/>
          </a:p>
        </p:txBody>
      </p:sp>
      <p:sp>
        <p:nvSpPr>
          <p:cNvPr id="33" name="Text 31"/>
          <p:cNvSpPr txBox="1"/>
          <p:nvPr/>
        </p:nvSpPr>
        <p:spPr>
          <a:xfrm>
            <a:off x="5806440" y="2587752"/>
            <a:ext cx="3017520" cy="548640"/>
          </a:xfrm>
          <a:prstGeom prst="rect">
            <a:avLst/>
          </a:prstGeom>
          <a:noFill/>
          <a:ln/>
        </p:spPr>
        <p:txBody>
          <a:bodyPr wrap="square" lIns="0" tIns="0" rIns="0" bIns="0" rtlCol="0" anchor="ctr"/>
          <a:lstStyle/>
          <a:p>
            <a:pPr algn="ctr" indent="0" marL="0">
              <a:buNone/>
            </a:pPr>
            <a:r>
              <a:rPr lang="en-US" sz="1200" dirty="0">
                <a:solidFill>
                  <a:srgbClr val="ECEAFF"/>
                </a:solidFill>
              </a:rPr>
              <a:t>plan: design, files, registrations</a:t>
            </a:r>
            <a:endParaRPr lang="en-US" sz="1200" dirty="0"/>
          </a:p>
        </p:txBody>
      </p:sp>
      <p:sp>
        <p:nvSpPr>
          <p:cNvPr id="34" name="Text 32"/>
          <p:cNvSpPr txBox="1"/>
          <p:nvPr/>
        </p:nvSpPr>
        <p:spPr>
          <a:xfrm>
            <a:off x="5806440" y="3209544"/>
            <a:ext cx="3017520" cy="548640"/>
          </a:xfrm>
          <a:prstGeom prst="rect">
            <a:avLst/>
          </a:prstGeom>
          <a:noFill/>
          <a:ln/>
        </p:spPr>
        <p:txBody>
          <a:bodyPr wrap="square" lIns="0" tIns="0" rIns="0" bIns="0" rtlCol="0" anchor="ctr"/>
          <a:lstStyle/>
          <a:p>
            <a:pPr algn="ctr" indent="0" marL="0">
              <a:buNone/>
            </a:pPr>
            <a:r>
              <a:rPr lang="en-US" sz="1200" dirty="0">
                <a:solidFill>
                  <a:srgbClr val="ECEAFF"/>
                </a:solidFill>
              </a:rPr>
              <a:t>build: one file each, in parallel</a:t>
            </a:r>
            <a:endParaRPr lang="en-US" sz="1200" dirty="0"/>
          </a:p>
        </p:txBody>
      </p:sp>
      <p:sp>
        <p:nvSpPr>
          <p:cNvPr id="35" name="Text 33"/>
          <p:cNvSpPr txBox="1"/>
          <p:nvPr/>
        </p:nvSpPr>
        <p:spPr>
          <a:xfrm>
            <a:off x="5806440" y="3831336"/>
            <a:ext cx="3017520" cy="548640"/>
          </a:xfrm>
          <a:prstGeom prst="rect">
            <a:avLst/>
          </a:prstGeom>
          <a:noFill/>
          <a:ln/>
        </p:spPr>
        <p:txBody>
          <a:bodyPr wrap="square" lIns="0" tIns="0" rIns="0" bIns="0" rtlCol="0" anchor="ctr"/>
          <a:lstStyle/>
          <a:p>
            <a:pPr algn="ctr" indent="0" marL="0">
              <a:buNone/>
            </a:pPr>
            <a:r>
              <a:rPr lang="en-US" sz="1200" dirty="0">
                <a:solidFill>
                  <a:srgbClr val="ECEAFF"/>
                </a:solidFill>
              </a:rPr>
              <a:t>check: validator (code) + reviewer (agent)</a:t>
            </a:r>
            <a:endParaRPr lang="en-US" sz="1200" dirty="0"/>
          </a:p>
        </p:txBody>
      </p:sp>
      <p:sp>
        <p:nvSpPr>
          <p:cNvPr id="36" name="Text 34"/>
          <p:cNvSpPr txBox="1"/>
          <p:nvPr/>
        </p:nvSpPr>
        <p:spPr>
          <a:xfrm>
            <a:off x="5806440" y="4453128"/>
            <a:ext cx="3017520" cy="548640"/>
          </a:xfrm>
          <a:prstGeom prst="rect">
            <a:avLst/>
          </a:prstGeom>
          <a:noFill/>
          <a:ln/>
        </p:spPr>
        <p:txBody>
          <a:bodyPr wrap="square" lIns="0" tIns="0" rIns="0" bIns="0" rtlCol="0" anchor="ctr"/>
          <a:lstStyle/>
          <a:p>
            <a:pPr algn="ctr" indent="0" marL="0">
              <a:buNone/>
            </a:pPr>
            <a:r>
              <a:rPr lang="en-US" sz="1200" dirty="0">
                <a:solidFill>
                  <a:srgbClr val="ECEAFF"/>
                </a:solidFill>
              </a:rPr>
              <a:t>fix loop until clean</a:t>
            </a:r>
            <a:endParaRPr lang="en-US" sz="1200" dirty="0"/>
          </a:p>
        </p:txBody>
      </p:sp>
      <p:sp>
        <p:nvSpPr>
          <p:cNvPr id="37" name="Text 35"/>
          <p:cNvSpPr txBox="1"/>
          <p:nvPr/>
        </p:nvSpPr>
        <p:spPr>
          <a:xfrm>
            <a:off x="5806440" y="5074920"/>
            <a:ext cx="3017520" cy="548640"/>
          </a:xfrm>
          <a:prstGeom prst="rect">
            <a:avLst/>
          </a:prstGeom>
          <a:noFill/>
          <a:ln/>
        </p:spPr>
        <p:txBody>
          <a:bodyPr wrap="square" lIns="0" tIns="0" rIns="0" bIns="0" rtlCol="0" anchor="ctr"/>
          <a:lstStyle/>
          <a:p>
            <a:pPr algn="ctr" indent="0" marL="0">
              <a:buNone/>
            </a:pPr>
            <a:r>
              <a:rPr lang="en-US" sz="1200" dirty="0">
                <a:solidFill>
                  <a:srgbClr val="ECEAFF"/>
                </a:solidFill>
              </a:rPr>
              <a:t>confidence score</a:t>
            </a:r>
            <a:endParaRPr lang="en-US" sz="1200" dirty="0"/>
          </a:p>
        </p:txBody>
      </p:sp>
      <p:sp>
        <p:nvSpPr>
          <p:cNvPr id="38" name="Shape 36"/>
          <p:cNvSpPr/>
          <p:nvPr/>
        </p:nvSpPr>
        <p:spPr>
          <a:xfrm>
            <a:off x="9006840" y="3639312"/>
            <a:ext cx="411480" cy="9144"/>
          </a:xfrm>
          <a:prstGeom prst="line">
            <a:avLst/>
          </a:prstGeom>
          <a:noFill/>
          <a:ln w="19050">
            <a:solidFill>
              <a:srgbClr val="9AA0BF"/>
            </a:solidFill>
            <a:prstDash val="solid"/>
            <a:tailEnd type="triangle"/>
          </a:ln>
        </p:spPr>
      </p:sp>
      <p:sp>
        <p:nvSpPr>
          <p:cNvPr id="39" name="Shape 37"/>
          <p:cNvSpPr/>
          <p:nvPr/>
        </p:nvSpPr>
        <p:spPr>
          <a:xfrm>
            <a:off x="9464040" y="1371600"/>
            <a:ext cx="2331720" cy="1005840"/>
          </a:xfrm>
          <a:prstGeom prst="roundRect">
            <a:avLst>
              <a:gd name="adj" fmla="val 9091"/>
            </a:avLst>
          </a:prstGeom>
          <a:solidFill>
            <a:srgbClr val="F1F2F8"/>
          </a:solidFill>
          <a:ln w="15875">
            <a:solidFill>
              <a:srgbClr val="2E9E6B"/>
            </a:solidFill>
            <a:prstDash val="solid"/>
          </a:ln>
        </p:spPr>
      </p:sp>
      <p:sp>
        <p:nvSpPr>
          <p:cNvPr id="40" name="Text 38"/>
          <p:cNvSpPr txBox="1"/>
          <p:nvPr/>
        </p:nvSpPr>
        <p:spPr>
          <a:xfrm>
            <a:off x="9601200" y="1481328"/>
            <a:ext cx="2103120" cy="320040"/>
          </a:xfrm>
          <a:prstGeom prst="rect">
            <a:avLst/>
          </a:prstGeom>
          <a:noFill/>
          <a:ln/>
        </p:spPr>
        <p:txBody>
          <a:bodyPr wrap="square" lIns="0" tIns="0" rIns="0" bIns="0" rtlCol="0" anchor="t"/>
          <a:lstStyle/>
          <a:p>
            <a:pPr indent="0" marL="0">
              <a:buNone/>
            </a:pPr>
            <a:r>
              <a:rPr lang="en-US" sz="1300" b="1" dirty="0">
                <a:solidFill>
                  <a:srgbClr val="1B1F3B"/>
                </a:solidFill>
              </a:rPr>
              <a:t>Git branch</a:t>
            </a:r>
            <a:endParaRPr lang="en-US" sz="1300" dirty="0"/>
          </a:p>
        </p:txBody>
      </p:sp>
      <p:sp>
        <p:nvSpPr>
          <p:cNvPr id="41" name="Text 39"/>
          <p:cNvSpPr txBox="1"/>
          <p:nvPr/>
        </p:nvSpPr>
        <p:spPr>
          <a:xfrm>
            <a:off x="9601200" y="1828800"/>
            <a:ext cx="2103120" cy="502920"/>
          </a:xfrm>
          <a:prstGeom prst="rect">
            <a:avLst/>
          </a:prstGeom>
          <a:noFill/>
          <a:ln/>
        </p:spPr>
        <p:txBody>
          <a:bodyPr wrap="square" lIns="0" tIns="0" rIns="0" bIns="0" rtlCol="0" anchor="t"/>
          <a:lstStyle/>
          <a:p>
            <a:pPr indent="0" marL="0">
              <a:buNone/>
            </a:pPr>
            <a:r>
              <a:rPr lang="en-US" sz="1050" dirty="0">
                <a:solidFill>
                  <a:srgbClr val="4A4F6B"/>
                </a:solidFill>
              </a:rPr>
              <a:t>pushed in the developer's name</a:t>
            </a:r>
            <a:endParaRPr lang="en-US" sz="1050" dirty="0"/>
          </a:p>
        </p:txBody>
      </p:sp>
      <p:sp>
        <p:nvSpPr>
          <p:cNvPr id="42" name="Shape 40"/>
          <p:cNvSpPr/>
          <p:nvPr/>
        </p:nvSpPr>
        <p:spPr>
          <a:xfrm>
            <a:off x="9464040" y="2532888"/>
            <a:ext cx="2331720" cy="1005840"/>
          </a:xfrm>
          <a:prstGeom prst="roundRect">
            <a:avLst>
              <a:gd name="adj" fmla="val 9091"/>
            </a:avLst>
          </a:prstGeom>
          <a:solidFill>
            <a:srgbClr val="F1F2F8"/>
          </a:solidFill>
          <a:ln w="15875">
            <a:solidFill>
              <a:srgbClr val="2E9E6B"/>
            </a:solidFill>
            <a:prstDash val="solid"/>
          </a:ln>
        </p:spPr>
      </p:sp>
      <p:sp>
        <p:nvSpPr>
          <p:cNvPr id="43" name="Text 41"/>
          <p:cNvSpPr txBox="1"/>
          <p:nvPr/>
        </p:nvSpPr>
        <p:spPr>
          <a:xfrm>
            <a:off x="9601200" y="2642616"/>
            <a:ext cx="2103120" cy="320040"/>
          </a:xfrm>
          <a:prstGeom prst="rect">
            <a:avLst/>
          </a:prstGeom>
          <a:noFill/>
          <a:ln/>
        </p:spPr>
        <p:txBody>
          <a:bodyPr wrap="square" lIns="0" tIns="0" rIns="0" bIns="0" rtlCol="0" anchor="t"/>
          <a:lstStyle/>
          <a:p>
            <a:pPr indent="0" marL="0">
              <a:buNone/>
            </a:pPr>
            <a:r>
              <a:rPr lang="en-US" sz="1300" b="1" dirty="0">
                <a:solidFill>
                  <a:srgbClr val="1B1F3B"/>
                </a:solidFill>
              </a:rPr>
              <a:t>Plan · review · diff</a:t>
            </a:r>
            <a:endParaRPr lang="en-US" sz="1300" dirty="0"/>
          </a:p>
        </p:txBody>
      </p:sp>
      <p:sp>
        <p:nvSpPr>
          <p:cNvPr id="44" name="Text 42"/>
          <p:cNvSpPr txBox="1"/>
          <p:nvPr/>
        </p:nvSpPr>
        <p:spPr>
          <a:xfrm>
            <a:off x="9601200" y="2990088"/>
            <a:ext cx="2103120" cy="502920"/>
          </a:xfrm>
          <a:prstGeom prst="rect">
            <a:avLst/>
          </a:prstGeom>
          <a:noFill/>
          <a:ln/>
        </p:spPr>
        <p:txBody>
          <a:bodyPr wrap="square" lIns="0" tIns="0" rIns="0" bIns="0" rtlCol="0" anchor="t"/>
          <a:lstStyle/>
          <a:p>
            <a:pPr indent="0" marL="0">
              <a:buNone/>
            </a:pPr>
            <a:r>
              <a:rPr lang="en-US" sz="1050" dirty="0">
                <a:solidFill>
                  <a:srgbClr val="4A4F6B"/>
                </a:solidFill>
              </a:rPr>
              <a:t>readable before pushing</a:t>
            </a:r>
            <a:endParaRPr lang="en-US" sz="1050" dirty="0"/>
          </a:p>
        </p:txBody>
      </p:sp>
      <p:sp>
        <p:nvSpPr>
          <p:cNvPr id="45" name="Shape 43"/>
          <p:cNvSpPr/>
          <p:nvPr/>
        </p:nvSpPr>
        <p:spPr>
          <a:xfrm>
            <a:off x="9464040" y="3694176"/>
            <a:ext cx="2331720" cy="1005840"/>
          </a:xfrm>
          <a:prstGeom prst="roundRect">
            <a:avLst>
              <a:gd name="adj" fmla="val 9091"/>
            </a:avLst>
          </a:prstGeom>
          <a:solidFill>
            <a:srgbClr val="F1F2F8"/>
          </a:solidFill>
          <a:ln w="15875">
            <a:solidFill>
              <a:srgbClr val="2E9E6B"/>
            </a:solidFill>
            <a:prstDash val="solid"/>
          </a:ln>
        </p:spPr>
      </p:sp>
      <p:sp>
        <p:nvSpPr>
          <p:cNvPr id="46" name="Text 44"/>
          <p:cNvSpPr txBox="1"/>
          <p:nvPr/>
        </p:nvSpPr>
        <p:spPr>
          <a:xfrm>
            <a:off x="9601200" y="3803904"/>
            <a:ext cx="2103120" cy="320040"/>
          </a:xfrm>
          <a:prstGeom prst="rect">
            <a:avLst/>
          </a:prstGeom>
          <a:noFill/>
          <a:ln/>
        </p:spPr>
        <p:txBody>
          <a:bodyPr wrap="square" lIns="0" tIns="0" rIns="0" bIns="0" rtlCol="0" anchor="t"/>
          <a:lstStyle/>
          <a:p>
            <a:pPr indent="0" marL="0">
              <a:buNone/>
            </a:pPr>
            <a:r>
              <a:rPr lang="en-US" sz="1300" b="1" dirty="0">
                <a:solidFill>
                  <a:srgbClr val="1B1F3B"/>
                </a:solidFill>
              </a:rPr>
              <a:t>Confidence score</a:t>
            </a:r>
            <a:endParaRPr lang="en-US" sz="1300" dirty="0"/>
          </a:p>
        </p:txBody>
      </p:sp>
      <p:sp>
        <p:nvSpPr>
          <p:cNvPr id="47" name="Text 45"/>
          <p:cNvSpPr txBox="1"/>
          <p:nvPr/>
        </p:nvSpPr>
        <p:spPr>
          <a:xfrm>
            <a:off x="9601200" y="4151376"/>
            <a:ext cx="2103120" cy="502920"/>
          </a:xfrm>
          <a:prstGeom prst="rect">
            <a:avLst/>
          </a:prstGeom>
          <a:noFill/>
          <a:ln/>
        </p:spPr>
        <p:txBody>
          <a:bodyPr wrap="square" lIns="0" tIns="0" rIns="0" bIns="0" rtlCol="0" anchor="t"/>
          <a:lstStyle/>
          <a:p>
            <a:pPr indent="0" marL="0">
              <a:buNone/>
            </a:pPr>
            <a:r>
              <a:rPr lang="en-US" sz="1050" dirty="0">
                <a:solidFill>
                  <a:srgbClr val="4A4F6B"/>
                </a:solidFill>
              </a:rPr>
              <a:t>with what to do to raise it</a:t>
            </a:r>
            <a:endParaRPr lang="en-US" sz="1050" dirty="0"/>
          </a:p>
        </p:txBody>
      </p:sp>
      <p:sp>
        <p:nvSpPr>
          <p:cNvPr id="48" name="Shape 46"/>
          <p:cNvSpPr/>
          <p:nvPr/>
        </p:nvSpPr>
        <p:spPr>
          <a:xfrm>
            <a:off x="9464040" y="4855464"/>
            <a:ext cx="2331720" cy="1005840"/>
          </a:xfrm>
          <a:prstGeom prst="roundRect">
            <a:avLst>
              <a:gd name="adj" fmla="val 9091"/>
            </a:avLst>
          </a:prstGeom>
          <a:solidFill>
            <a:srgbClr val="F1F2F8"/>
          </a:solidFill>
          <a:ln w="15875">
            <a:solidFill>
              <a:srgbClr val="2E9E6B"/>
            </a:solidFill>
            <a:prstDash val="solid"/>
          </a:ln>
        </p:spPr>
      </p:sp>
      <p:sp>
        <p:nvSpPr>
          <p:cNvPr id="49" name="Text 47"/>
          <p:cNvSpPr txBox="1"/>
          <p:nvPr/>
        </p:nvSpPr>
        <p:spPr>
          <a:xfrm>
            <a:off x="9601200" y="4965192"/>
            <a:ext cx="2103120" cy="320040"/>
          </a:xfrm>
          <a:prstGeom prst="rect">
            <a:avLst/>
          </a:prstGeom>
          <a:noFill/>
          <a:ln/>
        </p:spPr>
        <p:txBody>
          <a:bodyPr wrap="square" lIns="0" tIns="0" rIns="0" bIns="0" rtlCol="0" anchor="t"/>
          <a:lstStyle/>
          <a:p>
            <a:pPr indent="0" marL="0">
              <a:buNone/>
            </a:pPr>
            <a:r>
              <a:rPr lang="en-US" sz="1300" b="1" dirty="0">
                <a:solidFill>
                  <a:srgbClr val="1B1F3B"/>
                </a:solidFill>
              </a:rPr>
              <a:t>Zip · log · tokens</a:t>
            </a:r>
            <a:endParaRPr lang="en-US" sz="1300" dirty="0"/>
          </a:p>
        </p:txBody>
      </p:sp>
      <p:sp>
        <p:nvSpPr>
          <p:cNvPr id="50" name="Text 48"/>
          <p:cNvSpPr txBox="1"/>
          <p:nvPr/>
        </p:nvSpPr>
        <p:spPr>
          <a:xfrm>
            <a:off x="9601200" y="5312664"/>
            <a:ext cx="2103120" cy="502920"/>
          </a:xfrm>
          <a:prstGeom prst="rect">
            <a:avLst/>
          </a:prstGeom>
          <a:noFill/>
          <a:ln/>
        </p:spPr>
        <p:txBody>
          <a:bodyPr wrap="square" lIns="0" tIns="0" rIns="0" bIns="0" rtlCol="0" anchor="t"/>
          <a:lstStyle/>
          <a:p>
            <a:pPr indent="0" marL="0">
              <a:buNone/>
            </a:pPr>
            <a:r>
              <a:rPr lang="en-US" sz="1050" dirty="0">
                <a:solidFill>
                  <a:srgbClr val="4A4F6B"/>
                </a:solidFill>
              </a:rPr>
              <a:t>audit trail and cost</a:t>
            </a:r>
            <a:endParaRPr lang="en-US" sz="1050" dirty="0"/>
          </a:p>
        </p:txBody>
      </p:sp>
      <p:sp>
        <p:nvSpPr>
          <p:cNvPr id="51" name="Text 49"/>
          <p:cNvSpPr txBox="1"/>
          <p:nvPr/>
        </p:nvSpPr>
        <p:spPr>
          <a:xfrm>
            <a:off x="640080" y="6035040"/>
            <a:ext cx="10972800" cy="365760"/>
          </a:xfrm>
          <a:prstGeom prst="rect">
            <a:avLst/>
          </a:prstGeom>
          <a:noFill/>
          <a:ln/>
        </p:spPr>
        <p:txBody>
          <a:bodyPr wrap="square" lIns="0" tIns="0" rIns="0" bIns="0" rtlCol="0" anchor="t"/>
          <a:lstStyle/>
          <a:p>
            <a:pPr indent="0" marL="0">
              <a:buNone/>
            </a:pPr>
            <a:r>
              <a:rPr lang="en-US" sz="1250" i="1" dirty="0">
                <a:solidFill>
                  <a:srgbClr val="6C5CE7"/>
                </a:solidFill>
              </a:rPr>
              <a:t>Everything the team already has goes in; everything becomes one standard structure; a reviewed branch comes out. Nothing IKG-specific is hard-coded.</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In plain words: what happens to each input, step by step</a:t>
            </a:r>
            <a:endParaRPr lang="en-US" sz="3000" dirty="0"/>
          </a:p>
        </p:txBody>
      </p:sp>
      <p:sp>
        <p:nvSpPr>
          <p:cNvPr id="3" name="Shape 1"/>
          <p:cNvSpPr/>
          <p:nvPr/>
        </p:nvSpPr>
        <p:spPr>
          <a:xfrm>
            <a:off x="640080" y="1325880"/>
            <a:ext cx="2377440" cy="960120"/>
          </a:xfrm>
          <a:prstGeom prst="roundRect">
            <a:avLst>
              <a:gd name="adj" fmla="val 9524"/>
            </a:avLst>
          </a:prstGeom>
          <a:solidFill>
            <a:srgbClr val="F1F2F8"/>
          </a:solidFill>
          <a:ln w="12700">
            <a:solidFill>
              <a:srgbClr val="F1F2F8"/>
            </a:solidFill>
            <a:prstDash val="solid"/>
          </a:ln>
        </p:spPr>
      </p:sp>
      <p:sp>
        <p:nvSpPr>
          <p:cNvPr id="4" name="Text 2"/>
          <p:cNvSpPr txBox="1"/>
          <p:nvPr/>
        </p:nvSpPr>
        <p:spPr>
          <a:xfrm>
            <a:off x="777240" y="1417320"/>
            <a:ext cx="2194560" cy="365760"/>
          </a:xfrm>
          <a:prstGeom prst="rect">
            <a:avLst/>
          </a:prstGeom>
          <a:noFill/>
          <a:ln/>
        </p:spPr>
        <p:txBody>
          <a:bodyPr wrap="square" lIns="0" tIns="0" rIns="0" bIns="0" rtlCol="0" anchor="t"/>
          <a:lstStyle/>
          <a:p>
            <a:pPr indent="0" marL="0">
              <a:buNone/>
            </a:pPr>
            <a:r>
              <a:rPr lang="en-US" sz="1300" b="1" dirty="0">
                <a:solidFill>
                  <a:srgbClr val="1B1F3B"/>
                </a:solidFill>
              </a:rPr>
              <a:t>Story</a:t>
            </a:r>
            <a:endParaRPr lang="en-US" sz="1300" dirty="0"/>
          </a:p>
        </p:txBody>
      </p:sp>
      <p:sp>
        <p:nvSpPr>
          <p:cNvPr id="5" name="Text 3"/>
          <p:cNvSpPr txBox="1"/>
          <p:nvPr/>
        </p:nvSpPr>
        <p:spPr>
          <a:xfrm>
            <a:off x="777240" y="1783080"/>
            <a:ext cx="2194560" cy="457200"/>
          </a:xfrm>
          <a:prstGeom prst="rect">
            <a:avLst/>
          </a:prstGeom>
          <a:noFill/>
          <a:ln/>
        </p:spPr>
        <p:txBody>
          <a:bodyPr wrap="square" lIns="0" tIns="0" rIns="0" bIns="0" rtlCol="0" anchor="t"/>
          <a:lstStyle/>
          <a:p>
            <a:pPr indent="0" marL="0">
              <a:buNone/>
            </a:pPr>
            <a:r>
              <a:rPr lang="en-US" sz="1050" i="1" dirty="0">
                <a:solidFill>
                  <a:srgbClr val="4A4F6B"/>
                </a:solidFill>
              </a:rPr>
              <a:t>read with a highlighter</a:t>
            </a:r>
            <a:endParaRPr lang="en-US" sz="1050" dirty="0"/>
          </a:p>
        </p:txBody>
      </p:sp>
      <p:sp>
        <p:nvSpPr>
          <p:cNvPr id="6" name="Shape 4"/>
          <p:cNvSpPr/>
          <p:nvPr/>
        </p:nvSpPr>
        <p:spPr>
          <a:xfrm>
            <a:off x="3063240" y="1801368"/>
            <a:ext cx="411480" cy="9144"/>
          </a:xfrm>
          <a:prstGeom prst="line">
            <a:avLst/>
          </a:prstGeom>
          <a:noFill/>
          <a:ln w="19050">
            <a:solidFill>
              <a:srgbClr val="22B8CF"/>
            </a:solidFill>
            <a:prstDash val="solid"/>
            <a:tailEnd type="triangle"/>
          </a:ln>
        </p:spPr>
      </p:sp>
      <p:sp>
        <p:nvSpPr>
          <p:cNvPr id="7" name="Shape 5"/>
          <p:cNvSpPr/>
          <p:nvPr/>
        </p:nvSpPr>
        <p:spPr>
          <a:xfrm>
            <a:off x="3520440" y="1325880"/>
            <a:ext cx="2743200" cy="960120"/>
          </a:xfrm>
          <a:prstGeom prst="roundRect">
            <a:avLst>
              <a:gd name="adj" fmla="val 9524"/>
            </a:avLst>
          </a:prstGeom>
          <a:solidFill>
            <a:srgbClr val="FFFFFF"/>
          </a:solidFill>
          <a:ln w="19050">
            <a:solidFill>
              <a:srgbClr val="22B8CF"/>
            </a:solidFill>
            <a:prstDash val="solid"/>
          </a:ln>
        </p:spPr>
      </p:sp>
      <p:sp>
        <p:nvSpPr>
          <p:cNvPr id="8" name="Text 6"/>
          <p:cNvSpPr txBox="1"/>
          <p:nvPr/>
        </p:nvSpPr>
        <p:spPr>
          <a:xfrm>
            <a:off x="3657600" y="1417320"/>
            <a:ext cx="2560320" cy="274320"/>
          </a:xfrm>
          <a:prstGeom prst="rect">
            <a:avLst/>
          </a:prstGeom>
          <a:noFill/>
          <a:ln/>
        </p:spPr>
        <p:txBody>
          <a:bodyPr wrap="square" lIns="0" tIns="0" rIns="0" bIns="0" rtlCol="0" anchor="t"/>
          <a:lstStyle/>
          <a:p>
            <a:pPr indent="0" marL="0">
              <a:buNone/>
            </a:pPr>
            <a:r>
              <a:rPr lang="en-US" sz="1100" b="1" dirty="0">
                <a:solidFill>
                  <a:srgbClr val="22B8CF"/>
                </a:solidFill>
              </a:rPr>
              <a:t>fact sheet (JSON)</a:t>
            </a:r>
            <a:endParaRPr lang="en-US" sz="1100" dirty="0"/>
          </a:p>
        </p:txBody>
      </p:sp>
      <p:sp>
        <p:nvSpPr>
          <p:cNvPr id="9" name="Text 7"/>
          <p:cNvSpPr txBox="1"/>
          <p:nvPr/>
        </p:nvSpPr>
        <p:spPr>
          <a:xfrm>
            <a:off x="3657600" y="1691640"/>
            <a:ext cx="2560320" cy="594360"/>
          </a:xfrm>
          <a:prstGeom prst="rect">
            <a:avLst/>
          </a:prstGeom>
          <a:noFill/>
          <a:ln/>
        </p:spPr>
        <p:txBody>
          <a:bodyPr wrap="square" lIns="0" tIns="0" rIns="0" bIns="0" rtlCol="0" anchor="t"/>
          <a:lstStyle/>
          <a:p>
            <a:pPr indent="0" marL="0">
              <a:buNone/>
            </a:pPr>
            <a:r>
              <a:rPr lang="en-US" sz="1050" dirty="0">
                <a:solidFill>
                  <a:srgbClr val="4A4F6B"/>
                </a:solidFill>
              </a:rPr>
              <a:t>requirements, rules, tables, the SQL = the spec</a:t>
            </a:r>
            <a:endParaRPr lang="en-US" sz="1050" dirty="0"/>
          </a:p>
        </p:txBody>
      </p:sp>
      <p:sp>
        <p:nvSpPr>
          <p:cNvPr id="10" name="Shape 8"/>
          <p:cNvSpPr/>
          <p:nvPr/>
        </p:nvSpPr>
        <p:spPr>
          <a:xfrm>
            <a:off x="6309360" y="1801368"/>
            <a:ext cx="411480" cy="1810512"/>
          </a:xfrm>
          <a:prstGeom prst="line">
            <a:avLst/>
          </a:prstGeom>
          <a:noFill/>
          <a:ln w="19050">
            <a:solidFill>
              <a:srgbClr val="9AA0BF"/>
            </a:solidFill>
            <a:prstDash val="solid"/>
            <a:tailEnd type="triangle"/>
          </a:ln>
        </p:spPr>
      </p:sp>
      <p:sp>
        <p:nvSpPr>
          <p:cNvPr id="11" name="Shape 9"/>
          <p:cNvSpPr/>
          <p:nvPr/>
        </p:nvSpPr>
        <p:spPr>
          <a:xfrm>
            <a:off x="640080" y="2468880"/>
            <a:ext cx="2377440" cy="960120"/>
          </a:xfrm>
          <a:prstGeom prst="roundRect">
            <a:avLst>
              <a:gd name="adj" fmla="val 9524"/>
            </a:avLst>
          </a:prstGeom>
          <a:solidFill>
            <a:srgbClr val="F1F2F8"/>
          </a:solidFill>
          <a:ln w="12700">
            <a:solidFill>
              <a:srgbClr val="F1F2F8"/>
            </a:solidFill>
            <a:prstDash val="solid"/>
          </a:ln>
        </p:spPr>
      </p:sp>
      <p:sp>
        <p:nvSpPr>
          <p:cNvPr id="12" name="Text 10"/>
          <p:cNvSpPr txBox="1"/>
          <p:nvPr/>
        </p:nvSpPr>
        <p:spPr>
          <a:xfrm>
            <a:off x="777240" y="2560320"/>
            <a:ext cx="2194560" cy="365760"/>
          </a:xfrm>
          <a:prstGeom prst="rect">
            <a:avLst/>
          </a:prstGeom>
          <a:noFill/>
          <a:ln/>
        </p:spPr>
        <p:txBody>
          <a:bodyPr wrap="square" lIns="0" tIns="0" rIns="0" bIns="0" rtlCol="0" anchor="t"/>
          <a:lstStyle/>
          <a:p>
            <a:pPr indent="0" marL="0">
              <a:buNone/>
            </a:pPr>
            <a:r>
              <a:rPr lang="en-US" sz="1300" b="1" dirty="0">
                <a:solidFill>
                  <a:srgbClr val="1B1F3B"/>
                </a:solidFill>
              </a:rPr>
              <a:t>Skills · Glossary · Standards</a:t>
            </a:r>
            <a:endParaRPr lang="en-US" sz="1300" dirty="0"/>
          </a:p>
        </p:txBody>
      </p:sp>
      <p:sp>
        <p:nvSpPr>
          <p:cNvPr id="13" name="Text 11"/>
          <p:cNvSpPr txBox="1"/>
          <p:nvPr/>
        </p:nvSpPr>
        <p:spPr>
          <a:xfrm>
            <a:off x="777240" y="2926080"/>
            <a:ext cx="2194560" cy="457200"/>
          </a:xfrm>
          <a:prstGeom prst="rect">
            <a:avLst/>
          </a:prstGeom>
          <a:noFill/>
          <a:ln/>
        </p:spPr>
        <p:txBody>
          <a:bodyPr wrap="square" lIns="0" tIns="0" rIns="0" bIns="0" rtlCol="0" anchor="t"/>
          <a:lstStyle/>
          <a:p>
            <a:pPr indent="0" marL="0">
              <a:buNone/>
            </a:pPr>
            <a:r>
              <a:rPr lang="en-US" sz="1050" i="1" dirty="0">
                <a:solidFill>
                  <a:srgbClr val="4A4F6B"/>
                </a:solidFill>
              </a:rPr>
              <a:t>the wiki, summarised as rules</a:t>
            </a:r>
            <a:endParaRPr lang="en-US" sz="1050" dirty="0"/>
          </a:p>
        </p:txBody>
      </p:sp>
      <p:sp>
        <p:nvSpPr>
          <p:cNvPr id="14" name="Shape 12"/>
          <p:cNvSpPr/>
          <p:nvPr/>
        </p:nvSpPr>
        <p:spPr>
          <a:xfrm>
            <a:off x="3063240" y="2944368"/>
            <a:ext cx="411480" cy="9144"/>
          </a:xfrm>
          <a:prstGeom prst="line">
            <a:avLst/>
          </a:prstGeom>
          <a:noFill/>
          <a:ln w="19050">
            <a:solidFill>
              <a:srgbClr val="22B8CF"/>
            </a:solidFill>
            <a:prstDash val="solid"/>
            <a:tailEnd type="triangle"/>
          </a:ln>
        </p:spPr>
      </p:sp>
      <p:sp>
        <p:nvSpPr>
          <p:cNvPr id="15" name="Shape 13"/>
          <p:cNvSpPr/>
          <p:nvPr/>
        </p:nvSpPr>
        <p:spPr>
          <a:xfrm>
            <a:off x="3520440" y="2468880"/>
            <a:ext cx="2743200" cy="960120"/>
          </a:xfrm>
          <a:prstGeom prst="roundRect">
            <a:avLst>
              <a:gd name="adj" fmla="val 9524"/>
            </a:avLst>
          </a:prstGeom>
          <a:solidFill>
            <a:srgbClr val="FFFFFF"/>
          </a:solidFill>
          <a:ln w="19050">
            <a:solidFill>
              <a:srgbClr val="22B8CF"/>
            </a:solidFill>
            <a:prstDash val="solid"/>
          </a:ln>
        </p:spPr>
      </p:sp>
      <p:sp>
        <p:nvSpPr>
          <p:cNvPr id="16" name="Text 14"/>
          <p:cNvSpPr txBox="1"/>
          <p:nvPr/>
        </p:nvSpPr>
        <p:spPr>
          <a:xfrm>
            <a:off x="3657600" y="2560320"/>
            <a:ext cx="2560320" cy="274320"/>
          </a:xfrm>
          <a:prstGeom prst="rect">
            <a:avLst/>
          </a:prstGeom>
          <a:noFill/>
          <a:ln/>
        </p:spPr>
        <p:txBody>
          <a:bodyPr wrap="square" lIns="0" tIns="0" rIns="0" bIns="0" rtlCol="0" anchor="t"/>
          <a:lstStyle/>
          <a:p>
            <a:pPr indent="0" marL="0">
              <a:buNone/>
            </a:pPr>
            <a:r>
              <a:rPr lang="en-US" sz="1100" b="1" dirty="0">
                <a:solidFill>
                  <a:srgbClr val="22B8CF"/>
                </a:solidFill>
              </a:rPr>
              <a:t>fact sheet (JSON)</a:t>
            </a:r>
            <a:endParaRPr lang="en-US" sz="1100" dirty="0"/>
          </a:p>
        </p:txBody>
      </p:sp>
      <p:sp>
        <p:nvSpPr>
          <p:cNvPr id="17" name="Text 15"/>
          <p:cNvSpPr txBox="1"/>
          <p:nvPr/>
        </p:nvSpPr>
        <p:spPr>
          <a:xfrm>
            <a:off x="3657600" y="2834640"/>
            <a:ext cx="2560320" cy="594360"/>
          </a:xfrm>
          <a:prstGeom prst="rect">
            <a:avLst/>
          </a:prstGeom>
          <a:noFill/>
          <a:ln/>
        </p:spPr>
        <p:txBody>
          <a:bodyPr wrap="square" lIns="0" tIns="0" rIns="0" bIns="0" rtlCol="0" anchor="t"/>
          <a:lstStyle/>
          <a:p>
            <a:pPr indent="0" marL="0">
              <a:buNone/>
            </a:pPr>
            <a:r>
              <a:rPr lang="en-US" sz="1050" dirty="0">
                <a:solidFill>
                  <a:srgbClr val="4A4F6B"/>
                </a:solidFill>
              </a:rPr>
              <a:t>definitions, conventions, checkable rules</a:t>
            </a:r>
            <a:endParaRPr lang="en-US" sz="1050" dirty="0"/>
          </a:p>
        </p:txBody>
      </p:sp>
      <p:sp>
        <p:nvSpPr>
          <p:cNvPr id="18" name="Shape 16"/>
          <p:cNvSpPr/>
          <p:nvPr/>
        </p:nvSpPr>
        <p:spPr>
          <a:xfrm>
            <a:off x="6309360" y="2944368"/>
            <a:ext cx="411480" cy="667512"/>
          </a:xfrm>
          <a:prstGeom prst="line">
            <a:avLst/>
          </a:prstGeom>
          <a:noFill/>
          <a:ln w="19050">
            <a:solidFill>
              <a:srgbClr val="9AA0BF"/>
            </a:solidFill>
            <a:prstDash val="solid"/>
            <a:tailEnd type="triangle"/>
          </a:ln>
        </p:spPr>
      </p:sp>
      <p:sp>
        <p:nvSpPr>
          <p:cNvPr id="19" name="Shape 17"/>
          <p:cNvSpPr/>
          <p:nvPr/>
        </p:nvSpPr>
        <p:spPr>
          <a:xfrm>
            <a:off x="640080" y="3611880"/>
            <a:ext cx="2377440" cy="960120"/>
          </a:xfrm>
          <a:prstGeom prst="roundRect">
            <a:avLst>
              <a:gd name="adj" fmla="val 9524"/>
            </a:avLst>
          </a:prstGeom>
          <a:solidFill>
            <a:srgbClr val="F1F2F8"/>
          </a:solidFill>
          <a:ln w="12700">
            <a:solidFill>
              <a:srgbClr val="F1F2F8"/>
            </a:solidFill>
            <a:prstDash val="solid"/>
          </a:ln>
        </p:spPr>
      </p:sp>
      <p:sp>
        <p:nvSpPr>
          <p:cNvPr id="20" name="Text 18"/>
          <p:cNvSpPr txBox="1"/>
          <p:nvPr/>
        </p:nvSpPr>
        <p:spPr>
          <a:xfrm>
            <a:off x="777240" y="3703320"/>
            <a:ext cx="2194560" cy="365760"/>
          </a:xfrm>
          <a:prstGeom prst="rect">
            <a:avLst/>
          </a:prstGeom>
          <a:noFill/>
          <a:ln/>
        </p:spPr>
        <p:txBody>
          <a:bodyPr wrap="square" lIns="0" tIns="0" rIns="0" bIns="0" rtlCol="0" anchor="t"/>
          <a:lstStyle/>
          <a:p>
            <a:pPr indent="0" marL="0">
              <a:buNone/>
            </a:pPr>
            <a:r>
              <a:rPr lang="en-US" sz="1300" b="1" dirty="0">
                <a:solidFill>
                  <a:srgbClr val="1B1F3B"/>
                </a:solidFill>
              </a:rPr>
              <a:t>Greenplum</a:t>
            </a:r>
            <a:endParaRPr lang="en-US" sz="1300" dirty="0"/>
          </a:p>
        </p:txBody>
      </p:sp>
      <p:sp>
        <p:nvSpPr>
          <p:cNvPr id="21" name="Text 19"/>
          <p:cNvSpPr txBox="1"/>
          <p:nvPr/>
        </p:nvSpPr>
        <p:spPr>
          <a:xfrm>
            <a:off x="777240" y="4069080"/>
            <a:ext cx="2194560" cy="457200"/>
          </a:xfrm>
          <a:prstGeom prst="rect">
            <a:avLst/>
          </a:prstGeom>
          <a:noFill/>
          <a:ln/>
        </p:spPr>
        <p:txBody>
          <a:bodyPr wrap="square" lIns="0" tIns="0" rIns="0" bIns="0" rtlCol="0" anchor="t"/>
          <a:lstStyle/>
          <a:p>
            <a:pPr indent="0" marL="0">
              <a:buNone/>
            </a:pPr>
            <a:r>
              <a:rPr lang="en-US" sz="1050" i="1" dirty="0">
                <a:solidFill>
                  <a:srgbClr val="4A4F6B"/>
                </a:solidFill>
              </a:rPr>
              <a:t>a look at the real tables</a:t>
            </a:r>
            <a:endParaRPr lang="en-US" sz="1050" dirty="0"/>
          </a:p>
        </p:txBody>
      </p:sp>
      <p:sp>
        <p:nvSpPr>
          <p:cNvPr id="22" name="Shape 20"/>
          <p:cNvSpPr/>
          <p:nvPr/>
        </p:nvSpPr>
        <p:spPr>
          <a:xfrm>
            <a:off x="3063240" y="4087368"/>
            <a:ext cx="411480" cy="9144"/>
          </a:xfrm>
          <a:prstGeom prst="line">
            <a:avLst/>
          </a:prstGeom>
          <a:noFill/>
          <a:ln w="19050">
            <a:solidFill>
              <a:srgbClr val="22B8CF"/>
            </a:solidFill>
            <a:prstDash val="solid"/>
            <a:tailEnd type="triangle"/>
          </a:ln>
        </p:spPr>
      </p:sp>
      <p:sp>
        <p:nvSpPr>
          <p:cNvPr id="23" name="Shape 21"/>
          <p:cNvSpPr/>
          <p:nvPr/>
        </p:nvSpPr>
        <p:spPr>
          <a:xfrm>
            <a:off x="3520440" y="3611880"/>
            <a:ext cx="2743200" cy="960120"/>
          </a:xfrm>
          <a:prstGeom prst="roundRect">
            <a:avLst>
              <a:gd name="adj" fmla="val 9524"/>
            </a:avLst>
          </a:prstGeom>
          <a:solidFill>
            <a:srgbClr val="FFFFFF"/>
          </a:solidFill>
          <a:ln w="19050">
            <a:solidFill>
              <a:srgbClr val="22B8CF"/>
            </a:solidFill>
            <a:prstDash val="solid"/>
          </a:ln>
        </p:spPr>
      </p:sp>
      <p:sp>
        <p:nvSpPr>
          <p:cNvPr id="24" name="Text 22"/>
          <p:cNvSpPr txBox="1"/>
          <p:nvPr/>
        </p:nvSpPr>
        <p:spPr>
          <a:xfrm>
            <a:off x="3657600" y="3703320"/>
            <a:ext cx="2560320" cy="274320"/>
          </a:xfrm>
          <a:prstGeom prst="rect">
            <a:avLst/>
          </a:prstGeom>
          <a:noFill/>
          <a:ln/>
        </p:spPr>
        <p:txBody>
          <a:bodyPr wrap="square" lIns="0" tIns="0" rIns="0" bIns="0" rtlCol="0" anchor="t"/>
          <a:lstStyle/>
          <a:p>
            <a:pPr indent="0" marL="0">
              <a:buNone/>
            </a:pPr>
            <a:r>
              <a:rPr lang="en-US" sz="1100" b="1" dirty="0">
                <a:solidFill>
                  <a:srgbClr val="22B8CF"/>
                </a:solidFill>
              </a:rPr>
              <a:t>fact sheet (JSON)</a:t>
            </a:r>
            <a:endParaRPr lang="en-US" sz="1100" dirty="0"/>
          </a:p>
        </p:txBody>
      </p:sp>
      <p:sp>
        <p:nvSpPr>
          <p:cNvPr id="25" name="Text 23"/>
          <p:cNvSpPr txBox="1"/>
          <p:nvPr/>
        </p:nvSpPr>
        <p:spPr>
          <a:xfrm>
            <a:off x="3657600" y="3977640"/>
            <a:ext cx="2560320" cy="594360"/>
          </a:xfrm>
          <a:prstGeom prst="rect">
            <a:avLst/>
          </a:prstGeom>
          <a:noFill/>
          <a:ln/>
        </p:spPr>
        <p:txBody>
          <a:bodyPr wrap="square" lIns="0" tIns="0" rIns="0" bIns="0" rtlCol="0" anchor="t"/>
          <a:lstStyle/>
          <a:p>
            <a:pPr indent="0" marL="0">
              <a:buNone/>
            </a:pPr>
            <a:r>
              <a:rPr lang="en-US" sz="1050" dirty="0">
                <a:solidFill>
                  <a:srgbClr val="4A4F6B"/>
                </a:solidFill>
              </a:rPr>
              <a:t>grain, keys, types, samples</a:t>
            </a:r>
            <a:endParaRPr lang="en-US" sz="1050" dirty="0"/>
          </a:p>
        </p:txBody>
      </p:sp>
      <p:sp>
        <p:nvSpPr>
          <p:cNvPr id="26" name="Shape 24"/>
          <p:cNvSpPr/>
          <p:nvPr/>
        </p:nvSpPr>
        <p:spPr>
          <a:xfrm flipV="1">
            <a:off x="6309360" y="3611880"/>
            <a:ext cx="411480" cy="475488"/>
          </a:xfrm>
          <a:prstGeom prst="line">
            <a:avLst/>
          </a:prstGeom>
          <a:noFill/>
          <a:ln w="19050">
            <a:solidFill>
              <a:srgbClr val="9AA0BF"/>
            </a:solidFill>
            <a:prstDash val="solid"/>
            <a:tailEnd type="triangle"/>
          </a:ln>
        </p:spPr>
      </p:sp>
      <p:sp>
        <p:nvSpPr>
          <p:cNvPr id="27" name="Shape 25"/>
          <p:cNvSpPr/>
          <p:nvPr/>
        </p:nvSpPr>
        <p:spPr>
          <a:xfrm>
            <a:off x="640080" y="4754880"/>
            <a:ext cx="2377440" cy="960120"/>
          </a:xfrm>
          <a:prstGeom prst="roundRect">
            <a:avLst>
              <a:gd name="adj" fmla="val 9524"/>
            </a:avLst>
          </a:prstGeom>
          <a:solidFill>
            <a:srgbClr val="F1F2F8"/>
          </a:solidFill>
          <a:ln w="12700">
            <a:solidFill>
              <a:srgbClr val="F1F2F8"/>
            </a:solidFill>
            <a:prstDash val="solid"/>
          </a:ln>
        </p:spPr>
      </p:sp>
      <p:sp>
        <p:nvSpPr>
          <p:cNvPr id="28" name="Text 26"/>
          <p:cNvSpPr txBox="1"/>
          <p:nvPr/>
        </p:nvSpPr>
        <p:spPr>
          <a:xfrm>
            <a:off x="777240" y="4846320"/>
            <a:ext cx="2194560" cy="365760"/>
          </a:xfrm>
          <a:prstGeom prst="rect">
            <a:avLst/>
          </a:prstGeom>
          <a:noFill/>
          <a:ln/>
        </p:spPr>
        <p:txBody>
          <a:bodyPr wrap="square" lIns="0" tIns="0" rIns="0" bIns="0" rtlCol="0" anchor="t"/>
          <a:lstStyle/>
          <a:p>
            <a:pPr indent="0" marL="0">
              <a:buNone/>
            </a:pPr>
            <a:r>
              <a:rPr lang="en-US" sz="1300" b="1" dirty="0">
                <a:solidFill>
                  <a:srgbClr val="1B1F3B"/>
                </a:solidFill>
              </a:rPr>
              <a:t>Repository</a:t>
            </a:r>
            <a:endParaRPr lang="en-US" sz="1300" dirty="0"/>
          </a:p>
        </p:txBody>
      </p:sp>
      <p:sp>
        <p:nvSpPr>
          <p:cNvPr id="29" name="Text 27"/>
          <p:cNvSpPr txBox="1"/>
          <p:nvPr/>
        </p:nvSpPr>
        <p:spPr>
          <a:xfrm>
            <a:off x="777240" y="5212080"/>
            <a:ext cx="2194560" cy="457200"/>
          </a:xfrm>
          <a:prstGeom prst="rect">
            <a:avLst/>
          </a:prstGeom>
          <a:noFill/>
          <a:ln/>
        </p:spPr>
        <p:txBody>
          <a:bodyPr wrap="square" lIns="0" tIns="0" rIns="0" bIns="0" rtlCol="0" anchor="t"/>
          <a:lstStyle/>
          <a:p>
            <a:pPr indent="0" marL="0">
              <a:buNone/>
            </a:pPr>
            <a:r>
              <a:rPr lang="en-US" sz="1050" i="1" dirty="0">
                <a:solidFill>
                  <a:srgbClr val="4A4F6B"/>
                </a:solidFill>
              </a:rPr>
              <a:t>the walkthrough: how we do it here</a:t>
            </a:r>
            <a:endParaRPr lang="en-US" sz="1050" dirty="0"/>
          </a:p>
        </p:txBody>
      </p:sp>
      <p:sp>
        <p:nvSpPr>
          <p:cNvPr id="30" name="Shape 28"/>
          <p:cNvSpPr/>
          <p:nvPr/>
        </p:nvSpPr>
        <p:spPr>
          <a:xfrm>
            <a:off x="3063240" y="5230368"/>
            <a:ext cx="411480" cy="9144"/>
          </a:xfrm>
          <a:prstGeom prst="line">
            <a:avLst/>
          </a:prstGeom>
          <a:noFill/>
          <a:ln w="19050">
            <a:solidFill>
              <a:srgbClr val="22B8CF"/>
            </a:solidFill>
            <a:prstDash val="solid"/>
            <a:tailEnd type="triangle"/>
          </a:ln>
        </p:spPr>
      </p:sp>
      <p:sp>
        <p:nvSpPr>
          <p:cNvPr id="31" name="Shape 29"/>
          <p:cNvSpPr/>
          <p:nvPr/>
        </p:nvSpPr>
        <p:spPr>
          <a:xfrm>
            <a:off x="3520440" y="4754880"/>
            <a:ext cx="2743200" cy="960120"/>
          </a:xfrm>
          <a:prstGeom prst="roundRect">
            <a:avLst>
              <a:gd name="adj" fmla="val 9524"/>
            </a:avLst>
          </a:prstGeom>
          <a:solidFill>
            <a:srgbClr val="FFFFFF"/>
          </a:solidFill>
          <a:ln w="19050">
            <a:solidFill>
              <a:srgbClr val="22B8CF"/>
            </a:solidFill>
            <a:prstDash val="solid"/>
          </a:ln>
        </p:spPr>
      </p:sp>
      <p:sp>
        <p:nvSpPr>
          <p:cNvPr id="32" name="Text 30"/>
          <p:cNvSpPr txBox="1"/>
          <p:nvPr/>
        </p:nvSpPr>
        <p:spPr>
          <a:xfrm>
            <a:off x="3657600" y="4846320"/>
            <a:ext cx="2560320" cy="274320"/>
          </a:xfrm>
          <a:prstGeom prst="rect">
            <a:avLst/>
          </a:prstGeom>
          <a:noFill/>
          <a:ln/>
        </p:spPr>
        <p:txBody>
          <a:bodyPr wrap="square" lIns="0" tIns="0" rIns="0" bIns="0" rtlCol="0" anchor="t"/>
          <a:lstStyle/>
          <a:p>
            <a:pPr indent="0" marL="0">
              <a:buNone/>
            </a:pPr>
            <a:r>
              <a:rPr lang="en-US" sz="1100" b="1" dirty="0">
                <a:solidFill>
                  <a:srgbClr val="22B8CF"/>
                </a:solidFill>
              </a:rPr>
              <a:t>fact sheet (JSON)</a:t>
            </a:r>
            <a:endParaRPr lang="en-US" sz="1100" dirty="0"/>
          </a:p>
        </p:txBody>
      </p:sp>
      <p:sp>
        <p:nvSpPr>
          <p:cNvPr id="33" name="Text 31"/>
          <p:cNvSpPr txBox="1"/>
          <p:nvPr/>
        </p:nvSpPr>
        <p:spPr>
          <a:xfrm>
            <a:off x="3657600" y="5120640"/>
            <a:ext cx="2560320" cy="594360"/>
          </a:xfrm>
          <a:prstGeom prst="rect">
            <a:avLst/>
          </a:prstGeom>
          <a:noFill/>
          <a:ln/>
        </p:spPr>
        <p:txBody>
          <a:bodyPr wrap="square" lIns="0" tIns="0" rIns="0" bIns="0" rtlCol="0" anchor="t"/>
          <a:lstStyle/>
          <a:p>
            <a:pPr indent="0" marL="0">
              <a:buNone/>
            </a:pPr>
            <a:r>
              <a:rPr lang="en-US" sz="1050" dirty="0">
                <a:solidFill>
                  <a:srgbClr val="4A4F6B"/>
                </a:solidFill>
              </a:rPr>
              <a:t>where it belongs, files to imitate, who registers, what changes together</a:t>
            </a:r>
            <a:endParaRPr lang="en-US" sz="1050" dirty="0"/>
          </a:p>
        </p:txBody>
      </p:sp>
      <p:sp>
        <p:nvSpPr>
          <p:cNvPr id="34" name="Shape 32"/>
          <p:cNvSpPr/>
          <p:nvPr/>
        </p:nvSpPr>
        <p:spPr>
          <a:xfrm flipV="1">
            <a:off x="6309360" y="3611880"/>
            <a:ext cx="411480" cy="1618488"/>
          </a:xfrm>
          <a:prstGeom prst="line">
            <a:avLst/>
          </a:prstGeom>
          <a:noFill/>
          <a:ln w="19050">
            <a:solidFill>
              <a:srgbClr val="9AA0BF"/>
            </a:solidFill>
            <a:prstDash val="solid"/>
            <a:tailEnd type="triangle"/>
          </a:ln>
        </p:spPr>
      </p:sp>
      <p:sp>
        <p:nvSpPr>
          <p:cNvPr id="35" name="Shape 33"/>
          <p:cNvSpPr/>
          <p:nvPr/>
        </p:nvSpPr>
        <p:spPr>
          <a:xfrm>
            <a:off x="6766560" y="2377440"/>
            <a:ext cx="2103120" cy="2468880"/>
          </a:xfrm>
          <a:prstGeom prst="roundRect">
            <a:avLst>
              <a:gd name="adj" fmla="val 5217"/>
            </a:avLst>
          </a:prstGeom>
          <a:solidFill>
            <a:srgbClr val="6C5CE7"/>
          </a:solidFill>
          <a:ln w="12700">
            <a:solidFill>
              <a:srgbClr val="6C5CE7"/>
            </a:solidFill>
            <a:prstDash val="solid"/>
          </a:ln>
        </p:spPr>
      </p:sp>
      <p:sp>
        <p:nvSpPr>
          <p:cNvPr id="36" name="Text 34"/>
          <p:cNvSpPr txBox="1"/>
          <p:nvPr/>
        </p:nvSpPr>
        <p:spPr>
          <a:xfrm>
            <a:off x="6766560" y="2514600"/>
            <a:ext cx="2103120" cy="365760"/>
          </a:xfrm>
          <a:prstGeom prst="rect">
            <a:avLst/>
          </a:prstGeom>
          <a:noFill/>
          <a:ln/>
        </p:spPr>
        <p:txBody>
          <a:bodyPr wrap="square" lIns="0" tIns="0" rIns="0" bIns="0" rtlCol="0" anchor="t"/>
          <a:lstStyle/>
          <a:p>
            <a:pPr algn="ctr" indent="0" marL="0">
              <a:buNone/>
            </a:pPr>
            <a:r>
              <a:rPr lang="en-US" sz="1600" b="1" dirty="0">
                <a:solidFill>
                  <a:srgbClr val="FFFFFF"/>
                </a:solidFill>
              </a:rPr>
              <a:t>Planner</a:t>
            </a:r>
            <a:endParaRPr lang="en-US" sz="1600" dirty="0"/>
          </a:p>
        </p:txBody>
      </p:sp>
      <p:sp>
        <p:nvSpPr>
          <p:cNvPr id="37" name="Text 35"/>
          <p:cNvSpPr txBox="1"/>
          <p:nvPr/>
        </p:nvSpPr>
        <p:spPr>
          <a:xfrm>
            <a:off x="6858000" y="2880360"/>
            <a:ext cx="1920240" cy="1828800"/>
          </a:xfrm>
          <a:prstGeom prst="rect">
            <a:avLst/>
          </a:prstGeom>
          <a:noFill/>
          <a:ln/>
        </p:spPr>
        <p:txBody>
          <a:bodyPr wrap="square" lIns="0" tIns="0" rIns="0" bIns="0" rtlCol="0" anchor="ctr"/>
          <a:lstStyle/>
          <a:p>
            <a:pPr algn="ctr" indent="0" marL="0">
              <a:buNone/>
            </a:pPr>
            <a:r>
              <a:rPr lang="en-US" sz="1050" dirty="0">
                <a:solidFill>
                  <a:srgbClr val="ECEAFF"/>
                </a:solidFill>
              </a:rPr>
              <a:t>the design review:</a:t>
            </a:r>
            <a:endParaRPr lang="en-US" sz="1050" dirty="0"/>
          </a:p>
          <a:p>
            <a:pPr algn="ctr" indent="0" marL="0">
              <a:buNone/>
            </a:pPr>
            <a:r>
              <a:rPr lang="en-US" sz="1050" dirty="0">
                <a:solidFill>
                  <a:srgbClr val="ECEAFF"/>
                </a:solidFill>
              </a:rPr>
              <a:t>which files, why, in what order - checked by code, sent back if anything is missing</a:t>
            </a:r>
            <a:endParaRPr lang="en-US" sz="1050" dirty="0"/>
          </a:p>
        </p:txBody>
      </p:sp>
      <p:sp>
        <p:nvSpPr>
          <p:cNvPr id="38" name="Shape 36"/>
          <p:cNvSpPr/>
          <p:nvPr/>
        </p:nvSpPr>
        <p:spPr>
          <a:xfrm>
            <a:off x="8915400" y="3611880"/>
            <a:ext cx="411480" cy="9144"/>
          </a:xfrm>
          <a:prstGeom prst="line">
            <a:avLst/>
          </a:prstGeom>
          <a:noFill/>
          <a:ln w="19050">
            <a:solidFill>
              <a:srgbClr val="9AA0BF"/>
            </a:solidFill>
            <a:prstDash val="solid"/>
            <a:tailEnd type="triangle"/>
          </a:ln>
        </p:spPr>
      </p:sp>
      <p:sp>
        <p:nvSpPr>
          <p:cNvPr id="39" name="Shape 37"/>
          <p:cNvSpPr/>
          <p:nvPr/>
        </p:nvSpPr>
        <p:spPr>
          <a:xfrm>
            <a:off x="9372600" y="1325880"/>
            <a:ext cx="2423160" cy="960120"/>
          </a:xfrm>
          <a:prstGeom prst="roundRect">
            <a:avLst>
              <a:gd name="adj" fmla="val 9524"/>
            </a:avLst>
          </a:prstGeom>
          <a:solidFill>
            <a:srgbClr val="FFFFFF"/>
          </a:solidFill>
          <a:ln w="19050">
            <a:solidFill>
              <a:srgbClr val="6C5CE7"/>
            </a:solidFill>
            <a:prstDash val="solid"/>
          </a:ln>
        </p:spPr>
      </p:sp>
      <p:sp>
        <p:nvSpPr>
          <p:cNvPr id="40" name="Text 38"/>
          <p:cNvSpPr txBox="1"/>
          <p:nvPr/>
        </p:nvSpPr>
        <p:spPr>
          <a:xfrm>
            <a:off x="9509760" y="1417320"/>
            <a:ext cx="2194560" cy="320040"/>
          </a:xfrm>
          <a:prstGeom prst="rect">
            <a:avLst/>
          </a:prstGeom>
          <a:noFill/>
          <a:ln/>
        </p:spPr>
        <p:txBody>
          <a:bodyPr wrap="square" lIns="0" tIns="0" rIns="0" bIns="0" rtlCol="0" anchor="t"/>
          <a:lstStyle/>
          <a:p>
            <a:pPr indent="0" marL="0">
              <a:buNone/>
            </a:pPr>
            <a:r>
              <a:rPr lang="en-US" sz="1300" b="1" dirty="0">
                <a:solidFill>
                  <a:srgbClr val="6C5CE7"/>
                </a:solidFill>
              </a:rPr>
              <a:t>Coder</a:t>
            </a:r>
            <a:endParaRPr lang="en-US" sz="1300" dirty="0"/>
          </a:p>
        </p:txBody>
      </p:sp>
      <p:sp>
        <p:nvSpPr>
          <p:cNvPr id="41" name="Text 39"/>
          <p:cNvSpPr txBox="1"/>
          <p:nvPr/>
        </p:nvSpPr>
        <p:spPr>
          <a:xfrm>
            <a:off x="9509760" y="1737360"/>
            <a:ext cx="2194560" cy="548640"/>
          </a:xfrm>
          <a:prstGeom prst="rect">
            <a:avLst/>
          </a:prstGeom>
          <a:noFill/>
          <a:ln/>
        </p:spPr>
        <p:txBody>
          <a:bodyPr wrap="square" lIns="0" tIns="0" rIns="0" bIns="0" rtlCol="0" anchor="t"/>
          <a:lstStyle/>
          <a:p>
            <a:pPr indent="0" marL="0">
              <a:buNone/>
            </a:pPr>
            <a:r>
              <a:rPr lang="en-US" sz="1050" dirty="0">
                <a:solidFill>
                  <a:srgbClr val="4A4F6B"/>
                </a:solidFill>
              </a:rPr>
              <a:t>one file at a time, copying our patterns</a:t>
            </a:r>
            <a:endParaRPr lang="en-US" sz="1050" dirty="0"/>
          </a:p>
        </p:txBody>
      </p:sp>
      <p:sp>
        <p:nvSpPr>
          <p:cNvPr id="42" name="Shape 40"/>
          <p:cNvSpPr/>
          <p:nvPr/>
        </p:nvSpPr>
        <p:spPr>
          <a:xfrm>
            <a:off x="10579608" y="2286000"/>
            <a:ext cx="9144" cy="182880"/>
          </a:xfrm>
          <a:prstGeom prst="line">
            <a:avLst/>
          </a:prstGeom>
          <a:noFill/>
          <a:ln w="19050">
            <a:solidFill>
              <a:srgbClr val="9AA0BF"/>
            </a:solidFill>
            <a:prstDash val="solid"/>
            <a:tailEnd type="triangle"/>
          </a:ln>
        </p:spPr>
      </p:sp>
      <p:sp>
        <p:nvSpPr>
          <p:cNvPr id="43" name="Shape 41"/>
          <p:cNvSpPr/>
          <p:nvPr/>
        </p:nvSpPr>
        <p:spPr>
          <a:xfrm>
            <a:off x="9372600" y="2468880"/>
            <a:ext cx="2423160" cy="960120"/>
          </a:xfrm>
          <a:prstGeom prst="roundRect">
            <a:avLst>
              <a:gd name="adj" fmla="val 9524"/>
            </a:avLst>
          </a:prstGeom>
          <a:solidFill>
            <a:srgbClr val="FFFFFF"/>
          </a:solidFill>
          <a:ln w="19050">
            <a:solidFill>
              <a:srgbClr val="22B8CF"/>
            </a:solidFill>
            <a:prstDash val="solid"/>
          </a:ln>
        </p:spPr>
      </p:sp>
      <p:sp>
        <p:nvSpPr>
          <p:cNvPr id="44" name="Text 42"/>
          <p:cNvSpPr txBox="1"/>
          <p:nvPr/>
        </p:nvSpPr>
        <p:spPr>
          <a:xfrm>
            <a:off x="9509760" y="2560320"/>
            <a:ext cx="2194560" cy="320040"/>
          </a:xfrm>
          <a:prstGeom prst="rect">
            <a:avLst/>
          </a:prstGeom>
          <a:noFill/>
          <a:ln/>
        </p:spPr>
        <p:txBody>
          <a:bodyPr wrap="square" lIns="0" tIns="0" rIns="0" bIns="0" rtlCol="0" anchor="t"/>
          <a:lstStyle/>
          <a:p>
            <a:pPr indent="0" marL="0">
              <a:buNone/>
            </a:pPr>
            <a:r>
              <a:rPr lang="en-US" sz="1300" b="1" dirty="0">
                <a:solidFill>
                  <a:srgbClr val="22B8CF"/>
                </a:solidFill>
              </a:rPr>
              <a:t>Validator</a:t>
            </a:r>
            <a:endParaRPr lang="en-US" sz="1300" dirty="0"/>
          </a:p>
        </p:txBody>
      </p:sp>
      <p:sp>
        <p:nvSpPr>
          <p:cNvPr id="45" name="Text 43"/>
          <p:cNvSpPr txBox="1"/>
          <p:nvPr/>
        </p:nvSpPr>
        <p:spPr>
          <a:xfrm>
            <a:off x="9509760" y="2880360"/>
            <a:ext cx="2194560" cy="548640"/>
          </a:xfrm>
          <a:prstGeom prst="rect">
            <a:avLst/>
          </a:prstGeom>
          <a:noFill/>
          <a:ln/>
        </p:spPr>
        <p:txBody>
          <a:bodyPr wrap="square" lIns="0" tIns="0" rIns="0" bIns="0" rtlCol="0" anchor="t"/>
          <a:lstStyle/>
          <a:p>
            <a:pPr indent="0" marL="0">
              <a:buNone/>
            </a:pPr>
            <a:r>
              <a:rPr lang="en-US" sz="1050" dirty="0">
                <a:solidFill>
                  <a:srgbClr val="4A4F6B"/>
                </a:solidFill>
              </a:rPr>
              <a:t>plain code checks every file (no AI)</a:t>
            </a:r>
            <a:endParaRPr lang="en-US" sz="1050" dirty="0"/>
          </a:p>
        </p:txBody>
      </p:sp>
      <p:sp>
        <p:nvSpPr>
          <p:cNvPr id="46" name="Shape 44"/>
          <p:cNvSpPr/>
          <p:nvPr/>
        </p:nvSpPr>
        <p:spPr>
          <a:xfrm>
            <a:off x="10579608" y="3429000"/>
            <a:ext cx="9144" cy="182880"/>
          </a:xfrm>
          <a:prstGeom prst="line">
            <a:avLst/>
          </a:prstGeom>
          <a:noFill/>
          <a:ln w="19050">
            <a:solidFill>
              <a:srgbClr val="9AA0BF"/>
            </a:solidFill>
            <a:prstDash val="solid"/>
            <a:tailEnd type="triangle"/>
          </a:ln>
        </p:spPr>
      </p:sp>
      <p:sp>
        <p:nvSpPr>
          <p:cNvPr id="47" name="Shape 45"/>
          <p:cNvSpPr/>
          <p:nvPr/>
        </p:nvSpPr>
        <p:spPr>
          <a:xfrm>
            <a:off x="9372600" y="3611880"/>
            <a:ext cx="2423160" cy="960120"/>
          </a:xfrm>
          <a:prstGeom prst="roundRect">
            <a:avLst>
              <a:gd name="adj" fmla="val 9524"/>
            </a:avLst>
          </a:prstGeom>
          <a:solidFill>
            <a:srgbClr val="FFFFFF"/>
          </a:solidFill>
          <a:ln w="19050">
            <a:solidFill>
              <a:srgbClr val="E6A23C"/>
            </a:solidFill>
            <a:prstDash val="solid"/>
          </a:ln>
        </p:spPr>
      </p:sp>
      <p:sp>
        <p:nvSpPr>
          <p:cNvPr id="48" name="Text 46"/>
          <p:cNvSpPr txBox="1"/>
          <p:nvPr/>
        </p:nvSpPr>
        <p:spPr>
          <a:xfrm>
            <a:off x="9509760" y="3703320"/>
            <a:ext cx="2194560" cy="320040"/>
          </a:xfrm>
          <a:prstGeom prst="rect">
            <a:avLst/>
          </a:prstGeom>
          <a:noFill/>
          <a:ln/>
        </p:spPr>
        <p:txBody>
          <a:bodyPr wrap="square" lIns="0" tIns="0" rIns="0" bIns="0" rtlCol="0" anchor="t"/>
          <a:lstStyle/>
          <a:p>
            <a:pPr indent="0" marL="0">
              <a:buNone/>
            </a:pPr>
            <a:r>
              <a:rPr lang="en-US" sz="1300" b="1" dirty="0">
                <a:solidFill>
                  <a:srgbClr val="E6A23C"/>
                </a:solidFill>
              </a:rPr>
              <a:t>Reviewer</a:t>
            </a:r>
            <a:endParaRPr lang="en-US" sz="1300" dirty="0"/>
          </a:p>
        </p:txBody>
      </p:sp>
      <p:sp>
        <p:nvSpPr>
          <p:cNvPr id="49" name="Text 47"/>
          <p:cNvSpPr txBox="1"/>
          <p:nvPr/>
        </p:nvSpPr>
        <p:spPr>
          <a:xfrm>
            <a:off x="9509760" y="4023360"/>
            <a:ext cx="2194560" cy="548640"/>
          </a:xfrm>
          <a:prstGeom prst="rect">
            <a:avLst/>
          </a:prstGeom>
          <a:noFill/>
          <a:ln/>
        </p:spPr>
        <p:txBody>
          <a:bodyPr wrap="square" lIns="0" tIns="0" rIns="0" bIns="0" rtlCol="0" anchor="t"/>
          <a:lstStyle/>
          <a:p>
            <a:pPr indent="0" marL="0">
              <a:buNone/>
            </a:pPr>
            <a:r>
              <a:rPr lang="en-US" sz="1050" dirty="0">
                <a:solidFill>
                  <a:srgbClr val="4A4F6B"/>
                </a:solidFill>
              </a:rPr>
              <a:t>independent AI review, score 0-100</a:t>
            </a:r>
            <a:endParaRPr lang="en-US" sz="1050" dirty="0"/>
          </a:p>
        </p:txBody>
      </p:sp>
      <p:sp>
        <p:nvSpPr>
          <p:cNvPr id="50" name="Shape 48"/>
          <p:cNvSpPr/>
          <p:nvPr/>
        </p:nvSpPr>
        <p:spPr>
          <a:xfrm>
            <a:off x="10579608" y="4572000"/>
            <a:ext cx="9144" cy="182880"/>
          </a:xfrm>
          <a:prstGeom prst="line">
            <a:avLst/>
          </a:prstGeom>
          <a:noFill/>
          <a:ln w="19050">
            <a:solidFill>
              <a:srgbClr val="9AA0BF"/>
            </a:solidFill>
            <a:prstDash val="solid"/>
            <a:tailEnd type="triangle"/>
          </a:ln>
        </p:spPr>
      </p:sp>
      <p:sp>
        <p:nvSpPr>
          <p:cNvPr id="51" name="Shape 49"/>
          <p:cNvSpPr/>
          <p:nvPr/>
        </p:nvSpPr>
        <p:spPr>
          <a:xfrm>
            <a:off x="9372600" y="4754880"/>
            <a:ext cx="2423160" cy="960120"/>
          </a:xfrm>
          <a:prstGeom prst="roundRect">
            <a:avLst>
              <a:gd name="adj" fmla="val 9524"/>
            </a:avLst>
          </a:prstGeom>
          <a:solidFill>
            <a:srgbClr val="FFFFFF"/>
          </a:solidFill>
          <a:ln w="19050">
            <a:solidFill>
              <a:srgbClr val="2E9E6B"/>
            </a:solidFill>
            <a:prstDash val="solid"/>
          </a:ln>
        </p:spPr>
      </p:sp>
      <p:sp>
        <p:nvSpPr>
          <p:cNvPr id="52" name="Text 50"/>
          <p:cNvSpPr txBox="1"/>
          <p:nvPr/>
        </p:nvSpPr>
        <p:spPr>
          <a:xfrm>
            <a:off x="9509760" y="4846320"/>
            <a:ext cx="2194560" cy="320040"/>
          </a:xfrm>
          <a:prstGeom prst="rect">
            <a:avLst/>
          </a:prstGeom>
          <a:noFill/>
          <a:ln/>
        </p:spPr>
        <p:txBody>
          <a:bodyPr wrap="square" lIns="0" tIns="0" rIns="0" bIns="0" rtlCol="0" anchor="t"/>
          <a:lstStyle/>
          <a:p>
            <a:pPr indent="0" marL="0">
              <a:buNone/>
            </a:pPr>
            <a:r>
              <a:rPr lang="en-US" sz="1300" b="1" dirty="0">
                <a:solidFill>
                  <a:srgbClr val="2E9E6B"/>
                </a:solidFill>
              </a:rPr>
              <a:t>Confidence</a:t>
            </a:r>
            <a:endParaRPr lang="en-US" sz="1300" dirty="0"/>
          </a:p>
        </p:txBody>
      </p:sp>
      <p:sp>
        <p:nvSpPr>
          <p:cNvPr id="53" name="Text 51"/>
          <p:cNvSpPr txBox="1"/>
          <p:nvPr/>
        </p:nvSpPr>
        <p:spPr>
          <a:xfrm>
            <a:off x="9509760" y="5166360"/>
            <a:ext cx="2194560" cy="548640"/>
          </a:xfrm>
          <a:prstGeom prst="rect">
            <a:avLst/>
          </a:prstGeom>
          <a:noFill/>
          <a:ln/>
        </p:spPr>
        <p:txBody>
          <a:bodyPr wrap="square" lIns="0" tIns="0" rIns="0" bIns="0" rtlCol="0" anchor="t"/>
          <a:lstStyle/>
          <a:p>
            <a:pPr indent="0" marL="0">
              <a:buNone/>
            </a:pPr>
            <a:r>
              <a:rPr lang="en-US" sz="1050" dirty="0">
                <a:solidFill>
                  <a:srgbClr val="4A4F6B"/>
                </a:solidFill>
              </a:rPr>
              <a:t>one number: what is left to look at</a:t>
            </a:r>
            <a:endParaRPr lang="en-US" sz="1050" dirty="0"/>
          </a:p>
        </p:txBody>
      </p:sp>
      <p:sp>
        <p:nvSpPr>
          <p:cNvPr id="54" name="Text 52"/>
          <p:cNvSpPr txBox="1"/>
          <p:nvPr/>
        </p:nvSpPr>
        <p:spPr>
          <a:xfrm>
            <a:off x="640080" y="6035040"/>
            <a:ext cx="10972800" cy="365760"/>
          </a:xfrm>
          <a:prstGeom prst="rect">
            <a:avLst/>
          </a:prstGeom>
          <a:noFill/>
          <a:ln/>
        </p:spPr>
        <p:txBody>
          <a:bodyPr wrap="square" lIns="0" tIns="0" rIns="0" bIns="0" rtlCol="0" anchor="t"/>
          <a:lstStyle/>
          <a:p>
            <a:pPr indent="0" marL="0">
              <a:buNone/>
            </a:pPr>
            <a:r>
              <a:rPr lang="en-US" sz="1250" i="1" dirty="0">
                <a:solidFill>
                  <a:srgbClr val="6C5CE7"/>
                </a:solidFill>
              </a:rPr>
              <a:t>Four readers work at the same time and write everything down; the planner decides; the coder writes; two checks and one score follow. Nothing lives only in someone's head.</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Six inputs - what each one gives the agents</a:t>
            </a:r>
            <a:endParaRPr lang="en-US" sz="3000" dirty="0"/>
          </a:p>
        </p:txBody>
      </p:sp>
      <p:sp>
        <p:nvSpPr>
          <p:cNvPr id="3" name="Shape 1"/>
          <p:cNvSpPr/>
          <p:nvPr/>
        </p:nvSpPr>
        <p:spPr>
          <a:xfrm>
            <a:off x="640080" y="1371600"/>
            <a:ext cx="5394960" cy="1325880"/>
          </a:xfrm>
          <a:prstGeom prst="roundRect">
            <a:avLst>
              <a:gd name="adj" fmla="val 8276"/>
            </a:avLst>
          </a:prstGeom>
          <a:solidFill>
            <a:srgbClr val="F1F2F8"/>
          </a:solidFill>
          <a:ln w="12700">
            <a:solidFill>
              <a:srgbClr val="F1F2F8"/>
            </a:solidFill>
            <a:prstDash val="solid"/>
          </a:ln>
        </p:spPr>
      </p:sp>
      <p:sp>
        <p:nvSpPr>
          <p:cNvPr id="4" name="Shape 2"/>
          <p:cNvSpPr/>
          <p:nvPr/>
        </p:nvSpPr>
        <p:spPr>
          <a:xfrm>
            <a:off x="804672" y="1527048"/>
            <a:ext cx="384048" cy="384048"/>
          </a:xfrm>
          <a:prstGeom prst="ellipse">
            <a:avLst/>
          </a:prstGeom>
          <a:solidFill>
            <a:srgbClr val="22B8CF"/>
          </a:solidFill>
          <a:ln w="12700">
            <a:solidFill>
              <a:srgbClr val="22B8CF"/>
            </a:solidFill>
            <a:prstDash val="solid"/>
          </a:ln>
        </p:spPr>
      </p:sp>
      <p:sp>
        <p:nvSpPr>
          <p:cNvPr id="5" name="Text 3"/>
          <p:cNvSpPr txBox="1"/>
          <p:nvPr/>
        </p:nvSpPr>
        <p:spPr>
          <a:xfrm>
            <a:off x="804672" y="1527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98448" y="1508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Story</a:t>
            </a:r>
            <a:endParaRPr lang="en-US" sz="1500" dirty="0"/>
          </a:p>
        </p:txBody>
      </p:sp>
      <p:sp>
        <p:nvSpPr>
          <p:cNvPr id="7" name="Text 5"/>
          <p:cNvSpPr txBox="1"/>
          <p:nvPr/>
        </p:nvSpPr>
        <p:spPr>
          <a:xfrm>
            <a:off x="822960" y="1938528"/>
            <a:ext cx="5029200" cy="68580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the ticket as written: requirements, rules, acceptance criteria, tables, and the SQL - treated as the specification</a:t>
            </a:r>
            <a:endParaRPr lang="en-US" sz="1150" dirty="0"/>
          </a:p>
        </p:txBody>
      </p:sp>
      <p:sp>
        <p:nvSpPr>
          <p:cNvPr id="8" name="Text 6"/>
          <p:cNvSpPr txBox="1"/>
          <p:nvPr/>
        </p:nvSpPr>
        <p:spPr>
          <a:xfrm>
            <a:off x="822960" y="2395728"/>
            <a:ext cx="5029200" cy="274320"/>
          </a:xfrm>
          <a:prstGeom prst="rect">
            <a:avLst/>
          </a:prstGeom>
          <a:noFill/>
          <a:ln/>
        </p:spPr>
        <p:txBody>
          <a:bodyPr wrap="square" lIns="0" tIns="0" rIns="0" bIns="0" rtlCol="0" anchor="t"/>
          <a:lstStyle/>
          <a:p>
            <a:pPr indent="0" marL="0">
              <a:buNone/>
            </a:pPr>
            <a:r>
              <a:rPr lang="en-US" sz="1050" i="1" dirty="0">
                <a:solidFill>
                  <a:srgbClr val="6C5CE7"/>
                </a:solidFill>
              </a:rPr>
              <a:t>→ story agent</a:t>
            </a:r>
            <a:endParaRPr lang="en-US" sz="1050" dirty="0"/>
          </a:p>
        </p:txBody>
      </p:sp>
      <p:sp>
        <p:nvSpPr>
          <p:cNvPr id="9" name="Shape 7"/>
          <p:cNvSpPr/>
          <p:nvPr/>
        </p:nvSpPr>
        <p:spPr>
          <a:xfrm>
            <a:off x="6309360" y="1371600"/>
            <a:ext cx="5394960" cy="1325880"/>
          </a:xfrm>
          <a:prstGeom prst="roundRect">
            <a:avLst>
              <a:gd name="adj" fmla="val 8276"/>
            </a:avLst>
          </a:prstGeom>
          <a:solidFill>
            <a:srgbClr val="F1F2F8"/>
          </a:solidFill>
          <a:ln w="12700">
            <a:solidFill>
              <a:srgbClr val="F1F2F8"/>
            </a:solidFill>
            <a:prstDash val="solid"/>
          </a:ln>
        </p:spPr>
      </p:sp>
      <p:sp>
        <p:nvSpPr>
          <p:cNvPr id="10" name="Shape 8"/>
          <p:cNvSpPr/>
          <p:nvPr/>
        </p:nvSpPr>
        <p:spPr>
          <a:xfrm>
            <a:off x="6473952" y="1527048"/>
            <a:ext cx="384048" cy="384048"/>
          </a:xfrm>
          <a:prstGeom prst="ellipse">
            <a:avLst/>
          </a:prstGeom>
          <a:solidFill>
            <a:srgbClr val="22B8CF"/>
          </a:solidFill>
          <a:ln w="12700">
            <a:solidFill>
              <a:srgbClr val="22B8CF"/>
            </a:solidFill>
            <a:prstDash val="solid"/>
          </a:ln>
        </p:spPr>
      </p:sp>
      <p:sp>
        <p:nvSpPr>
          <p:cNvPr id="11" name="Text 9"/>
          <p:cNvSpPr txBox="1"/>
          <p:nvPr/>
        </p:nvSpPr>
        <p:spPr>
          <a:xfrm>
            <a:off x="6473952" y="1527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967728" y="1508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Skills</a:t>
            </a:r>
            <a:endParaRPr lang="en-US" sz="1500" dirty="0"/>
          </a:p>
        </p:txBody>
      </p:sp>
      <p:sp>
        <p:nvSpPr>
          <p:cNvPr id="13" name="Text 11"/>
          <p:cNvSpPr txBox="1"/>
          <p:nvPr/>
        </p:nvSpPr>
        <p:spPr>
          <a:xfrm>
            <a:off x="6492240" y="1938528"/>
            <a:ext cx="5029200" cy="68580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how we build things: profile tables, history scripts, DAG registration, what a new table needs</a:t>
            </a:r>
            <a:endParaRPr lang="en-US" sz="1150" dirty="0"/>
          </a:p>
        </p:txBody>
      </p:sp>
      <p:sp>
        <p:nvSpPr>
          <p:cNvPr id="14" name="Text 12"/>
          <p:cNvSpPr txBox="1"/>
          <p:nvPr/>
        </p:nvSpPr>
        <p:spPr>
          <a:xfrm>
            <a:off x="6492240" y="2395728"/>
            <a:ext cx="5029200" cy="274320"/>
          </a:xfrm>
          <a:prstGeom prst="rect">
            <a:avLst/>
          </a:prstGeom>
          <a:noFill/>
          <a:ln/>
        </p:spPr>
        <p:txBody>
          <a:bodyPr wrap="square" lIns="0" tIns="0" rIns="0" bIns="0" rtlCol="0" anchor="t"/>
          <a:lstStyle/>
          <a:p>
            <a:pPr indent="0" marL="0">
              <a:buNone/>
            </a:pPr>
            <a:r>
              <a:rPr lang="en-US" sz="1050" i="1" dirty="0">
                <a:solidFill>
                  <a:srgbClr val="6C5CE7"/>
                </a:solidFill>
              </a:rPr>
              <a:t>→ knowledge agent</a:t>
            </a:r>
            <a:endParaRPr lang="en-US" sz="1050" dirty="0"/>
          </a:p>
        </p:txBody>
      </p:sp>
      <p:sp>
        <p:nvSpPr>
          <p:cNvPr id="15" name="Shape 13"/>
          <p:cNvSpPr/>
          <p:nvPr/>
        </p:nvSpPr>
        <p:spPr>
          <a:xfrm>
            <a:off x="640080" y="2880360"/>
            <a:ext cx="5394960" cy="1325880"/>
          </a:xfrm>
          <a:prstGeom prst="roundRect">
            <a:avLst>
              <a:gd name="adj" fmla="val 8276"/>
            </a:avLst>
          </a:prstGeom>
          <a:solidFill>
            <a:srgbClr val="F1F2F8"/>
          </a:solidFill>
          <a:ln w="12700">
            <a:solidFill>
              <a:srgbClr val="F1F2F8"/>
            </a:solidFill>
            <a:prstDash val="solid"/>
          </a:ln>
        </p:spPr>
      </p:sp>
      <p:sp>
        <p:nvSpPr>
          <p:cNvPr id="16" name="Shape 14"/>
          <p:cNvSpPr/>
          <p:nvPr/>
        </p:nvSpPr>
        <p:spPr>
          <a:xfrm>
            <a:off x="804672" y="3035808"/>
            <a:ext cx="384048" cy="384048"/>
          </a:xfrm>
          <a:prstGeom prst="ellipse">
            <a:avLst/>
          </a:prstGeom>
          <a:solidFill>
            <a:srgbClr val="22B8CF"/>
          </a:solidFill>
          <a:ln w="12700">
            <a:solidFill>
              <a:srgbClr val="22B8CF"/>
            </a:solidFill>
            <a:prstDash val="solid"/>
          </a:ln>
        </p:spPr>
      </p:sp>
      <p:sp>
        <p:nvSpPr>
          <p:cNvPr id="17" name="Text 15"/>
          <p:cNvSpPr txBox="1"/>
          <p:nvPr/>
        </p:nvSpPr>
        <p:spPr>
          <a:xfrm>
            <a:off x="804672"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txBox="1"/>
          <p:nvPr/>
        </p:nvSpPr>
        <p:spPr>
          <a:xfrm>
            <a:off x="1298448" y="301752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Glossary / data dictionary</a:t>
            </a:r>
            <a:endParaRPr lang="en-US" sz="1500" dirty="0"/>
          </a:p>
        </p:txBody>
      </p:sp>
      <p:sp>
        <p:nvSpPr>
          <p:cNvPr id="19" name="Text 17"/>
          <p:cNvSpPr txBox="1"/>
          <p:nvPr/>
        </p:nvSpPr>
        <p:spPr>
          <a:xfrm>
            <a:off x="822960" y="3447288"/>
            <a:ext cx="5029200" cy="68580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what ip_cli_i, acc_mhh_n, _4w, _ytd mean - in the team's words</a:t>
            </a:r>
            <a:endParaRPr lang="en-US" sz="1150" dirty="0"/>
          </a:p>
        </p:txBody>
      </p:sp>
      <p:sp>
        <p:nvSpPr>
          <p:cNvPr id="20" name="Text 18"/>
          <p:cNvSpPr txBox="1"/>
          <p:nvPr/>
        </p:nvSpPr>
        <p:spPr>
          <a:xfrm>
            <a:off x="822960" y="3904488"/>
            <a:ext cx="5029200" cy="274320"/>
          </a:xfrm>
          <a:prstGeom prst="rect">
            <a:avLst/>
          </a:prstGeom>
          <a:noFill/>
          <a:ln/>
        </p:spPr>
        <p:txBody>
          <a:bodyPr wrap="square" lIns="0" tIns="0" rIns="0" bIns="0" rtlCol="0" anchor="t"/>
          <a:lstStyle/>
          <a:p>
            <a:pPr indent="0" marL="0">
              <a:buNone/>
            </a:pPr>
            <a:r>
              <a:rPr lang="en-US" sz="1050" i="1" dirty="0">
                <a:solidFill>
                  <a:srgbClr val="6C5CE7"/>
                </a:solidFill>
              </a:rPr>
              <a:t>→ knowledge agent</a:t>
            </a:r>
            <a:endParaRPr lang="en-US" sz="1050" dirty="0"/>
          </a:p>
        </p:txBody>
      </p:sp>
      <p:sp>
        <p:nvSpPr>
          <p:cNvPr id="21" name="Shape 19"/>
          <p:cNvSpPr/>
          <p:nvPr/>
        </p:nvSpPr>
        <p:spPr>
          <a:xfrm>
            <a:off x="6309360" y="2880360"/>
            <a:ext cx="5394960" cy="1325880"/>
          </a:xfrm>
          <a:prstGeom prst="roundRect">
            <a:avLst>
              <a:gd name="adj" fmla="val 8276"/>
            </a:avLst>
          </a:prstGeom>
          <a:solidFill>
            <a:srgbClr val="F1F2F8"/>
          </a:solidFill>
          <a:ln w="12700">
            <a:solidFill>
              <a:srgbClr val="F1F2F8"/>
            </a:solidFill>
            <a:prstDash val="solid"/>
          </a:ln>
        </p:spPr>
      </p:sp>
      <p:sp>
        <p:nvSpPr>
          <p:cNvPr id="22" name="Shape 20"/>
          <p:cNvSpPr/>
          <p:nvPr/>
        </p:nvSpPr>
        <p:spPr>
          <a:xfrm>
            <a:off x="6473952" y="3035808"/>
            <a:ext cx="384048" cy="384048"/>
          </a:xfrm>
          <a:prstGeom prst="ellipse">
            <a:avLst/>
          </a:prstGeom>
          <a:solidFill>
            <a:srgbClr val="22B8CF"/>
          </a:solidFill>
          <a:ln w="12700">
            <a:solidFill>
              <a:srgbClr val="22B8CF"/>
            </a:solidFill>
            <a:prstDash val="solid"/>
          </a:ln>
        </p:spPr>
      </p:sp>
      <p:sp>
        <p:nvSpPr>
          <p:cNvPr id="23" name="Text 21"/>
          <p:cNvSpPr txBox="1"/>
          <p:nvPr/>
        </p:nvSpPr>
        <p:spPr>
          <a:xfrm>
            <a:off x="6473952"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txBox="1"/>
          <p:nvPr/>
        </p:nvSpPr>
        <p:spPr>
          <a:xfrm>
            <a:off x="6967728" y="301752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Standards &amp; conventions</a:t>
            </a:r>
            <a:endParaRPr lang="en-US" sz="1500" dirty="0"/>
          </a:p>
        </p:txBody>
      </p:sp>
      <p:sp>
        <p:nvSpPr>
          <p:cNvPr id="25" name="Text 23"/>
          <p:cNvSpPr txBox="1"/>
          <p:nvPr/>
        </p:nvSpPr>
        <p:spPr>
          <a:xfrm>
            <a:off x="6492240" y="3447288"/>
            <a:ext cx="5029200" cy="68580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owner/grant, parameters not literals, no SELECT *, naming - many become automatic checks</a:t>
            </a:r>
            <a:endParaRPr lang="en-US" sz="1150" dirty="0"/>
          </a:p>
        </p:txBody>
      </p:sp>
      <p:sp>
        <p:nvSpPr>
          <p:cNvPr id="26" name="Text 24"/>
          <p:cNvSpPr txBox="1"/>
          <p:nvPr/>
        </p:nvSpPr>
        <p:spPr>
          <a:xfrm>
            <a:off x="6492240" y="3904488"/>
            <a:ext cx="5029200" cy="274320"/>
          </a:xfrm>
          <a:prstGeom prst="rect">
            <a:avLst/>
          </a:prstGeom>
          <a:noFill/>
          <a:ln/>
        </p:spPr>
        <p:txBody>
          <a:bodyPr wrap="square" lIns="0" tIns="0" rIns="0" bIns="0" rtlCol="0" anchor="t"/>
          <a:lstStyle/>
          <a:p>
            <a:pPr indent="0" marL="0">
              <a:buNone/>
            </a:pPr>
            <a:r>
              <a:rPr lang="en-US" sz="1050" i="1" dirty="0">
                <a:solidFill>
                  <a:srgbClr val="6C5CE7"/>
                </a:solidFill>
              </a:rPr>
              <a:t>→ knowledge agent + validator</a:t>
            </a:r>
            <a:endParaRPr lang="en-US" sz="1050" dirty="0"/>
          </a:p>
        </p:txBody>
      </p:sp>
      <p:sp>
        <p:nvSpPr>
          <p:cNvPr id="27" name="Shape 25"/>
          <p:cNvSpPr/>
          <p:nvPr/>
        </p:nvSpPr>
        <p:spPr>
          <a:xfrm>
            <a:off x="640080" y="4389120"/>
            <a:ext cx="5394960" cy="1325880"/>
          </a:xfrm>
          <a:prstGeom prst="roundRect">
            <a:avLst>
              <a:gd name="adj" fmla="val 8276"/>
            </a:avLst>
          </a:prstGeom>
          <a:solidFill>
            <a:srgbClr val="F1F2F8"/>
          </a:solidFill>
          <a:ln w="12700">
            <a:solidFill>
              <a:srgbClr val="F1F2F8"/>
            </a:solidFill>
            <a:prstDash val="solid"/>
          </a:ln>
        </p:spPr>
      </p:sp>
      <p:sp>
        <p:nvSpPr>
          <p:cNvPr id="28" name="Shape 26"/>
          <p:cNvSpPr/>
          <p:nvPr/>
        </p:nvSpPr>
        <p:spPr>
          <a:xfrm>
            <a:off x="804672" y="4544568"/>
            <a:ext cx="384048" cy="384048"/>
          </a:xfrm>
          <a:prstGeom prst="ellipse">
            <a:avLst/>
          </a:prstGeom>
          <a:solidFill>
            <a:srgbClr val="22B8CF"/>
          </a:solidFill>
          <a:ln w="12700">
            <a:solidFill>
              <a:srgbClr val="22B8CF"/>
            </a:solidFill>
            <a:prstDash val="solid"/>
          </a:ln>
        </p:spPr>
      </p:sp>
      <p:sp>
        <p:nvSpPr>
          <p:cNvPr id="29" name="Text 27"/>
          <p:cNvSpPr txBox="1"/>
          <p:nvPr/>
        </p:nvSpPr>
        <p:spPr>
          <a:xfrm>
            <a:off x="804672"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0" name="Text 28"/>
          <p:cNvSpPr txBox="1"/>
          <p:nvPr/>
        </p:nvSpPr>
        <p:spPr>
          <a:xfrm>
            <a:off x="1298448" y="452628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Greenplum tables &amp; queries</a:t>
            </a:r>
            <a:endParaRPr lang="en-US" sz="1500" dirty="0"/>
          </a:p>
        </p:txBody>
      </p:sp>
      <p:sp>
        <p:nvSpPr>
          <p:cNvPr id="31" name="Text 29"/>
          <p:cNvSpPr txBox="1"/>
          <p:nvPr/>
        </p:nvSpPr>
        <p:spPr>
          <a:xfrm>
            <a:off x="822960" y="4956048"/>
            <a:ext cx="5029200" cy="68580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real columns, types, keys, sample rows; query result shape - read-only</a:t>
            </a:r>
            <a:endParaRPr lang="en-US" sz="1150" dirty="0"/>
          </a:p>
        </p:txBody>
      </p:sp>
      <p:sp>
        <p:nvSpPr>
          <p:cNvPr id="32" name="Text 30"/>
          <p:cNvSpPr txBox="1"/>
          <p:nvPr/>
        </p:nvSpPr>
        <p:spPr>
          <a:xfrm>
            <a:off x="822960" y="5413248"/>
            <a:ext cx="5029200" cy="274320"/>
          </a:xfrm>
          <a:prstGeom prst="rect">
            <a:avLst/>
          </a:prstGeom>
          <a:noFill/>
          <a:ln/>
        </p:spPr>
        <p:txBody>
          <a:bodyPr wrap="square" lIns="0" tIns="0" rIns="0" bIns="0" rtlCol="0" anchor="t"/>
          <a:lstStyle/>
          <a:p>
            <a:pPr indent="0" marL="0">
              <a:buNone/>
            </a:pPr>
            <a:r>
              <a:rPr lang="en-US" sz="1050" i="1" dirty="0">
                <a:solidFill>
                  <a:srgbClr val="6C5CE7"/>
                </a:solidFill>
              </a:rPr>
              <a:t>→ data agent</a:t>
            </a:r>
            <a:endParaRPr lang="en-US" sz="1050" dirty="0"/>
          </a:p>
        </p:txBody>
      </p:sp>
      <p:sp>
        <p:nvSpPr>
          <p:cNvPr id="33" name="Shape 31"/>
          <p:cNvSpPr/>
          <p:nvPr/>
        </p:nvSpPr>
        <p:spPr>
          <a:xfrm>
            <a:off x="6309360" y="4389120"/>
            <a:ext cx="5394960" cy="1325880"/>
          </a:xfrm>
          <a:prstGeom prst="roundRect">
            <a:avLst>
              <a:gd name="adj" fmla="val 8276"/>
            </a:avLst>
          </a:prstGeom>
          <a:solidFill>
            <a:srgbClr val="F1F2F8"/>
          </a:solidFill>
          <a:ln w="12700">
            <a:solidFill>
              <a:srgbClr val="F1F2F8"/>
            </a:solidFill>
            <a:prstDash val="solid"/>
          </a:ln>
        </p:spPr>
      </p:sp>
      <p:sp>
        <p:nvSpPr>
          <p:cNvPr id="34" name="Shape 32"/>
          <p:cNvSpPr/>
          <p:nvPr/>
        </p:nvSpPr>
        <p:spPr>
          <a:xfrm>
            <a:off x="6473952" y="4544568"/>
            <a:ext cx="384048" cy="384048"/>
          </a:xfrm>
          <a:prstGeom prst="ellipse">
            <a:avLst/>
          </a:prstGeom>
          <a:solidFill>
            <a:srgbClr val="22B8CF"/>
          </a:solidFill>
          <a:ln w="12700">
            <a:solidFill>
              <a:srgbClr val="22B8CF"/>
            </a:solidFill>
            <a:prstDash val="solid"/>
          </a:ln>
        </p:spPr>
      </p:sp>
      <p:sp>
        <p:nvSpPr>
          <p:cNvPr id="35" name="Text 33"/>
          <p:cNvSpPr txBox="1"/>
          <p:nvPr/>
        </p:nvSpPr>
        <p:spPr>
          <a:xfrm>
            <a:off x="6473952"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6" name="Text 34"/>
          <p:cNvSpPr txBox="1"/>
          <p:nvPr/>
        </p:nvSpPr>
        <p:spPr>
          <a:xfrm>
            <a:off x="6967728" y="452628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Git repository</a:t>
            </a:r>
            <a:endParaRPr lang="en-US" sz="1500" dirty="0"/>
          </a:p>
        </p:txBody>
      </p:sp>
      <p:sp>
        <p:nvSpPr>
          <p:cNvPr id="37" name="Text 35"/>
          <p:cNvSpPr txBox="1"/>
          <p:nvPr/>
        </p:nvSpPr>
        <p:spPr>
          <a:xfrm>
            <a:off x="6492240" y="4956048"/>
            <a:ext cx="5029200" cy="68580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every file indexed: search, read, who registers what, what changes together</a:t>
            </a:r>
            <a:endParaRPr lang="en-US" sz="1150" dirty="0"/>
          </a:p>
        </p:txBody>
      </p:sp>
      <p:sp>
        <p:nvSpPr>
          <p:cNvPr id="38" name="Text 36"/>
          <p:cNvSpPr txBox="1"/>
          <p:nvPr/>
        </p:nvSpPr>
        <p:spPr>
          <a:xfrm>
            <a:off x="6492240" y="5413248"/>
            <a:ext cx="5029200" cy="274320"/>
          </a:xfrm>
          <a:prstGeom prst="rect">
            <a:avLst/>
          </a:prstGeom>
          <a:noFill/>
          <a:ln/>
        </p:spPr>
        <p:txBody>
          <a:bodyPr wrap="square" lIns="0" tIns="0" rIns="0" bIns="0" rtlCol="0" anchor="t"/>
          <a:lstStyle/>
          <a:p>
            <a:pPr indent="0" marL="0">
              <a:buNone/>
            </a:pPr>
            <a:r>
              <a:rPr lang="en-US" sz="1050" i="1" dirty="0">
                <a:solidFill>
                  <a:srgbClr val="6C5CE7"/>
                </a:solidFill>
              </a:rPr>
              <a:t>→ repo agent + all tools</a:t>
            </a:r>
            <a:endParaRPr lang="en-US" sz="1050" dirty="0"/>
          </a:p>
        </p:txBody>
      </p:sp>
      <p:sp>
        <p:nvSpPr>
          <p:cNvPr id="39" name="Text 37"/>
          <p:cNvSpPr txBox="1"/>
          <p:nvPr/>
        </p:nvSpPr>
        <p:spPr>
          <a:xfrm>
            <a:off x="640080" y="6035040"/>
            <a:ext cx="10972800" cy="365760"/>
          </a:xfrm>
          <a:prstGeom prst="rect">
            <a:avLst/>
          </a:prstGeom>
          <a:noFill/>
          <a:ln/>
        </p:spPr>
        <p:txBody>
          <a:bodyPr wrap="square" lIns="0" tIns="0" rIns="0" bIns="0" rtlCol="0" anchor="t"/>
          <a:lstStyle/>
          <a:p>
            <a:pPr indent="0" marL="0">
              <a:buNone/>
            </a:pPr>
            <a:r>
              <a:rPr lang="en-US" sz="1250" i="1" dirty="0">
                <a:solidFill>
                  <a:srgbClr val="6C5CE7"/>
                </a:solidFill>
              </a:rPr>
              <a:t>Accepted as md, yml, txt, csv, xls/xlsx, doc/docx, html. Each input becomes a card in the chat and can be removed; nothing is rewritten for the tool.</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Tools: the agents look things up instead of guessing</a:t>
            </a:r>
            <a:endParaRPr lang="en-US" sz="3000" dirty="0"/>
          </a:p>
        </p:txBody>
      </p:sp>
      <p:sp>
        <p:nvSpPr>
          <p:cNvPr id="3" name="Shape 1"/>
          <p:cNvSpPr/>
          <p:nvPr/>
        </p:nvSpPr>
        <p:spPr>
          <a:xfrm>
            <a:off x="640080" y="1371600"/>
            <a:ext cx="3566160" cy="1280160"/>
          </a:xfrm>
          <a:prstGeom prst="roundRect">
            <a:avLst>
              <a:gd name="adj" fmla="val 8571"/>
            </a:avLst>
          </a:prstGeom>
          <a:solidFill>
            <a:srgbClr val="F1F2F8"/>
          </a:solidFill>
          <a:ln w="19050">
            <a:solidFill>
              <a:srgbClr val="F1F2F8"/>
            </a:solidFill>
            <a:prstDash val="solid"/>
          </a:ln>
        </p:spPr>
      </p:sp>
      <p:sp>
        <p:nvSpPr>
          <p:cNvPr id="4" name="Text 2"/>
          <p:cNvSpPr txBox="1"/>
          <p:nvPr/>
        </p:nvSpPr>
        <p:spPr>
          <a:xfrm>
            <a:off x="822960" y="150876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search_repo</a:t>
            </a:r>
            <a:endParaRPr lang="en-US" sz="1300" dirty="0"/>
          </a:p>
        </p:txBody>
      </p:sp>
      <p:sp>
        <p:nvSpPr>
          <p:cNvPr id="5" name="Text 3"/>
          <p:cNvSpPr txBox="1"/>
          <p:nvPr/>
        </p:nvSpPr>
        <p:spPr>
          <a:xfrm>
            <a:off x="822960" y="193852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find the files most related to a query (paths, symbols, content)</a:t>
            </a:r>
            <a:endParaRPr lang="en-US" sz="1150" dirty="0"/>
          </a:p>
        </p:txBody>
      </p:sp>
      <p:sp>
        <p:nvSpPr>
          <p:cNvPr id="6" name="Shape 4"/>
          <p:cNvSpPr/>
          <p:nvPr/>
        </p:nvSpPr>
        <p:spPr>
          <a:xfrm>
            <a:off x="4389120" y="1371600"/>
            <a:ext cx="3566160" cy="1280160"/>
          </a:xfrm>
          <a:prstGeom prst="roundRect">
            <a:avLst>
              <a:gd name="adj" fmla="val 8571"/>
            </a:avLst>
          </a:prstGeom>
          <a:solidFill>
            <a:srgbClr val="F1F2F8"/>
          </a:solidFill>
          <a:ln w="19050">
            <a:solidFill>
              <a:srgbClr val="F1F2F8"/>
            </a:solidFill>
            <a:prstDash val="solid"/>
          </a:ln>
        </p:spPr>
      </p:sp>
      <p:sp>
        <p:nvSpPr>
          <p:cNvPr id="7" name="Text 5"/>
          <p:cNvSpPr txBox="1"/>
          <p:nvPr/>
        </p:nvSpPr>
        <p:spPr>
          <a:xfrm>
            <a:off x="4572000" y="150876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read_file</a:t>
            </a:r>
            <a:endParaRPr lang="en-US" sz="1300" dirty="0"/>
          </a:p>
        </p:txBody>
      </p:sp>
      <p:sp>
        <p:nvSpPr>
          <p:cNvPr id="8" name="Text 6"/>
          <p:cNvSpPr txBox="1"/>
          <p:nvPr/>
        </p:nvSpPr>
        <p:spPr>
          <a:xfrm>
            <a:off x="4572000" y="193852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read any repository file in full</a:t>
            </a:r>
            <a:endParaRPr lang="en-US" sz="1150" dirty="0"/>
          </a:p>
        </p:txBody>
      </p:sp>
      <p:sp>
        <p:nvSpPr>
          <p:cNvPr id="9" name="Shape 7"/>
          <p:cNvSpPr/>
          <p:nvPr/>
        </p:nvSpPr>
        <p:spPr>
          <a:xfrm>
            <a:off x="8138160" y="1371600"/>
            <a:ext cx="3566160" cy="1280160"/>
          </a:xfrm>
          <a:prstGeom prst="roundRect">
            <a:avLst>
              <a:gd name="adj" fmla="val 8571"/>
            </a:avLst>
          </a:prstGeom>
          <a:solidFill>
            <a:srgbClr val="F1F2F8"/>
          </a:solidFill>
          <a:ln w="19050">
            <a:solidFill>
              <a:srgbClr val="F1F2F8"/>
            </a:solidFill>
            <a:prstDash val="solid"/>
          </a:ln>
        </p:spPr>
      </p:sp>
      <p:sp>
        <p:nvSpPr>
          <p:cNvPr id="10" name="Text 8"/>
          <p:cNvSpPr txBox="1"/>
          <p:nvPr/>
        </p:nvSpPr>
        <p:spPr>
          <a:xfrm>
            <a:off x="8321040" y="150876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grep_repo · repo_tree · example_files</a:t>
            </a:r>
            <a:endParaRPr lang="en-US" sz="1300" dirty="0"/>
          </a:p>
        </p:txBody>
      </p:sp>
      <p:sp>
        <p:nvSpPr>
          <p:cNvPr id="11" name="Text 9"/>
          <p:cNvSpPr txBox="1"/>
          <p:nvPr/>
        </p:nvSpPr>
        <p:spPr>
          <a:xfrm>
            <a:off x="8321040" y="193852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pattern search, folder tree, typical files to imitate</a:t>
            </a:r>
            <a:endParaRPr lang="en-US" sz="1150" dirty="0"/>
          </a:p>
        </p:txBody>
      </p:sp>
      <p:sp>
        <p:nvSpPr>
          <p:cNvPr id="12" name="Shape 10"/>
          <p:cNvSpPr/>
          <p:nvPr/>
        </p:nvSpPr>
        <p:spPr>
          <a:xfrm>
            <a:off x="640080" y="2788920"/>
            <a:ext cx="3566160" cy="1280160"/>
          </a:xfrm>
          <a:prstGeom prst="roundRect">
            <a:avLst>
              <a:gd name="adj" fmla="val 8571"/>
            </a:avLst>
          </a:prstGeom>
          <a:solidFill>
            <a:srgbClr val="F1F2F8"/>
          </a:solidFill>
          <a:ln w="19050">
            <a:solidFill>
              <a:srgbClr val="6C5CE7"/>
            </a:solidFill>
            <a:prstDash val="solid"/>
          </a:ln>
        </p:spPr>
      </p:sp>
      <p:sp>
        <p:nvSpPr>
          <p:cNvPr id="13" name="Text 11"/>
          <p:cNvSpPr txBox="1"/>
          <p:nvPr/>
        </p:nvSpPr>
        <p:spPr>
          <a:xfrm>
            <a:off x="822960" y="292608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registration_points(folder)</a:t>
            </a:r>
            <a:endParaRPr lang="en-US" sz="1300" dirty="0"/>
          </a:p>
        </p:txBody>
      </p:sp>
      <p:sp>
        <p:nvSpPr>
          <p:cNvPr id="14" name="Text 12"/>
          <p:cNvSpPr txBox="1"/>
          <p:nvPr/>
        </p:nvSpPr>
        <p:spPr>
          <a:xfrm>
            <a:off x="822960" y="335584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who lists this folder's scripts: the DAG task list, a task-name file, a config</a:t>
            </a:r>
            <a:endParaRPr lang="en-US" sz="1150" dirty="0"/>
          </a:p>
        </p:txBody>
      </p:sp>
      <p:sp>
        <p:nvSpPr>
          <p:cNvPr id="15" name="Shape 13"/>
          <p:cNvSpPr/>
          <p:nvPr/>
        </p:nvSpPr>
        <p:spPr>
          <a:xfrm>
            <a:off x="4389120" y="2788920"/>
            <a:ext cx="3566160" cy="1280160"/>
          </a:xfrm>
          <a:prstGeom prst="roundRect">
            <a:avLst>
              <a:gd name="adj" fmla="val 8571"/>
            </a:avLst>
          </a:prstGeom>
          <a:solidFill>
            <a:srgbClr val="F1F2F8"/>
          </a:solidFill>
          <a:ln w="19050">
            <a:solidFill>
              <a:srgbClr val="6C5CE7"/>
            </a:solidFill>
            <a:prstDash val="solid"/>
          </a:ln>
        </p:spPr>
      </p:sp>
      <p:sp>
        <p:nvSpPr>
          <p:cNvPr id="16" name="Text 14"/>
          <p:cNvSpPr txBox="1"/>
          <p:nvPr/>
        </p:nvSpPr>
        <p:spPr>
          <a:xfrm>
            <a:off x="4572000" y="292608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companion_files(path)</a:t>
            </a:r>
            <a:endParaRPr lang="en-US" sz="1300" dirty="0"/>
          </a:p>
        </p:txBody>
      </p:sp>
      <p:sp>
        <p:nvSpPr>
          <p:cNvPr id="17" name="Text 15"/>
          <p:cNvSpPr txBox="1"/>
          <p:nvPr/>
        </p:nvSpPr>
        <p:spPr>
          <a:xfrm>
            <a:off x="4572000" y="335584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what changes together with a table: history / archive script, configs with an entry, readers</a:t>
            </a:r>
            <a:endParaRPr lang="en-US" sz="1150" dirty="0"/>
          </a:p>
        </p:txBody>
      </p:sp>
      <p:sp>
        <p:nvSpPr>
          <p:cNvPr id="18" name="Shape 16"/>
          <p:cNvSpPr/>
          <p:nvPr/>
        </p:nvSpPr>
        <p:spPr>
          <a:xfrm>
            <a:off x="8138160" y="2788920"/>
            <a:ext cx="3566160" cy="1280160"/>
          </a:xfrm>
          <a:prstGeom prst="roundRect">
            <a:avLst>
              <a:gd name="adj" fmla="val 8571"/>
            </a:avLst>
          </a:prstGeom>
          <a:solidFill>
            <a:srgbClr val="F1F2F8"/>
          </a:solidFill>
          <a:ln w="19050">
            <a:solidFill>
              <a:srgbClr val="6C5CE7"/>
            </a:solidFill>
            <a:prstDash val="solid"/>
          </a:ln>
        </p:spPr>
      </p:sp>
      <p:sp>
        <p:nvSpPr>
          <p:cNvPr id="19" name="Text 17"/>
          <p:cNvSpPr txBox="1"/>
          <p:nvPr/>
        </p:nvSpPr>
        <p:spPr>
          <a:xfrm>
            <a:off x="8321040" y="292608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references(name)</a:t>
            </a:r>
            <a:endParaRPr lang="en-US" sz="1300" dirty="0"/>
          </a:p>
        </p:txBody>
      </p:sp>
      <p:sp>
        <p:nvSpPr>
          <p:cNvPr id="20" name="Text 18"/>
          <p:cNvSpPr txBox="1"/>
          <p:nvPr/>
        </p:nvSpPr>
        <p:spPr>
          <a:xfrm>
            <a:off x="8321040" y="335584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every place a table / column / function is used - the impact of a change</a:t>
            </a:r>
            <a:endParaRPr lang="en-US" sz="1150" dirty="0"/>
          </a:p>
        </p:txBody>
      </p:sp>
      <p:sp>
        <p:nvSpPr>
          <p:cNvPr id="21" name="Shape 19"/>
          <p:cNvSpPr/>
          <p:nvPr/>
        </p:nvSpPr>
        <p:spPr>
          <a:xfrm>
            <a:off x="640080" y="4206240"/>
            <a:ext cx="3566160" cy="1280160"/>
          </a:xfrm>
          <a:prstGeom prst="roundRect">
            <a:avLst>
              <a:gd name="adj" fmla="val 8571"/>
            </a:avLst>
          </a:prstGeom>
          <a:solidFill>
            <a:srgbClr val="F1F2F8"/>
          </a:solidFill>
          <a:ln w="19050">
            <a:solidFill>
              <a:srgbClr val="F1F2F8"/>
            </a:solidFill>
            <a:prstDash val="solid"/>
          </a:ln>
        </p:spPr>
      </p:sp>
      <p:sp>
        <p:nvSpPr>
          <p:cNvPr id="22" name="Text 20"/>
          <p:cNvSpPr txBox="1"/>
          <p:nvPr/>
        </p:nvSpPr>
        <p:spPr>
          <a:xfrm>
            <a:off x="822960" y="434340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describe_table · columns_named</a:t>
            </a:r>
            <a:endParaRPr lang="en-US" sz="1300" dirty="0"/>
          </a:p>
        </p:txBody>
      </p:sp>
      <p:sp>
        <p:nvSpPr>
          <p:cNvPr id="23" name="Text 21"/>
          <p:cNvSpPr txBox="1"/>
          <p:nvPr/>
        </p:nvSpPr>
        <p:spPr>
          <a:xfrm>
            <a:off x="822960" y="477316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Greenplum grain, keys, types, samples</a:t>
            </a:r>
            <a:endParaRPr lang="en-US" sz="1150" dirty="0"/>
          </a:p>
        </p:txBody>
      </p:sp>
      <p:sp>
        <p:nvSpPr>
          <p:cNvPr id="24" name="Shape 22"/>
          <p:cNvSpPr/>
          <p:nvPr/>
        </p:nvSpPr>
        <p:spPr>
          <a:xfrm>
            <a:off x="4389120" y="4206240"/>
            <a:ext cx="3566160" cy="1280160"/>
          </a:xfrm>
          <a:prstGeom prst="roundRect">
            <a:avLst>
              <a:gd name="adj" fmla="val 8571"/>
            </a:avLst>
          </a:prstGeom>
          <a:solidFill>
            <a:srgbClr val="F1F2F8"/>
          </a:solidFill>
          <a:ln w="19050">
            <a:solidFill>
              <a:srgbClr val="F1F2F8"/>
            </a:solidFill>
            <a:prstDash val="solid"/>
          </a:ln>
        </p:spPr>
      </p:sp>
      <p:sp>
        <p:nvSpPr>
          <p:cNvPr id="25" name="Text 23"/>
          <p:cNvSpPr txBox="1"/>
          <p:nvPr/>
        </p:nvSpPr>
        <p:spPr>
          <a:xfrm>
            <a:off x="4572000" y="434340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define_term · read_section</a:t>
            </a:r>
            <a:endParaRPr lang="en-US" sz="1300" dirty="0"/>
          </a:p>
        </p:txBody>
      </p:sp>
      <p:sp>
        <p:nvSpPr>
          <p:cNvPr id="26" name="Text 24"/>
          <p:cNvSpPr txBox="1"/>
          <p:nvPr/>
        </p:nvSpPr>
        <p:spPr>
          <a:xfrm>
            <a:off x="4572000" y="477316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glossary definitions, skills / standards sections</a:t>
            </a:r>
            <a:endParaRPr lang="en-US" sz="1150" dirty="0"/>
          </a:p>
        </p:txBody>
      </p:sp>
      <p:sp>
        <p:nvSpPr>
          <p:cNvPr id="27" name="Shape 25"/>
          <p:cNvSpPr/>
          <p:nvPr/>
        </p:nvSpPr>
        <p:spPr>
          <a:xfrm>
            <a:off x="8138160" y="4206240"/>
            <a:ext cx="3566160" cy="1280160"/>
          </a:xfrm>
          <a:prstGeom prst="roundRect">
            <a:avLst>
              <a:gd name="adj" fmla="val 8571"/>
            </a:avLst>
          </a:prstGeom>
          <a:solidFill>
            <a:srgbClr val="F1F2F8"/>
          </a:solidFill>
          <a:ln w="19050">
            <a:solidFill>
              <a:srgbClr val="F1F2F8"/>
            </a:solidFill>
            <a:prstDash val="solid"/>
          </a:ln>
        </p:spPr>
      </p:sp>
      <p:sp>
        <p:nvSpPr>
          <p:cNvPr id="28" name="Text 26"/>
          <p:cNvSpPr txBox="1"/>
          <p:nvPr/>
        </p:nvSpPr>
        <p:spPr>
          <a:xfrm>
            <a:off x="8321040" y="4343400"/>
            <a:ext cx="3200400" cy="411480"/>
          </a:xfrm>
          <a:prstGeom prst="rect">
            <a:avLst/>
          </a:prstGeom>
          <a:noFill/>
          <a:ln/>
        </p:spPr>
        <p:txBody>
          <a:bodyPr wrap="square" lIns="0" tIns="0" rIns="0" bIns="0" rtlCol="0" anchor="ctr"/>
          <a:lstStyle/>
          <a:p>
            <a:pPr indent="0" marL="0">
              <a:buNone/>
            </a:pPr>
            <a:r>
              <a:rPr lang="en-US" sz="1300" b="1" dirty="0">
                <a:solidFill>
                  <a:srgbClr val="1B1F3B"/>
                </a:solidFill>
              </a:rPr>
              <a:t>check (validator)</a:t>
            </a:r>
            <a:endParaRPr lang="en-US" sz="1300" dirty="0"/>
          </a:p>
        </p:txBody>
      </p:sp>
      <p:sp>
        <p:nvSpPr>
          <p:cNvPr id="29" name="Text 27"/>
          <p:cNvSpPr txBox="1"/>
          <p:nvPr/>
        </p:nvSpPr>
        <p:spPr>
          <a:xfrm>
            <a:off x="8321040" y="4773168"/>
            <a:ext cx="3200400" cy="64008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parse, lint, rule-check a file before submitting it</a:t>
            </a:r>
            <a:endParaRPr lang="en-US" sz="1150" dirty="0"/>
          </a:p>
        </p:txBody>
      </p:sp>
      <p:sp>
        <p:nvSpPr>
          <p:cNvPr id="30" name="Text 28"/>
          <p:cNvSpPr txBox="1"/>
          <p:nvPr/>
        </p:nvSpPr>
        <p:spPr>
          <a:xfrm>
            <a:off x="640080" y="6035040"/>
            <a:ext cx="10972800" cy="365760"/>
          </a:xfrm>
          <a:prstGeom prst="rect">
            <a:avLst/>
          </a:prstGeom>
          <a:noFill/>
          <a:ln/>
        </p:spPr>
        <p:txBody>
          <a:bodyPr wrap="square" lIns="0" tIns="0" rIns="0" bIns="0" rtlCol="0" anchor="t"/>
          <a:lstStyle/>
          <a:p>
            <a:pPr indent="0" marL="0">
              <a:buNone/>
            </a:pPr>
            <a:r>
              <a:rPr lang="en-US" sz="1250" i="1" dirty="0">
                <a:solidFill>
                  <a:srgbClr val="6C5CE7"/>
                </a:solidFill>
              </a:rPr>
              <a:t>The middle row is what makes the code ours: it is how the system finds the DAG, the history script and the config entry for a change - from the repository, not from a hard-coded rule.</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Seven agents, seven roles a good team gives a newcomer</a:t>
            </a:r>
            <a:endParaRPr lang="en-US" sz="3000" dirty="0"/>
          </a:p>
        </p:txBody>
      </p:sp>
      <p:sp>
        <p:nvSpPr>
          <p:cNvPr id="3" name="Shape 1"/>
          <p:cNvSpPr/>
          <p:nvPr/>
        </p:nvSpPr>
        <p:spPr>
          <a:xfrm>
            <a:off x="640080" y="1371600"/>
            <a:ext cx="5394960" cy="1024128"/>
          </a:xfrm>
          <a:prstGeom prst="roundRect">
            <a:avLst>
              <a:gd name="adj" fmla="val 8929"/>
            </a:avLst>
          </a:prstGeom>
          <a:solidFill>
            <a:srgbClr val="F1F2F8"/>
          </a:solidFill>
          <a:ln w="12700">
            <a:solidFill>
              <a:srgbClr val="F1F2F8"/>
            </a:solidFill>
            <a:prstDash val="solid"/>
          </a:ln>
        </p:spPr>
      </p:sp>
      <p:sp>
        <p:nvSpPr>
          <p:cNvPr id="4" name="Shape 2"/>
          <p:cNvSpPr/>
          <p:nvPr/>
        </p:nvSpPr>
        <p:spPr>
          <a:xfrm>
            <a:off x="822960" y="1591056"/>
            <a:ext cx="594360" cy="594360"/>
          </a:xfrm>
          <a:prstGeom prst="ellipse">
            <a:avLst/>
          </a:prstGeom>
          <a:solidFill>
            <a:srgbClr val="22B8CF"/>
          </a:solidFill>
          <a:ln w="12700">
            <a:solidFill>
              <a:srgbClr val="22B8CF"/>
            </a:solidFill>
            <a:prstDash val="solid"/>
          </a:ln>
        </p:spPr>
      </p:sp>
      <p:sp>
        <p:nvSpPr>
          <p:cNvPr id="5" name="Text 3"/>
          <p:cNvSpPr txBox="1"/>
          <p:nvPr/>
        </p:nvSpPr>
        <p:spPr>
          <a:xfrm>
            <a:off x="822960" y="159105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600200" y="1481328"/>
            <a:ext cx="2194560" cy="365760"/>
          </a:xfrm>
          <a:prstGeom prst="rect">
            <a:avLst/>
          </a:prstGeom>
          <a:noFill/>
          <a:ln/>
        </p:spPr>
        <p:txBody>
          <a:bodyPr wrap="square" lIns="0" tIns="0" rIns="0" bIns="0" rtlCol="0" anchor="t"/>
          <a:lstStyle/>
          <a:p>
            <a:pPr indent="0" marL="0">
              <a:buNone/>
            </a:pPr>
            <a:r>
              <a:rPr lang="en-US" sz="1500" b="1" dirty="0">
                <a:solidFill>
                  <a:srgbClr val="1B1F3B"/>
                </a:solidFill>
              </a:rPr>
              <a:t>Story agent</a:t>
            </a:r>
            <a:endParaRPr lang="en-US" sz="1500" dirty="0"/>
          </a:p>
        </p:txBody>
      </p:sp>
      <p:sp>
        <p:nvSpPr>
          <p:cNvPr id="7" name="Text 5"/>
          <p:cNvSpPr txBox="1"/>
          <p:nvPr/>
        </p:nvSpPr>
        <p:spPr>
          <a:xfrm>
            <a:off x="1600200" y="1847088"/>
            <a:ext cx="2194560" cy="457200"/>
          </a:xfrm>
          <a:prstGeom prst="rect">
            <a:avLst/>
          </a:prstGeom>
          <a:noFill/>
          <a:ln/>
        </p:spPr>
        <p:txBody>
          <a:bodyPr wrap="square" lIns="0" tIns="0" rIns="0" bIns="0" rtlCol="0" anchor="t"/>
          <a:lstStyle/>
          <a:p>
            <a:pPr indent="0" marL="0">
              <a:buNone/>
            </a:pPr>
            <a:r>
              <a:rPr lang="en-US" sz="1100" i="1" dirty="0">
                <a:solidFill>
                  <a:srgbClr val="6C5CE7"/>
                </a:solidFill>
              </a:rPr>
              <a:t>Reads the ticket</a:t>
            </a:r>
            <a:endParaRPr lang="en-US" sz="1100" dirty="0"/>
          </a:p>
        </p:txBody>
      </p:sp>
      <p:sp>
        <p:nvSpPr>
          <p:cNvPr id="8" name="Text 6"/>
          <p:cNvSpPr txBox="1"/>
          <p:nvPr/>
        </p:nvSpPr>
        <p:spPr>
          <a:xfrm>
            <a:off x="3840480" y="1481328"/>
            <a:ext cx="2011680" cy="822960"/>
          </a:xfrm>
          <a:prstGeom prst="rect">
            <a:avLst/>
          </a:prstGeom>
          <a:noFill/>
          <a:ln/>
        </p:spPr>
        <p:txBody>
          <a:bodyPr wrap="square" lIns="0" tIns="0" rIns="0" bIns="0" rtlCol="0" anchor="ctr"/>
          <a:lstStyle/>
          <a:p>
            <a:pPr indent="0" marL="0">
              <a:buNone/>
            </a:pPr>
            <a:r>
              <a:rPr lang="en-US" sz="1200" dirty="0">
                <a:solidFill>
                  <a:srgbClr val="4A4F6B"/>
                </a:solidFill>
              </a:rPr>
              <a:t>requirements, business rules, acceptance criteria, tables, the SQL in the story</a:t>
            </a:r>
            <a:endParaRPr lang="en-US" sz="1200" dirty="0"/>
          </a:p>
        </p:txBody>
      </p:sp>
      <p:sp>
        <p:nvSpPr>
          <p:cNvPr id="9" name="Shape 7"/>
          <p:cNvSpPr/>
          <p:nvPr/>
        </p:nvSpPr>
        <p:spPr>
          <a:xfrm>
            <a:off x="6309360" y="1371600"/>
            <a:ext cx="5394960" cy="1024128"/>
          </a:xfrm>
          <a:prstGeom prst="roundRect">
            <a:avLst>
              <a:gd name="adj" fmla="val 8929"/>
            </a:avLst>
          </a:prstGeom>
          <a:solidFill>
            <a:srgbClr val="F1F2F8"/>
          </a:solidFill>
          <a:ln w="12700">
            <a:solidFill>
              <a:srgbClr val="F1F2F8"/>
            </a:solidFill>
            <a:prstDash val="solid"/>
          </a:ln>
        </p:spPr>
      </p:sp>
      <p:sp>
        <p:nvSpPr>
          <p:cNvPr id="10" name="Shape 8"/>
          <p:cNvSpPr/>
          <p:nvPr/>
        </p:nvSpPr>
        <p:spPr>
          <a:xfrm>
            <a:off x="6492240" y="1591056"/>
            <a:ext cx="594360" cy="594360"/>
          </a:xfrm>
          <a:prstGeom prst="ellipse">
            <a:avLst/>
          </a:prstGeom>
          <a:solidFill>
            <a:srgbClr val="22B8CF"/>
          </a:solidFill>
          <a:ln w="12700">
            <a:solidFill>
              <a:srgbClr val="22B8CF"/>
            </a:solidFill>
            <a:prstDash val="solid"/>
          </a:ln>
        </p:spPr>
      </p:sp>
      <p:sp>
        <p:nvSpPr>
          <p:cNvPr id="11" name="Text 9"/>
          <p:cNvSpPr txBox="1"/>
          <p:nvPr/>
        </p:nvSpPr>
        <p:spPr>
          <a:xfrm>
            <a:off x="6492240" y="159105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Text 10"/>
          <p:cNvSpPr txBox="1"/>
          <p:nvPr/>
        </p:nvSpPr>
        <p:spPr>
          <a:xfrm>
            <a:off x="7269480" y="1481328"/>
            <a:ext cx="2194560" cy="365760"/>
          </a:xfrm>
          <a:prstGeom prst="rect">
            <a:avLst/>
          </a:prstGeom>
          <a:noFill/>
          <a:ln/>
        </p:spPr>
        <p:txBody>
          <a:bodyPr wrap="square" lIns="0" tIns="0" rIns="0" bIns="0" rtlCol="0" anchor="t"/>
          <a:lstStyle/>
          <a:p>
            <a:pPr indent="0" marL="0">
              <a:buNone/>
            </a:pPr>
            <a:r>
              <a:rPr lang="en-US" sz="1500" b="1" dirty="0">
                <a:solidFill>
                  <a:srgbClr val="1B1F3B"/>
                </a:solidFill>
              </a:rPr>
              <a:t>Knowledge agent</a:t>
            </a:r>
            <a:endParaRPr lang="en-US" sz="1500" dirty="0"/>
          </a:p>
        </p:txBody>
      </p:sp>
      <p:sp>
        <p:nvSpPr>
          <p:cNvPr id="13" name="Text 11"/>
          <p:cNvSpPr txBox="1"/>
          <p:nvPr/>
        </p:nvSpPr>
        <p:spPr>
          <a:xfrm>
            <a:off x="7269480" y="1847088"/>
            <a:ext cx="2194560" cy="457200"/>
          </a:xfrm>
          <a:prstGeom prst="rect">
            <a:avLst/>
          </a:prstGeom>
          <a:noFill/>
          <a:ln/>
        </p:spPr>
        <p:txBody>
          <a:bodyPr wrap="square" lIns="0" tIns="0" rIns="0" bIns="0" rtlCol="0" anchor="t"/>
          <a:lstStyle/>
          <a:p>
            <a:pPr indent="0" marL="0">
              <a:buNone/>
            </a:pPr>
            <a:r>
              <a:rPr lang="en-US" sz="1100" i="1" dirty="0">
                <a:solidFill>
                  <a:srgbClr val="6C5CE7"/>
                </a:solidFill>
              </a:rPr>
              <a:t>Reads the wiki</a:t>
            </a:r>
            <a:endParaRPr lang="en-US" sz="1100" dirty="0"/>
          </a:p>
        </p:txBody>
      </p:sp>
      <p:sp>
        <p:nvSpPr>
          <p:cNvPr id="14" name="Text 12"/>
          <p:cNvSpPr txBox="1"/>
          <p:nvPr/>
        </p:nvSpPr>
        <p:spPr>
          <a:xfrm>
            <a:off x="9509760" y="1481328"/>
            <a:ext cx="2011680" cy="822960"/>
          </a:xfrm>
          <a:prstGeom prst="rect">
            <a:avLst/>
          </a:prstGeom>
          <a:noFill/>
          <a:ln/>
        </p:spPr>
        <p:txBody>
          <a:bodyPr wrap="square" lIns="0" tIns="0" rIns="0" bIns="0" rtlCol="0" anchor="ctr"/>
          <a:lstStyle/>
          <a:p>
            <a:pPr indent="0" marL="0">
              <a:buNone/>
            </a:pPr>
            <a:r>
              <a:rPr lang="en-US" sz="1200" dirty="0">
                <a:solidFill>
                  <a:srgbClr val="4A4F6B"/>
                </a:solidFill>
              </a:rPr>
              <a:t>definitions, conventions, checkable rules with their exceptions</a:t>
            </a:r>
            <a:endParaRPr lang="en-US" sz="1200" dirty="0"/>
          </a:p>
        </p:txBody>
      </p:sp>
      <p:sp>
        <p:nvSpPr>
          <p:cNvPr id="15" name="Shape 13"/>
          <p:cNvSpPr/>
          <p:nvPr/>
        </p:nvSpPr>
        <p:spPr>
          <a:xfrm>
            <a:off x="640080" y="2560320"/>
            <a:ext cx="5394960" cy="1024128"/>
          </a:xfrm>
          <a:prstGeom prst="roundRect">
            <a:avLst>
              <a:gd name="adj" fmla="val 8929"/>
            </a:avLst>
          </a:prstGeom>
          <a:solidFill>
            <a:srgbClr val="F1F2F8"/>
          </a:solidFill>
          <a:ln w="12700">
            <a:solidFill>
              <a:srgbClr val="F1F2F8"/>
            </a:solidFill>
            <a:prstDash val="solid"/>
          </a:ln>
        </p:spPr>
      </p:sp>
      <p:sp>
        <p:nvSpPr>
          <p:cNvPr id="16" name="Shape 14"/>
          <p:cNvSpPr/>
          <p:nvPr/>
        </p:nvSpPr>
        <p:spPr>
          <a:xfrm>
            <a:off x="822960" y="2779776"/>
            <a:ext cx="594360" cy="594360"/>
          </a:xfrm>
          <a:prstGeom prst="ellipse">
            <a:avLst/>
          </a:prstGeom>
          <a:solidFill>
            <a:srgbClr val="22B8CF"/>
          </a:solidFill>
          <a:ln w="12700">
            <a:solidFill>
              <a:srgbClr val="22B8CF"/>
            </a:solidFill>
            <a:prstDash val="solid"/>
          </a:ln>
        </p:spPr>
      </p:sp>
      <p:sp>
        <p:nvSpPr>
          <p:cNvPr id="17" name="Text 15"/>
          <p:cNvSpPr txBox="1"/>
          <p:nvPr/>
        </p:nvSpPr>
        <p:spPr>
          <a:xfrm>
            <a:off x="822960" y="277977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 16"/>
          <p:cNvSpPr txBox="1"/>
          <p:nvPr/>
        </p:nvSpPr>
        <p:spPr>
          <a:xfrm>
            <a:off x="1600200" y="2670048"/>
            <a:ext cx="2194560" cy="365760"/>
          </a:xfrm>
          <a:prstGeom prst="rect">
            <a:avLst/>
          </a:prstGeom>
          <a:noFill/>
          <a:ln/>
        </p:spPr>
        <p:txBody>
          <a:bodyPr wrap="square" lIns="0" tIns="0" rIns="0" bIns="0" rtlCol="0" anchor="t"/>
          <a:lstStyle/>
          <a:p>
            <a:pPr indent="0" marL="0">
              <a:buNone/>
            </a:pPr>
            <a:r>
              <a:rPr lang="en-US" sz="1500" b="1" dirty="0">
                <a:solidFill>
                  <a:srgbClr val="1B1F3B"/>
                </a:solidFill>
              </a:rPr>
              <a:t>Data agent</a:t>
            </a:r>
            <a:endParaRPr lang="en-US" sz="1500" dirty="0"/>
          </a:p>
        </p:txBody>
      </p:sp>
      <p:sp>
        <p:nvSpPr>
          <p:cNvPr id="19" name="Text 17"/>
          <p:cNvSpPr txBox="1"/>
          <p:nvPr/>
        </p:nvSpPr>
        <p:spPr>
          <a:xfrm>
            <a:off x="1600200" y="3035808"/>
            <a:ext cx="2194560" cy="457200"/>
          </a:xfrm>
          <a:prstGeom prst="rect">
            <a:avLst/>
          </a:prstGeom>
          <a:noFill/>
          <a:ln/>
        </p:spPr>
        <p:txBody>
          <a:bodyPr wrap="square" lIns="0" tIns="0" rIns="0" bIns="0" rtlCol="0" anchor="t"/>
          <a:lstStyle/>
          <a:p>
            <a:pPr indent="0" marL="0">
              <a:buNone/>
            </a:pPr>
            <a:r>
              <a:rPr lang="en-US" sz="1100" i="1" dirty="0">
                <a:solidFill>
                  <a:srgbClr val="6C5CE7"/>
                </a:solidFill>
              </a:rPr>
              <a:t>Shows the database</a:t>
            </a:r>
            <a:endParaRPr lang="en-US" sz="1100" dirty="0"/>
          </a:p>
        </p:txBody>
      </p:sp>
      <p:sp>
        <p:nvSpPr>
          <p:cNvPr id="20" name="Text 18"/>
          <p:cNvSpPr txBox="1"/>
          <p:nvPr/>
        </p:nvSpPr>
        <p:spPr>
          <a:xfrm>
            <a:off x="3840480" y="2670048"/>
            <a:ext cx="2011680" cy="822960"/>
          </a:xfrm>
          <a:prstGeom prst="rect">
            <a:avLst/>
          </a:prstGeom>
          <a:noFill/>
          <a:ln/>
        </p:spPr>
        <p:txBody>
          <a:bodyPr wrap="square" lIns="0" tIns="0" rIns="0" bIns="0" rtlCol="0" anchor="ctr"/>
          <a:lstStyle/>
          <a:p>
            <a:pPr indent="0" marL="0">
              <a:buNone/>
            </a:pPr>
            <a:r>
              <a:rPr lang="en-US" sz="1200" dirty="0">
                <a:solidFill>
                  <a:srgbClr val="4A4F6B"/>
                </a:solidFill>
              </a:rPr>
              <a:t>grain, keys, column types, samples, how tables join</a:t>
            </a:r>
            <a:endParaRPr lang="en-US" sz="1200" dirty="0"/>
          </a:p>
        </p:txBody>
      </p:sp>
      <p:sp>
        <p:nvSpPr>
          <p:cNvPr id="21" name="Shape 19"/>
          <p:cNvSpPr/>
          <p:nvPr/>
        </p:nvSpPr>
        <p:spPr>
          <a:xfrm>
            <a:off x="6309360" y="2560320"/>
            <a:ext cx="5394960" cy="1024128"/>
          </a:xfrm>
          <a:prstGeom prst="roundRect">
            <a:avLst>
              <a:gd name="adj" fmla="val 8929"/>
            </a:avLst>
          </a:prstGeom>
          <a:solidFill>
            <a:srgbClr val="F1F2F8"/>
          </a:solidFill>
          <a:ln w="12700">
            <a:solidFill>
              <a:srgbClr val="F1F2F8"/>
            </a:solidFill>
            <a:prstDash val="solid"/>
          </a:ln>
        </p:spPr>
      </p:sp>
      <p:sp>
        <p:nvSpPr>
          <p:cNvPr id="22" name="Shape 20"/>
          <p:cNvSpPr/>
          <p:nvPr/>
        </p:nvSpPr>
        <p:spPr>
          <a:xfrm>
            <a:off x="6492240" y="2779776"/>
            <a:ext cx="594360" cy="594360"/>
          </a:xfrm>
          <a:prstGeom prst="ellipse">
            <a:avLst/>
          </a:prstGeom>
          <a:solidFill>
            <a:srgbClr val="22B8CF"/>
          </a:solidFill>
          <a:ln w="12700">
            <a:solidFill>
              <a:srgbClr val="22B8CF"/>
            </a:solidFill>
            <a:prstDash val="solid"/>
          </a:ln>
        </p:spPr>
      </p:sp>
      <p:sp>
        <p:nvSpPr>
          <p:cNvPr id="23" name="Text 21"/>
          <p:cNvSpPr txBox="1"/>
          <p:nvPr/>
        </p:nvSpPr>
        <p:spPr>
          <a:xfrm>
            <a:off x="6492240" y="277977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4" name="Text 22"/>
          <p:cNvSpPr txBox="1"/>
          <p:nvPr/>
        </p:nvSpPr>
        <p:spPr>
          <a:xfrm>
            <a:off x="7269480" y="2670048"/>
            <a:ext cx="2194560" cy="365760"/>
          </a:xfrm>
          <a:prstGeom prst="rect">
            <a:avLst/>
          </a:prstGeom>
          <a:noFill/>
          <a:ln/>
        </p:spPr>
        <p:txBody>
          <a:bodyPr wrap="square" lIns="0" tIns="0" rIns="0" bIns="0" rtlCol="0" anchor="t"/>
          <a:lstStyle/>
          <a:p>
            <a:pPr indent="0" marL="0">
              <a:buNone/>
            </a:pPr>
            <a:r>
              <a:rPr lang="en-US" sz="1500" b="1" dirty="0">
                <a:solidFill>
                  <a:srgbClr val="1B1F3B"/>
                </a:solidFill>
              </a:rPr>
              <a:t>Repo agent</a:t>
            </a:r>
            <a:endParaRPr lang="en-US" sz="1500" dirty="0"/>
          </a:p>
        </p:txBody>
      </p:sp>
      <p:sp>
        <p:nvSpPr>
          <p:cNvPr id="25" name="Text 23"/>
          <p:cNvSpPr txBox="1"/>
          <p:nvPr/>
        </p:nvSpPr>
        <p:spPr>
          <a:xfrm>
            <a:off x="7269480" y="3035808"/>
            <a:ext cx="2194560" cy="457200"/>
          </a:xfrm>
          <a:prstGeom prst="rect">
            <a:avLst/>
          </a:prstGeom>
          <a:noFill/>
          <a:ln/>
        </p:spPr>
        <p:txBody>
          <a:bodyPr wrap="square" lIns="0" tIns="0" rIns="0" bIns="0" rtlCol="0" anchor="t"/>
          <a:lstStyle/>
          <a:p>
            <a:pPr indent="0" marL="0">
              <a:buNone/>
            </a:pPr>
            <a:r>
              <a:rPr lang="en-US" sz="1100" i="1" dirty="0">
                <a:solidFill>
                  <a:srgbClr val="6C5CE7"/>
                </a:solidFill>
              </a:rPr>
              <a:t>Repository walkthrough</a:t>
            </a:r>
            <a:endParaRPr lang="en-US" sz="1100" dirty="0"/>
          </a:p>
        </p:txBody>
      </p:sp>
      <p:sp>
        <p:nvSpPr>
          <p:cNvPr id="26" name="Text 24"/>
          <p:cNvSpPr txBox="1"/>
          <p:nvPr/>
        </p:nvSpPr>
        <p:spPr>
          <a:xfrm>
            <a:off x="9509760" y="2670048"/>
            <a:ext cx="2011680" cy="822960"/>
          </a:xfrm>
          <a:prstGeom prst="rect">
            <a:avLst/>
          </a:prstGeom>
          <a:noFill/>
          <a:ln/>
        </p:spPr>
        <p:txBody>
          <a:bodyPr wrap="square" lIns="0" tIns="0" rIns="0" bIns="0" rtlCol="0" anchor="ctr"/>
          <a:lstStyle/>
          <a:p>
            <a:pPr indent="0" marL="0">
              <a:buNone/>
            </a:pPr>
            <a:r>
              <a:rPr lang="en-US" sz="1200" dirty="0">
                <a:solidFill>
                  <a:srgbClr val="4A4F6B"/>
                </a:solidFill>
              </a:rPr>
              <a:t>where the change belongs, patterns, files to modify, registrations, companions, impact</a:t>
            </a:r>
            <a:endParaRPr lang="en-US" sz="1200" dirty="0"/>
          </a:p>
        </p:txBody>
      </p:sp>
      <p:sp>
        <p:nvSpPr>
          <p:cNvPr id="27" name="Shape 25"/>
          <p:cNvSpPr/>
          <p:nvPr/>
        </p:nvSpPr>
        <p:spPr>
          <a:xfrm>
            <a:off x="640080" y="3749040"/>
            <a:ext cx="5394960" cy="1024128"/>
          </a:xfrm>
          <a:prstGeom prst="roundRect">
            <a:avLst>
              <a:gd name="adj" fmla="val 8929"/>
            </a:avLst>
          </a:prstGeom>
          <a:solidFill>
            <a:srgbClr val="F1F2F8"/>
          </a:solidFill>
          <a:ln w="12700">
            <a:solidFill>
              <a:srgbClr val="F1F2F8"/>
            </a:solidFill>
            <a:prstDash val="solid"/>
          </a:ln>
        </p:spPr>
      </p:sp>
      <p:sp>
        <p:nvSpPr>
          <p:cNvPr id="28" name="Shape 26"/>
          <p:cNvSpPr/>
          <p:nvPr/>
        </p:nvSpPr>
        <p:spPr>
          <a:xfrm>
            <a:off x="822960" y="3968496"/>
            <a:ext cx="594360" cy="594360"/>
          </a:xfrm>
          <a:prstGeom prst="ellipse">
            <a:avLst/>
          </a:prstGeom>
          <a:solidFill>
            <a:srgbClr val="6C5CE7"/>
          </a:solidFill>
          <a:ln w="12700">
            <a:solidFill>
              <a:srgbClr val="6C5CE7"/>
            </a:solidFill>
            <a:prstDash val="solid"/>
          </a:ln>
        </p:spPr>
      </p:sp>
      <p:sp>
        <p:nvSpPr>
          <p:cNvPr id="29" name="Text 27"/>
          <p:cNvSpPr txBox="1"/>
          <p:nvPr/>
        </p:nvSpPr>
        <p:spPr>
          <a:xfrm>
            <a:off x="822960" y="396849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0" name="Text 28"/>
          <p:cNvSpPr txBox="1"/>
          <p:nvPr/>
        </p:nvSpPr>
        <p:spPr>
          <a:xfrm>
            <a:off x="1600200" y="3858768"/>
            <a:ext cx="2194560" cy="365760"/>
          </a:xfrm>
          <a:prstGeom prst="rect">
            <a:avLst/>
          </a:prstGeom>
          <a:noFill/>
          <a:ln/>
        </p:spPr>
        <p:txBody>
          <a:bodyPr wrap="square" lIns="0" tIns="0" rIns="0" bIns="0" rtlCol="0" anchor="t"/>
          <a:lstStyle/>
          <a:p>
            <a:pPr indent="0" marL="0">
              <a:buNone/>
            </a:pPr>
            <a:r>
              <a:rPr lang="en-US" sz="1500" b="1" dirty="0">
                <a:solidFill>
                  <a:srgbClr val="1B1F3B"/>
                </a:solidFill>
              </a:rPr>
              <a:t>Planner agent</a:t>
            </a:r>
            <a:endParaRPr lang="en-US" sz="1500" dirty="0"/>
          </a:p>
        </p:txBody>
      </p:sp>
      <p:sp>
        <p:nvSpPr>
          <p:cNvPr id="31" name="Text 29"/>
          <p:cNvSpPr txBox="1"/>
          <p:nvPr/>
        </p:nvSpPr>
        <p:spPr>
          <a:xfrm>
            <a:off x="1600200" y="4224528"/>
            <a:ext cx="2194560" cy="457200"/>
          </a:xfrm>
          <a:prstGeom prst="rect">
            <a:avLst/>
          </a:prstGeom>
          <a:noFill/>
          <a:ln/>
        </p:spPr>
        <p:txBody>
          <a:bodyPr wrap="square" lIns="0" tIns="0" rIns="0" bIns="0" rtlCol="0" anchor="t"/>
          <a:lstStyle/>
          <a:p>
            <a:pPr indent="0" marL="0">
              <a:buNone/>
            </a:pPr>
            <a:r>
              <a:rPr lang="en-US" sz="1100" i="1" dirty="0">
                <a:solidFill>
                  <a:srgbClr val="6C5CE7"/>
                </a:solidFill>
              </a:rPr>
              <a:t>Design review</a:t>
            </a:r>
            <a:endParaRPr lang="en-US" sz="1100" dirty="0"/>
          </a:p>
        </p:txBody>
      </p:sp>
      <p:sp>
        <p:nvSpPr>
          <p:cNvPr id="32" name="Text 30"/>
          <p:cNvSpPr txBox="1"/>
          <p:nvPr/>
        </p:nvSpPr>
        <p:spPr>
          <a:xfrm>
            <a:off x="3840480" y="3858768"/>
            <a:ext cx="2011680" cy="822960"/>
          </a:xfrm>
          <a:prstGeom prst="rect">
            <a:avLst/>
          </a:prstGeom>
          <a:noFill/>
          <a:ln/>
        </p:spPr>
        <p:txBody>
          <a:bodyPr wrap="square" lIns="0" tIns="0" rIns="0" bIns="0" rtlCol="0" anchor="ctr"/>
          <a:lstStyle/>
          <a:p>
            <a:pPr indent="0" marL="0">
              <a:buNone/>
            </a:pPr>
            <a:r>
              <a:rPr lang="en-US" sz="1200" dirty="0">
                <a:solidFill>
                  <a:srgbClr val="4A4F6B"/>
                </a:solidFill>
              </a:rPr>
              <a:t>approach, modules, intermediate tables, every file, test plan, risks, questions</a:t>
            </a:r>
            <a:endParaRPr lang="en-US" sz="1200" dirty="0"/>
          </a:p>
        </p:txBody>
      </p:sp>
      <p:sp>
        <p:nvSpPr>
          <p:cNvPr id="33" name="Shape 31"/>
          <p:cNvSpPr/>
          <p:nvPr/>
        </p:nvSpPr>
        <p:spPr>
          <a:xfrm>
            <a:off x="6309360" y="3749040"/>
            <a:ext cx="5394960" cy="1024128"/>
          </a:xfrm>
          <a:prstGeom prst="roundRect">
            <a:avLst>
              <a:gd name="adj" fmla="val 8929"/>
            </a:avLst>
          </a:prstGeom>
          <a:solidFill>
            <a:srgbClr val="F1F2F8"/>
          </a:solidFill>
          <a:ln w="12700">
            <a:solidFill>
              <a:srgbClr val="F1F2F8"/>
            </a:solidFill>
            <a:prstDash val="solid"/>
          </a:ln>
        </p:spPr>
      </p:sp>
      <p:sp>
        <p:nvSpPr>
          <p:cNvPr id="34" name="Shape 32"/>
          <p:cNvSpPr/>
          <p:nvPr/>
        </p:nvSpPr>
        <p:spPr>
          <a:xfrm>
            <a:off x="6492240" y="3968496"/>
            <a:ext cx="594360" cy="594360"/>
          </a:xfrm>
          <a:prstGeom prst="ellipse">
            <a:avLst/>
          </a:prstGeom>
          <a:solidFill>
            <a:srgbClr val="6C5CE7"/>
          </a:solidFill>
          <a:ln w="12700">
            <a:solidFill>
              <a:srgbClr val="6C5CE7"/>
            </a:solidFill>
            <a:prstDash val="solid"/>
          </a:ln>
        </p:spPr>
      </p:sp>
      <p:sp>
        <p:nvSpPr>
          <p:cNvPr id="35" name="Text 33"/>
          <p:cNvSpPr txBox="1"/>
          <p:nvPr/>
        </p:nvSpPr>
        <p:spPr>
          <a:xfrm>
            <a:off x="6492240" y="396849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6" name="Text 34"/>
          <p:cNvSpPr txBox="1"/>
          <p:nvPr/>
        </p:nvSpPr>
        <p:spPr>
          <a:xfrm>
            <a:off x="7269480" y="3858768"/>
            <a:ext cx="2194560" cy="365760"/>
          </a:xfrm>
          <a:prstGeom prst="rect">
            <a:avLst/>
          </a:prstGeom>
          <a:noFill/>
          <a:ln/>
        </p:spPr>
        <p:txBody>
          <a:bodyPr wrap="square" lIns="0" tIns="0" rIns="0" bIns="0" rtlCol="0" anchor="t"/>
          <a:lstStyle/>
          <a:p>
            <a:pPr indent="0" marL="0">
              <a:buNone/>
            </a:pPr>
            <a:r>
              <a:rPr lang="en-US" sz="1500" b="1" dirty="0">
                <a:solidFill>
                  <a:srgbClr val="1B1F3B"/>
                </a:solidFill>
              </a:rPr>
              <a:t>Coder agent</a:t>
            </a:r>
            <a:endParaRPr lang="en-US" sz="1500" dirty="0"/>
          </a:p>
        </p:txBody>
      </p:sp>
      <p:sp>
        <p:nvSpPr>
          <p:cNvPr id="37" name="Text 35"/>
          <p:cNvSpPr txBox="1"/>
          <p:nvPr/>
        </p:nvSpPr>
        <p:spPr>
          <a:xfrm>
            <a:off x="7269480" y="4224528"/>
            <a:ext cx="2194560" cy="457200"/>
          </a:xfrm>
          <a:prstGeom prst="rect">
            <a:avLst/>
          </a:prstGeom>
          <a:noFill/>
          <a:ln/>
        </p:spPr>
        <p:txBody>
          <a:bodyPr wrap="square" lIns="0" tIns="0" rIns="0" bIns="0" rtlCol="0" anchor="t"/>
          <a:lstStyle/>
          <a:p>
            <a:pPr indent="0" marL="0">
              <a:buNone/>
            </a:pPr>
            <a:r>
              <a:rPr lang="en-US" sz="1100" i="1" dirty="0">
                <a:solidFill>
                  <a:srgbClr val="6C5CE7"/>
                </a:solidFill>
              </a:rPr>
              <a:t>Pair programming</a:t>
            </a:r>
            <a:endParaRPr lang="en-US" sz="1100" dirty="0"/>
          </a:p>
        </p:txBody>
      </p:sp>
      <p:sp>
        <p:nvSpPr>
          <p:cNvPr id="38" name="Text 36"/>
          <p:cNvSpPr txBox="1"/>
          <p:nvPr/>
        </p:nvSpPr>
        <p:spPr>
          <a:xfrm>
            <a:off x="9509760" y="3858768"/>
            <a:ext cx="2011680" cy="822960"/>
          </a:xfrm>
          <a:prstGeom prst="rect">
            <a:avLst/>
          </a:prstGeom>
          <a:noFill/>
          <a:ln/>
        </p:spPr>
        <p:txBody>
          <a:bodyPr wrap="square" lIns="0" tIns="0" rIns="0" bIns="0" rtlCol="0" anchor="ctr"/>
          <a:lstStyle/>
          <a:p>
            <a:pPr indent="0" marL="0">
              <a:buNone/>
            </a:pPr>
            <a:r>
              <a:rPr lang="en-US" sz="1200" dirty="0">
                <a:solidFill>
                  <a:srgbClr val="4A4F6B"/>
                </a:solidFill>
              </a:rPr>
              <a:t>one file each in parallel; precise edits for large files</a:t>
            </a:r>
            <a:endParaRPr lang="en-US" sz="1200" dirty="0"/>
          </a:p>
        </p:txBody>
      </p:sp>
      <p:sp>
        <p:nvSpPr>
          <p:cNvPr id="39" name="Shape 37"/>
          <p:cNvSpPr/>
          <p:nvPr/>
        </p:nvSpPr>
        <p:spPr>
          <a:xfrm>
            <a:off x="640080" y="4937760"/>
            <a:ext cx="11155680" cy="1024128"/>
          </a:xfrm>
          <a:prstGeom prst="roundRect">
            <a:avLst>
              <a:gd name="adj" fmla="val 8929"/>
            </a:avLst>
          </a:prstGeom>
          <a:solidFill>
            <a:srgbClr val="F1F2F8"/>
          </a:solidFill>
          <a:ln w="12700">
            <a:solidFill>
              <a:srgbClr val="F1F2F8"/>
            </a:solidFill>
            <a:prstDash val="solid"/>
          </a:ln>
        </p:spPr>
      </p:sp>
      <p:sp>
        <p:nvSpPr>
          <p:cNvPr id="40" name="Shape 38"/>
          <p:cNvSpPr/>
          <p:nvPr/>
        </p:nvSpPr>
        <p:spPr>
          <a:xfrm>
            <a:off x="822960" y="5157216"/>
            <a:ext cx="594360" cy="594360"/>
          </a:xfrm>
          <a:prstGeom prst="ellipse">
            <a:avLst/>
          </a:prstGeom>
          <a:solidFill>
            <a:srgbClr val="6C5CE7"/>
          </a:solidFill>
          <a:ln w="12700">
            <a:solidFill>
              <a:srgbClr val="6C5CE7"/>
            </a:solidFill>
            <a:prstDash val="solid"/>
          </a:ln>
        </p:spPr>
      </p:sp>
      <p:sp>
        <p:nvSpPr>
          <p:cNvPr id="41" name="Text 39"/>
          <p:cNvSpPr txBox="1"/>
          <p:nvPr/>
        </p:nvSpPr>
        <p:spPr>
          <a:xfrm>
            <a:off x="822960" y="5157216"/>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42" name="Text 40"/>
          <p:cNvSpPr txBox="1"/>
          <p:nvPr/>
        </p:nvSpPr>
        <p:spPr>
          <a:xfrm>
            <a:off x="1600200" y="5047488"/>
            <a:ext cx="2194560" cy="365760"/>
          </a:xfrm>
          <a:prstGeom prst="rect">
            <a:avLst/>
          </a:prstGeom>
          <a:noFill/>
          <a:ln/>
        </p:spPr>
        <p:txBody>
          <a:bodyPr wrap="square" lIns="0" tIns="0" rIns="0" bIns="0" rtlCol="0" anchor="t"/>
          <a:lstStyle/>
          <a:p>
            <a:pPr indent="0" marL="0">
              <a:buNone/>
            </a:pPr>
            <a:r>
              <a:rPr lang="en-US" sz="1500" b="1" dirty="0">
                <a:solidFill>
                  <a:srgbClr val="1B1F3B"/>
                </a:solidFill>
              </a:rPr>
              <a:t>Reviewer agent</a:t>
            </a:r>
            <a:endParaRPr lang="en-US" sz="1500" dirty="0"/>
          </a:p>
        </p:txBody>
      </p:sp>
      <p:sp>
        <p:nvSpPr>
          <p:cNvPr id="43" name="Text 41"/>
          <p:cNvSpPr txBox="1"/>
          <p:nvPr/>
        </p:nvSpPr>
        <p:spPr>
          <a:xfrm>
            <a:off x="1600200" y="5413248"/>
            <a:ext cx="2194560" cy="457200"/>
          </a:xfrm>
          <a:prstGeom prst="rect">
            <a:avLst/>
          </a:prstGeom>
          <a:noFill/>
          <a:ln/>
        </p:spPr>
        <p:txBody>
          <a:bodyPr wrap="square" lIns="0" tIns="0" rIns="0" bIns="0" rtlCol="0" anchor="t"/>
          <a:lstStyle/>
          <a:p>
            <a:pPr indent="0" marL="0">
              <a:buNone/>
            </a:pPr>
            <a:r>
              <a:rPr lang="en-US" sz="1100" i="1" dirty="0">
                <a:solidFill>
                  <a:srgbClr val="6C5CE7"/>
                </a:solidFill>
              </a:rPr>
              <a:t>Code review</a:t>
            </a:r>
            <a:endParaRPr lang="en-US" sz="1100" dirty="0"/>
          </a:p>
        </p:txBody>
      </p:sp>
      <p:sp>
        <p:nvSpPr>
          <p:cNvPr id="44" name="Text 42"/>
          <p:cNvSpPr txBox="1"/>
          <p:nvPr/>
        </p:nvSpPr>
        <p:spPr>
          <a:xfrm>
            <a:off x="3840480" y="5047488"/>
            <a:ext cx="7772400" cy="822960"/>
          </a:xfrm>
          <a:prstGeom prst="rect">
            <a:avLst/>
          </a:prstGeom>
          <a:noFill/>
          <a:ln/>
        </p:spPr>
        <p:txBody>
          <a:bodyPr wrap="square" lIns="0" tIns="0" rIns="0" bIns="0" rtlCol="0" anchor="ctr"/>
          <a:lstStyle/>
          <a:p>
            <a:pPr indent="0" marL="0">
              <a:buNone/>
            </a:pPr>
            <a:r>
              <a:rPr lang="en-US" sz="1200" dirty="0">
                <a:solidFill>
                  <a:srgbClr val="4A4F6B"/>
                </a:solidFill>
              </a:rPr>
              <a:t>requirements, story SQL, registration, impact, standards → score + verdict</a:t>
            </a:r>
            <a:endParaRPr lang="en-US" sz="1200" dirty="0"/>
          </a:p>
        </p:txBody>
      </p:sp>
      <p:sp>
        <p:nvSpPr>
          <p:cNvPr id="45" name="Text 43"/>
          <p:cNvSpPr txBox="1"/>
          <p:nvPr/>
        </p:nvSpPr>
        <p:spPr>
          <a:xfrm>
            <a:off x="640080" y="6035040"/>
            <a:ext cx="10972800" cy="365760"/>
          </a:xfrm>
          <a:prstGeom prst="rect">
            <a:avLst/>
          </a:prstGeom>
          <a:noFill/>
          <a:ln/>
        </p:spPr>
        <p:txBody>
          <a:bodyPr wrap="square" lIns="0" tIns="0" rIns="0" bIns="0" rtlCol="0" anchor="t"/>
          <a:lstStyle/>
          <a:p>
            <a:pPr indent="0" marL="0">
              <a:buNone/>
            </a:pPr>
            <a:r>
              <a:rPr lang="en-US" sz="1250" i="1" dirty="0">
                <a:solidFill>
                  <a:srgbClr val="6C5CE7"/>
                </a:solidFill>
              </a:rPr>
              <a:t>1-4 run in parallel on the inputs; 5-7 run in sequence with a fix loop. Drag agents in the UI to reorder or drop one.</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The pipeline: analyse, plan, build, check, deliver</a:t>
            </a:r>
            <a:endParaRPr lang="en-US" sz="3000" dirty="0"/>
          </a:p>
        </p:txBody>
      </p:sp>
      <p:sp>
        <p:nvSpPr>
          <p:cNvPr id="3" name="Shape 1"/>
          <p:cNvSpPr/>
          <p:nvPr/>
        </p:nvSpPr>
        <p:spPr>
          <a:xfrm>
            <a:off x="457200" y="1280160"/>
            <a:ext cx="11338560" cy="1691640"/>
          </a:xfrm>
          <a:prstGeom prst="roundRect">
            <a:avLst>
              <a:gd name="adj" fmla="val 5405"/>
            </a:avLst>
          </a:prstGeom>
          <a:solidFill>
            <a:srgbClr val="F1F2F8"/>
          </a:solidFill>
          <a:ln w="12700">
            <a:solidFill>
              <a:srgbClr val="F1F2F8"/>
            </a:solidFill>
            <a:prstDash val="solid"/>
          </a:ln>
        </p:spPr>
      </p:sp>
      <p:sp>
        <p:nvSpPr>
          <p:cNvPr id="4" name="Text 2"/>
          <p:cNvSpPr txBox="1"/>
          <p:nvPr/>
        </p:nvSpPr>
        <p:spPr>
          <a:xfrm>
            <a:off x="6126480" y="1325880"/>
            <a:ext cx="5577840" cy="274320"/>
          </a:xfrm>
          <a:prstGeom prst="rect">
            <a:avLst/>
          </a:prstGeom>
          <a:noFill/>
          <a:ln/>
        </p:spPr>
        <p:txBody>
          <a:bodyPr wrap="square" lIns="0" tIns="0" rIns="0" bIns="0" rtlCol="0" anchor="t"/>
          <a:lstStyle/>
          <a:p>
            <a:pPr algn="r" indent="0" marL="0">
              <a:buNone/>
            </a:pPr>
            <a:r>
              <a:rPr lang="en-US" sz="1100" b="1" dirty="0">
                <a:solidFill>
                  <a:srgbClr val="9AA0BF"/>
                </a:solidFill>
              </a:rPr>
              <a:t>1 · ANALYSE THE INPUTS (PARALLEL)</a:t>
            </a:r>
            <a:endParaRPr lang="en-US" sz="1100" dirty="0"/>
          </a:p>
        </p:txBody>
      </p:sp>
      <p:sp>
        <p:nvSpPr>
          <p:cNvPr id="5" name="Shape 3"/>
          <p:cNvSpPr/>
          <p:nvPr/>
        </p:nvSpPr>
        <p:spPr>
          <a:xfrm>
            <a:off x="640080" y="1691640"/>
            <a:ext cx="2514600" cy="1051560"/>
          </a:xfrm>
          <a:prstGeom prst="roundRect">
            <a:avLst>
              <a:gd name="adj" fmla="val 10435"/>
            </a:avLst>
          </a:prstGeom>
          <a:solidFill>
            <a:srgbClr val="FFFFFF"/>
          </a:solidFill>
          <a:ln w="19050">
            <a:solidFill>
              <a:srgbClr val="22B8CF"/>
            </a:solidFill>
            <a:prstDash val="solid"/>
          </a:ln>
        </p:spPr>
      </p:sp>
      <p:sp>
        <p:nvSpPr>
          <p:cNvPr id="6" name="Text 4"/>
          <p:cNvSpPr txBox="1"/>
          <p:nvPr/>
        </p:nvSpPr>
        <p:spPr>
          <a:xfrm>
            <a:off x="822960" y="1828800"/>
            <a:ext cx="2148840" cy="411480"/>
          </a:xfrm>
          <a:prstGeom prst="rect">
            <a:avLst/>
          </a:prstGeom>
          <a:noFill/>
          <a:ln/>
        </p:spPr>
        <p:txBody>
          <a:bodyPr wrap="square" lIns="0" tIns="0" rIns="0" bIns="0" rtlCol="0" anchor="ctr"/>
          <a:lstStyle/>
          <a:p>
            <a:pPr indent="0" marL="0">
              <a:buNone/>
            </a:pPr>
            <a:r>
              <a:rPr lang="en-US" sz="1500" b="1" dirty="0">
                <a:solidFill>
                  <a:srgbClr val="1B1F3B"/>
                </a:solidFill>
              </a:rPr>
              <a:t>Story agent</a:t>
            </a:r>
            <a:endParaRPr lang="en-US" sz="1500" dirty="0"/>
          </a:p>
        </p:txBody>
      </p:sp>
      <p:sp>
        <p:nvSpPr>
          <p:cNvPr id="7" name="Text 5"/>
          <p:cNvSpPr txBox="1"/>
          <p:nvPr/>
        </p:nvSpPr>
        <p:spPr>
          <a:xfrm>
            <a:off x="822960" y="225856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requirements, rules, tables, SQL in the story</a:t>
            </a:r>
            <a:endParaRPr lang="en-US" sz="1100" dirty="0"/>
          </a:p>
        </p:txBody>
      </p:sp>
      <p:sp>
        <p:nvSpPr>
          <p:cNvPr id="8" name="Shape 6"/>
          <p:cNvSpPr/>
          <p:nvPr/>
        </p:nvSpPr>
        <p:spPr>
          <a:xfrm>
            <a:off x="3429000" y="1691640"/>
            <a:ext cx="2514600" cy="1051560"/>
          </a:xfrm>
          <a:prstGeom prst="roundRect">
            <a:avLst>
              <a:gd name="adj" fmla="val 10435"/>
            </a:avLst>
          </a:prstGeom>
          <a:solidFill>
            <a:srgbClr val="FFFFFF"/>
          </a:solidFill>
          <a:ln w="19050">
            <a:solidFill>
              <a:srgbClr val="22B8CF"/>
            </a:solidFill>
            <a:prstDash val="solid"/>
          </a:ln>
        </p:spPr>
      </p:sp>
      <p:sp>
        <p:nvSpPr>
          <p:cNvPr id="9" name="Text 7"/>
          <p:cNvSpPr txBox="1"/>
          <p:nvPr/>
        </p:nvSpPr>
        <p:spPr>
          <a:xfrm>
            <a:off x="3611880" y="1828800"/>
            <a:ext cx="2148840" cy="411480"/>
          </a:xfrm>
          <a:prstGeom prst="rect">
            <a:avLst/>
          </a:prstGeom>
          <a:noFill/>
          <a:ln/>
        </p:spPr>
        <p:txBody>
          <a:bodyPr wrap="square" lIns="0" tIns="0" rIns="0" bIns="0" rtlCol="0" anchor="ctr"/>
          <a:lstStyle/>
          <a:p>
            <a:pPr indent="0" marL="0">
              <a:buNone/>
            </a:pPr>
            <a:r>
              <a:rPr lang="en-US" sz="1500" b="1" dirty="0">
                <a:solidFill>
                  <a:srgbClr val="1B1F3B"/>
                </a:solidFill>
              </a:rPr>
              <a:t>Knowledge agent</a:t>
            </a:r>
            <a:endParaRPr lang="en-US" sz="1500" dirty="0"/>
          </a:p>
        </p:txBody>
      </p:sp>
      <p:sp>
        <p:nvSpPr>
          <p:cNvPr id="10" name="Text 8"/>
          <p:cNvSpPr txBox="1"/>
          <p:nvPr/>
        </p:nvSpPr>
        <p:spPr>
          <a:xfrm>
            <a:off x="3611880" y="225856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definitions, conventions, checkable rules</a:t>
            </a:r>
            <a:endParaRPr lang="en-US" sz="1100" dirty="0"/>
          </a:p>
        </p:txBody>
      </p:sp>
      <p:sp>
        <p:nvSpPr>
          <p:cNvPr id="11" name="Shape 9"/>
          <p:cNvSpPr/>
          <p:nvPr/>
        </p:nvSpPr>
        <p:spPr>
          <a:xfrm>
            <a:off x="6217920" y="1691640"/>
            <a:ext cx="2514600" cy="1051560"/>
          </a:xfrm>
          <a:prstGeom prst="roundRect">
            <a:avLst>
              <a:gd name="adj" fmla="val 10435"/>
            </a:avLst>
          </a:prstGeom>
          <a:solidFill>
            <a:srgbClr val="FFFFFF"/>
          </a:solidFill>
          <a:ln w="19050">
            <a:solidFill>
              <a:srgbClr val="22B8CF"/>
            </a:solidFill>
            <a:prstDash val="solid"/>
          </a:ln>
        </p:spPr>
      </p:sp>
      <p:sp>
        <p:nvSpPr>
          <p:cNvPr id="12" name="Text 10"/>
          <p:cNvSpPr txBox="1"/>
          <p:nvPr/>
        </p:nvSpPr>
        <p:spPr>
          <a:xfrm>
            <a:off x="6400800" y="1828800"/>
            <a:ext cx="2148840" cy="411480"/>
          </a:xfrm>
          <a:prstGeom prst="rect">
            <a:avLst/>
          </a:prstGeom>
          <a:noFill/>
          <a:ln/>
        </p:spPr>
        <p:txBody>
          <a:bodyPr wrap="square" lIns="0" tIns="0" rIns="0" bIns="0" rtlCol="0" anchor="ctr"/>
          <a:lstStyle/>
          <a:p>
            <a:pPr indent="0" marL="0">
              <a:buNone/>
            </a:pPr>
            <a:r>
              <a:rPr lang="en-US" sz="1500" b="1" dirty="0">
                <a:solidFill>
                  <a:srgbClr val="1B1F3B"/>
                </a:solidFill>
              </a:rPr>
              <a:t>Data agent</a:t>
            </a:r>
            <a:endParaRPr lang="en-US" sz="1500" dirty="0"/>
          </a:p>
        </p:txBody>
      </p:sp>
      <p:sp>
        <p:nvSpPr>
          <p:cNvPr id="13" name="Text 11"/>
          <p:cNvSpPr txBox="1"/>
          <p:nvPr/>
        </p:nvSpPr>
        <p:spPr>
          <a:xfrm>
            <a:off x="6400800" y="225856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tables, columns, keys, samples</a:t>
            </a:r>
            <a:endParaRPr lang="en-US" sz="1100" dirty="0"/>
          </a:p>
        </p:txBody>
      </p:sp>
      <p:sp>
        <p:nvSpPr>
          <p:cNvPr id="14" name="Shape 12"/>
          <p:cNvSpPr/>
          <p:nvPr/>
        </p:nvSpPr>
        <p:spPr>
          <a:xfrm>
            <a:off x="9006840" y="1691640"/>
            <a:ext cx="2514600" cy="1051560"/>
          </a:xfrm>
          <a:prstGeom prst="roundRect">
            <a:avLst>
              <a:gd name="adj" fmla="val 10435"/>
            </a:avLst>
          </a:prstGeom>
          <a:solidFill>
            <a:srgbClr val="FFFFFF"/>
          </a:solidFill>
          <a:ln w="19050">
            <a:solidFill>
              <a:srgbClr val="22B8CF"/>
            </a:solidFill>
            <a:prstDash val="solid"/>
          </a:ln>
        </p:spPr>
      </p:sp>
      <p:sp>
        <p:nvSpPr>
          <p:cNvPr id="15" name="Text 13"/>
          <p:cNvSpPr txBox="1"/>
          <p:nvPr/>
        </p:nvSpPr>
        <p:spPr>
          <a:xfrm>
            <a:off x="9189720" y="1828800"/>
            <a:ext cx="2148840" cy="411480"/>
          </a:xfrm>
          <a:prstGeom prst="rect">
            <a:avLst/>
          </a:prstGeom>
          <a:noFill/>
          <a:ln/>
        </p:spPr>
        <p:txBody>
          <a:bodyPr wrap="square" lIns="0" tIns="0" rIns="0" bIns="0" rtlCol="0" anchor="ctr"/>
          <a:lstStyle/>
          <a:p>
            <a:pPr indent="0" marL="0">
              <a:buNone/>
            </a:pPr>
            <a:r>
              <a:rPr lang="en-US" sz="1500" b="1" dirty="0">
                <a:solidFill>
                  <a:srgbClr val="1B1F3B"/>
                </a:solidFill>
              </a:rPr>
              <a:t>Repo agent</a:t>
            </a:r>
            <a:endParaRPr lang="en-US" sz="1500" dirty="0"/>
          </a:p>
        </p:txBody>
      </p:sp>
      <p:sp>
        <p:nvSpPr>
          <p:cNvPr id="16" name="Text 14"/>
          <p:cNvSpPr txBox="1"/>
          <p:nvPr/>
        </p:nvSpPr>
        <p:spPr>
          <a:xfrm>
            <a:off x="9189720" y="225856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patterns, files to modify, registration, companions, impact</a:t>
            </a:r>
            <a:endParaRPr lang="en-US" sz="1100" dirty="0"/>
          </a:p>
        </p:txBody>
      </p:sp>
      <p:sp>
        <p:nvSpPr>
          <p:cNvPr id="17" name="Shape 15"/>
          <p:cNvSpPr/>
          <p:nvPr/>
        </p:nvSpPr>
        <p:spPr>
          <a:xfrm>
            <a:off x="457200" y="3017520"/>
            <a:ext cx="11338560" cy="1691640"/>
          </a:xfrm>
          <a:prstGeom prst="roundRect">
            <a:avLst>
              <a:gd name="adj" fmla="val 5405"/>
            </a:avLst>
          </a:prstGeom>
          <a:solidFill>
            <a:srgbClr val="F1F2F8"/>
          </a:solidFill>
          <a:ln w="12700">
            <a:solidFill>
              <a:srgbClr val="F1F2F8"/>
            </a:solidFill>
            <a:prstDash val="solid"/>
          </a:ln>
        </p:spPr>
      </p:sp>
      <p:sp>
        <p:nvSpPr>
          <p:cNvPr id="18" name="Text 16"/>
          <p:cNvSpPr txBox="1"/>
          <p:nvPr/>
        </p:nvSpPr>
        <p:spPr>
          <a:xfrm>
            <a:off x="6126480" y="3063240"/>
            <a:ext cx="5577840" cy="274320"/>
          </a:xfrm>
          <a:prstGeom prst="rect">
            <a:avLst/>
          </a:prstGeom>
          <a:noFill/>
          <a:ln/>
        </p:spPr>
        <p:txBody>
          <a:bodyPr wrap="square" lIns="0" tIns="0" rIns="0" bIns="0" rtlCol="0" anchor="t"/>
          <a:lstStyle/>
          <a:p>
            <a:pPr algn="r" indent="0" marL="0">
              <a:buNone/>
            </a:pPr>
            <a:r>
              <a:rPr lang="en-US" sz="1100" b="1" dirty="0">
                <a:solidFill>
                  <a:srgbClr val="9AA0BF"/>
                </a:solidFill>
              </a:rPr>
              <a:t>2 · PLAN, BUILD, CHECK</a:t>
            </a:r>
            <a:endParaRPr lang="en-US" sz="1100" dirty="0"/>
          </a:p>
        </p:txBody>
      </p:sp>
      <p:sp>
        <p:nvSpPr>
          <p:cNvPr id="19" name="Shape 17"/>
          <p:cNvSpPr/>
          <p:nvPr/>
        </p:nvSpPr>
        <p:spPr>
          <a:xfrm>
            <a:off x="640080" y="3429000"/>
            <a:ext cx="2514600" cy="1051560"/>
          </a:xfrm>
          <a:prstGeom prst="roundRect">
            <a:avLst>
              <a:gd name="adj" fmla="val 10435"/>
            </a:avLst>
          </a:prstGeom>
          <a:solidFill>
            <a:srgbClr val="6C5CE7"/>
          </a:solidFill>
          <a:ln w="19050">
            <a:solidFill>
              <a:srgbClr val="6C5CE7"/>
            </a:solidFill>
            <a:prstDash val="solid"/>
          </a:ln>
        </p:spPr>
      </p:sp>
      <p:sp>
        <p:nvSpPr>
          <p:cNvPr id="20" name="Text 18"/>
          <p:cNvSpPr txBox="1"/>
          <p:nvPr/>
        </p:nvSpPr>
        <p:spPr>
          <a:xfrm>
            <a:off x="822960" y="3566160"/>
            <a:ext cx="2148840" cy="411480"/>
          </a:xfrm>
          <a:prstGeom prst="rect">
            <a:avLst/>
          </a:prstGeom>
          <a:noFill/>
          <a:ln/>
        </p:spPr>
        <p:txBody>
          <a:bodyPr wrap="square" lIns="0" tIns="0" rIns="0" bIns="0" rtlCol="0" anchor="ctr"/>
          <a:lstStyle/>
          <a:p>
            <a:pPr indent="0" marL="0">
              <a:buNone/>
            </a:pPr>
            <a:r>
              <a:rPr lang="en-US" sz="1500" b="1" dirty="0">
                <a:solidFill>
                  <a:srgbClr val="FFFFFF"/>
                </a:solidFill>
              </a:rPr>
              <a:t>Planner agent</a:t>
            </a:r>
            <a:endParaRPr lang="en-US" sz="1500" dirty="0"/>
          </a:p>
        </p:txBody>
      </p:sp>
      <p:sp>
        <p:nvSpPr>
          <p:cNvPr id="21" name="Text 19"/>
          <p:cNvSpPr txBox="1"/>
          <p:nvPr/>
        </p:nvSpPr>
        <p:spPr>
          <a:xfrm>
            <a:off x="822960" y="399592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ECEAFF"/>
                </a:solidFill>
              </a:rPr>
              <a:t>design, modules, every file + purpose</a:t>
            </a:r>
            <a:endParaRPr lang="en-US" sz="1100" dirty="0"/>
          </a:p>
        </p:txBody>
      </p:sp>
      <p:sp>
        <p:nvSpPr>
          <p:cNvPr id="22" name="Shape 20"/>
          <p:cNvSpPr/>
          <p:nvPr/>
        </p:nvSpPr>
        <p:spPr>
          <a:xfrm>
            <a:off x="3429000" y="3429000"/>
            <a:ext cx="2514600" cy="1051560"/>
          </a:xfrm>
          <a:prstGeom prst="roundRect">
            <a:avLst>
              <a:gd name="adj" fmla="val 10435"/>
            </a:avLst>
          </a:prstGeom>
          <a:solidFill>
            <a:srgbClr val="FFFFFF"/>
          </a:solidFill>
          <a:ln w="19050">
            <a:solidFill>
              <a:srgbClr val="6C5CE7"/>
            </a:solidFill>
            <a:prstDash val="solid"/>
          </a:ln>
        </p:spPr>
      </p:sp>
      <p:sp>
        <p:nvSpPr>
          <p:cNvPr id="23" name="Text 21"/>
          <p:cNvSpPr txBox="1"/>
          <p:nvPr/>
        </p:nvSpPr>
        <p:spPr>
          <a:xfrm>
            <a:off x="3611880" y="3566160"/>
            <a:ext cx="2148840" cy="411480"/>
          </a:xfrm>
          <a:prstGeom prst="rect">
            <a:avLst/>
          </a:prstGeom>
          <a:noFill/>
          <a:ln/>
        </p:spPr>
        <p:txBody>
          <a:bodyPr wrap="square" lIns="0" tIns="0" rIns="0" bIns="0" rtlCol="0" anchor="ctr"/>
          <a:lstStyle/>
          <a:p>
            <a:pPr indent="0" marL="0">
              <a:buNone/>
            </a:pPr>
            <a:r>
              <a:rPr lang="en-US" sz="1500" b="1" dirty="0">
                <a:solidFill>
                  <a:srgbClr val="1B1F3B"/>
                </a:solidFill>
              </a:rPr>
              <a:t>Coder agent</a:t>
            </a:r>
            <a:endParaRPr lang="en-US" sz="1500" dirty="0"/>
          </a:p>
        </p:txBody>
      </p:sp>
      <p:sp>
        <p:nvSpPr>
          <p:cNvPr id="24" name="Text 22"/>
          <p:cNvSpPr txBox="1"/>
          <p:nvPr/>
        </p:nvSpPr>
        <p:spPr>
          <a:xfrm>
            <a:off x="3611880" y="399592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one file each, in parallel</a:t>
            </a:r>
            <a:endParaRPr lang="en-US" sz="1100" dirty="0"/>
          </a:p>
        </p:txBody>
      </p:sp>
      <p:sp>
        <p:nvSpPr>
          <p:cNvPr id="25" name="Shape 23"/>
          <p:cNvSpPr/>
          <p:nvPr/>
        </p:nvSpPr>
        <p:spPr>
          <a:xfrm>
            <a:off x="6217920" y="3429000"/>
            <a:ext cx="2514600" cy="1051560"/>
          </a:xfrm>
          <a:prstGeom prst="roundRect">
            <a:avLst>
              <a:gd name="adj" fmla="val 10435"/>
            </a:avLst>
          </a:prstGeom>
          <a:solidFill>
            <a:srgbClr val="FFFFFF"/>
          </a:solidFill>
          <a:ln w="19050">
            <a:solidFill>
              <a:srgbClr val="6C5CE7"/>
            </a:solidFill>
            <a:prstDash val="solid"/>
          </a:ln>
        </p:spPr>
      </p:sp>
      <p:sp>
        <p:nvSpPr>
          <p:cNvPr id="26" name="Text 24"/>
          <p:cNvSpPr txBox="1"/>
          <p:nvPr/>
        </p:nvSpPr>
        <p:spPr>
          <a:xfrm>
            <a:off x="6400800" y="3566160"/>
            <a:ext cx="2148840" cy="411480"/>
          </a:xfrm>
          <a:prstGeom prst="rect">
            <a:avLst/>
          </a:prstGeom>
          <a:noFill/>
          <a:ln/>
        </p:spPr>
        <p:txBody>
          <a:bodyPr wrap="square" lIns="0" tIns="0" rIns="0" bIns="0" rtlCol="0" anchor="ctr"/>
          <a:lstStyle/>
          <a:p>
            <a:pPr indent="0" marL="0">
              <a:buNone/>
            </a:pPr>
            <a:r>
              <a:rPr lang="en-US" sz="1500" b="1" dirty="0">
                <a:solidFill>
                  <a:srgbClr val="1B1F3B"/>
                </a:solidFill>
              </a:rPr>
              <a:t>Validator (code, no LLM)</a:t>
            </a:r>
            <a:endParaRPr lang="en-US" sz="1500" dirty="0"/>
          </a:p>
        </p:txBody>
      </p:sp>
      <p:sp>
        <p:nvSpPr>
          <p:cNvPr id="27" name="Text 25"/>
          <p:cNvSpPr txBox="1"/>
          <p:nvPr/>
        </p:nvSpPr>
        <p:spPr>
          <a:xfrm>
            <a:off x="6400800" y="399592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syntax, Airflow, SQL parse, team rules</a:t>
            </a:r>
            <a:endParaRPr lang="en-US" sz="1100" dirty="0"/>
          </a:p>
        </p:txBody>
      </p:sp>
      <p:sp>
        <p:nvSpPr>
          <p:cNvPr id="28" name="Shape 26"/>
          <p:cNvSpPr/>
          <p:nvPr/>
        </p:nvSpPr>
        <p:spPr>
          <a:xfrm>
            <a:off x="9006840" y="3429000"/>
            <a:ext cx="2514600" cy="1051560"/>
          </a:xfrm>
          <a:prstGeom prst="roundRect">
            <a:avLst>
              <a:gd name="adj" fmla="val 10435"/>
            </a:avLst>
          </a:prstGeom>
          <a:solidFill>
            <a:srgbClr val="FFFFFF"/>
          </a:solidFill>
          <a:ln w="19050">
            <a:solidFill>
              <a:srgbClr val="6C5CE7"/>
            </a:solidFill>
            <a:prstDash val="solid"/>
          </a:ln>
        </p:spPr>
      </p:sp>
      <p:sp>
        <p:nvSpPr>
          <p:cNvPr id="29" name="Text 27"/>
          <p:cNvSpPr txBox="1"/>
          <p:nvPr/>
        </p:nvSpPr>
        <p:spPr>
          <a:xfrm>
            <a:off x="9189720" y="3566160"/>
            <a:ext cx="2148840" cy="411480"/>
          </a:xfrm>
          <a:prstGeom prst="rect">
            <a:avLst/>
          </a:prstGeom>
          <a:noFill/>
          <a:ln/>
        </p:spPr>
        <p:txBody>
          <a:bodyPr wrap="square" lIns="0" tIns="0" rIns="0" bIns="0" rtlCol="0" anchor="ctr"/>
          <a:lstStyle/>
          <a:p>
            <a:pPr indent="0" marL="0">
              <a:buNone/>
            </a:pPr>
            <a:r>
              <a:rPr lang="en-US" sz="1500" b="1" dirty="0">
                <a:solidFill>
                  <a:srgbClr val="1B1F3B"/>
                </a:solidFill>
              </a:rPr>
              <a:t>Reviewer agent</a:t>
            </a:r>
            <a:endParaRPr lang="en-US" sz="1500" dirty="0"/>
          </a:p>
        </p:txBody>
      </p:sp>
      <p:sp>
        <p:nvSpPr>
          <p:cNvPr id="30" name="Text 28"/>
          <p:cNvSpPr txBox="1"/>
          <p:nvPr/>
        </p:nvSpPr>
        <p:spPr>
          <a:xfrm>
            <a:off x="9189720" y="399592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requirements, registration, impact, score</a:t>
            </a:r>
            <a:endParaRPr lang="en-US" sz="1100" dirty="0"/>
          </a:p>
        </p:txBody>
      </p:sp>
      <p:sp>
        <p:nvSpPr>
          <p:cNvPr id="31" name="Shape 29"/>
          <p:cNvSpPr/>
          <p:nvPr/>
        </p:nvSpPr>
        <p:spPr>
          <a:xfrm>
            <a:off x="3154680" y="2212848"/>
            <a:ext cx="274320" cy="9144"/>
          </a:xfrm>
          <a:prstGeom prst="line">
            <a:avLst/>
          </a:prstGeom>
          <a:noFill/>
          <a:ln w="19050">
            <a:solidFill>
              <a:srgbClr val="9AA0BF"/>
            </a:solidFill>
            <a:prstDash val="solid"/>
            <a:tailEnd type="triangle"/>
          </a:ln>
        </p:spPr>
      </p:sp>
      <p:sp>
        <p:nvSpPr>
          <p:cNvPr id="32" name="Shape 30"/>
          <p:cNvSpPr/>
          <p:nvPr/>
        </p:nvSpPr>
        <p:spPr>
          <a:xfrm>
            <a:off x="3154680" y="3950208"/>
            <a:ext cx="274320" cy="9144"/>
          </a:xfrm>
          <a:prstGeom prst="line">
            <a:avLst/>
          </a:prstGeom>
          <a:noFill/>
          <a:ln w="19050">
            <a:solidFill>
              <a:srgbClr val="9AA0BF"/>
            </a:solidFill>
            <a:prstDash val="solid"/>
            <a:tailEnd type="triangle"/>
          </a:ln>
        </p:spPr>
      </p:sp>
      <p:sp>
        <p:nvSpPr>
          <p:cNvPr id="33" name="Shape 31"/>
          <p:cNvSpPr/>
          <p:nvPr/>
        </p:nvSpPr>
        <p:spPr>
          <a:xfrm>
            <a:off x="5943600" y="2212848"/>
            <a:ext cx="274320" cy="9144"/>
          </a:xfrm>
          <a:prstGeom prst="line">
            <a:avLst/>
          </a:prstGeom>
          <a:noFill/>
          <a:ln w="19050">
            <a:solidFill>
              <a:srgbClr val="9AA0BF"/>
            </a:solidFill>
            <a:prstDash val="solid"/>
            <a:tailEnd type="triangle"/>
          </a:ln>
        </p:spPr>
      </p:sp>
      <p:sp>
        <p:nvSpPr>
          <p:cNvPr id="34" name="Shape 32"/>
          <p:cNvSpPr/>
          <p:nvPr/>
        </p:nvSpPr>
        <p:spPr>
          <a:xfrm>
            <a:off x="5943600" y="3950208"/>
            <a:ext cx="274320" cy="9144"/>
          </a:xfrm>
          <a:prstGeom prst="line">
            <a:avLst/>
          </a:prstGeom>
          <a:noFill/>
          <a:ln w="19050">
            <a:solidFill>
              <a:srgbClr val="9AA0BF"/>
            </a:solidFill>
            <a:prstDash val="solid"/>
            <a:tailEnd type="triangle"/>
          </a:ln>
        </p:spPr>
      </p:sp>
      <p:sp>
        <p:nvSpPr>
          <p:cNvPr id="35" name="Shape 33"/>
          <p:cNvSpPr/>
          <p:nvPr/>
        </p:nvSpPr>
        <p:spPr>
          <a:xfrm>
            <a:off x="8732520" y="2212848"/>
            <a:ext cx="274320" cy="9144"/>
          </a:xfrm>
          <a:prstGeom prst="line">
            <a:avLst/>
          </a:prstGeom>
          <a:noFill/>
          <a:ln w="19050">
            <a:solidFill>
              <a:srgbClr val="9AA0BF"/>
            </a:solidFill>
            <a:prstDash val="solid"/>
            <a:tailEnd type="triangle"/>
          </a:ln>
        </p:spPr>
      </p:sp>
      <p:sp>
        <p:nvSpPr>
          <p:cNvPr id="36" name="Shape 34"/>
          <p:cNvSpPr/>
          <p:nvPr/>
        </p:nvSpPr>
        <p:spPr>
          <a:xfrm>
            <a:off x="8732520" y="3950208"/>
            <a:ext cx="274320" cy="9144"/>
          </a:xfrm>
          <a:prstGeom prst="line">
            <a:avLst/>
          </a:prstGeom>
          <a:noFill/>
          <a:ln w="19050">
            <a:solidFill>
              <a:srgbClr val="9AA0BF"/>
            </a:solidFill>
            <a:prstDash val="solid"/>
            <a:tailEnd type="triangle"/>
          </a:ln>
        </p:spPr>
      </p:sp>
      <p:sp>
        <p:nvSpPr>
          <p:cNvPr id="37" name="Shape 35"/>
          <p:cNvSpPr/>
          <p:nvPr/>
        </p:nvSpPr>
        <p:spPr>
          <a:xfrm>
            <a:off x="10241280" y="2743200"/>
            <a:ext cx="9144" cy="274320"/>
          </a:xfrm>
          <a:prstGeom prst="line">
            <a:avLst/>
          </a:prstGeom>
          <a:noFill/>
          <a:ln w="19050">
            <a:solidFill>
              <a:srgbClr val="9AA0BF"/>
            </a:solidFill>
            <a:prstDash val="solid"/>
            <a:tailEnd type="triangle"/>
          </a:ln>
        </p:spPr>
      </p:sp>
      <p:sp>
        <p:nvSpPr>
          <p:cNvPr id="38" name="Shape 36"/>
          <p:cNvSpPr/>
          <p:nvPr/>
        </p:nvSpPr>
        <p:spPr>
          <a:xfrm>
            <a:off x="1920240" y="3017520"/>
            <a:ext cx="8321040" cy="9144"/>
          </a:xfrm>
          <a:prstGeom prst="line">
            <a:avLst/>
          </a:prstGeom>
          <a:noFill/>
          <a:ln w="19050">
            <a:solidFill>
              <a:srgbClr val="9AA0BF"/>
            </a:solidFill>
            <a:prstDash val="solid"/>
          </a:ln>
        </p:spPr>
      </p:sp>
      <p:sp>
        <p:nvSpPr>
          <p:cNvPr id="39" name="Shape 37"/>
          <p:cNvSpPr/>
          <p:nvPr/>
        </p:nvSpPr>
        <p:spPr>
          <a:xfrm>
            <a:off x="1920240" y="3017520"/>
            <a:ext cx="9144" cy="384048"/>
          </a:xfrm>
          <a:prstGeom prst="line">
            <a:avLst/>
          </a:prstGeom>
          <a:noFill/>
          <a:ln w="19050">
            <a:solidFill>
              <a:srgbClr val="9AA0BF"/>
            </a:solidFill>
            <a:prstDash val="solid"/>
            <a:tailEnd type="triangle"/>
          </a:ln>
        </p:spPr>
      </p:sp>
      <p:sp>
        <p:nvSpPr>
          <p:cNvPr id="40" name="Shape 38"/>
          <p:cNvSpPr/>
          <p:nvPr/>
        </p:nvSpPr>
        <p:spPr>
          <a:xfrm>
            <a:off x="4663440" y="4480560"/>
            <a:ext cx="5577840" cy="9144"/>
          </a:xfrm>
          <a:prstGeom prst="line">
            <a:avLst/>
          </a:prstGeom>
          <a:noFill/>
          <a:ln w="19050">
            <a:solidFill>
              <a:srgbClr val="E6A23C"/>
            </a:solidFill>
            <a:prstDash val="dash"/>
          </a:ln>
        </p:spPr>
      </p:sp>
      <p:sp>
        <p:nvSpPr>
          <p:cNvPr id="41" name="Shape 39"/>
          <p:cNvSpPr/>
          <p:nvPr/>
        </p:nvSpPr>
        <p:spPr>
          <a:xfrm>
            <a:off x="10241280" y="4480560"/>
            <a:ext cx="9144" cy="137160"/>
          </a:xfrm>
          <a:prstGeom prst="line">
            <a:avLst/>
          </a:prstGeom>
          <a:noFill/>
          <a:ln w="19050">
            <a:solidFill>
              <a:srgbClr val="E6A23C"/>
            </a:solidFill>
            <a:prstDash val="dash"/>
          </a:ln>
        </p:spPr>
      </p:sp>
      <p:sp>
        <p:nvSpPr>
          <p:cNvPr id="42" name="Shape 40"/>
          <p:cNvSpPr/>
          <p:nvPr/>
        </p:nvSpPr>
        <p:spPr>
          <a:xfrm>
            <a:off x="7498080" y="4480560"/>
            <a:ext cx="9144" cy="137160"/>
          </a:xfrm>
          <a:prstGeom prst="line">
            <a:avLst/>
          </a:prstGeom>
          <a:noFill/>
          <a:ln w="19050">
            <a:solidFill>
              <a:srgbClr val="E6A23C"/>
            </a:solidFill>
            <a:prstDash val="dash"/>
          </a:ln>
        </p:spPr>
      </p:sp>
      <p:sp>
        <p:nvSpPr>
          <p:cNvPr id="43" name="Shape 41"/>
          <p:cNvSpPr/>
          <p:nvPr/>
        </p:nvSpPr>
        <p:spPr>
          <a:xfrm>
            <a:off x="4663440" y="4480560"/>
            <a:ext cx="9144" cy="9144"/>
          </a:xfrm>
          <a:prstGeom prst="line">
            <a:avLst/>
          </a:prstGeom>
          <a:noFill/>
          <a:ln w="19050">
            <a:solidFill>
              <a:srgbClr val="E6A23C"/>
            </a:solidFill>
            <a:prstDash val="dash"/>
            <a:tailEnd type="triangle"/>
          </a:ln>
        </p:spPr>
      </p:sp>
      <p:sp>
        <p:nvSpPr>
          <p:cNvPr id="44" name="Text 42"/>
          <p:cNvSpPr txBox="1"/>
          <p:nvPr/>
        </p:nvSpPr>
        <p:spPr>
          <a:xfrm>
            <a:off x="4754880" y="4572000"/>
            <a:ext cx="6858000" cy="274320"/>
          </a:xfrm>
          <a:prstGeom prst="rect">
            <a:avLst/>
          </a:prstGeom>
          <a:noFill/>
          <a:ln/>
        </p:spPr>
        <p:txBody>
          <a:bodyPr wrap="square" lIns="0" tIns="0" rIns="0" bIns="0" rtlCol="0" anchor="t"/>
          <a:lstStyle/>
          <a:p>
            <a:pPr indent="0" marL="0">
              <a:buNone/>
            </a:pPr>
            <a:r>
              <a:rPr lang="en-US" sz="1100" dirty="0">
                <a:solidFill>
                  <a:srgbClr val="E6A23C"/>
                </a:solidFill>
              </a:rPr>
              <a:t>findings → coder fix loop (validator: 2 rounds; review: 1 round) - the review always keeps the last 4 minutes of the budget</a:t>
            </a:r>
            <a:endParaRPr lang="en-US" sz="1100" dirty="0"/>
          </a:p>
        </p:txBody>
      </p:sp>
      <p:sp>
        <p:nvSpPr>
          <p:cNvPr id="45" name="Shape 43"/>
          <p:cNvSpPr/>
          <p:nvPr/>
        </p:nvSpPr>
        <p:spPr>
          <a:xfrm>
            <a:off x="457200" y="4846320"/>
            <a:ext cx="11338560" cy="1691640"/>
          </a:xfrm>
          <a:prstGeom prst="roundRect">
            <a:avLst>
              <a:gd name="adj" fmla="val 5405"/>
            </a:avLst>
          </a:prstGeom>
          <a:solidFill>
            <a:srgbClr val="F1F2F8"/>
          </a:solidFill>
          <a:ln w="12700">
            <a:solidFill>
              <a:srgbClr val="F1F2F8"/>
            </a:solidFill>
            <a:prstDash val="solid"/>
          </a:ln>
        </p:spPr>
      </p:sp>
      <p:sp>
        <p:nvSpPr>
          <p:cNvPr id="46" name="Text 44"/>
          <p:cNvSpPr txBox="1"/>
          <p:nvPr/>
        </p:nvSpPr>
        <p:spPr>
          <a:xfrm>
            <a:off x="6126480" y="4892040"/>
            <a:ext cx="5577840" cy="274320"/>
          </a:xfrm>
          <a:prstGeom prst="rect">
            <a:avLst/>
          </a:prstGeom>
          <a:noFill/>
          <a:ln/>
        </p:spPr>
        <p:txBody>
          <a:bodyPr wrap="square" lIns="0" tIns="0" rIns="0" bIns="0" rtlCol="0" anchor="t"/>
          <a:lstStyle/>
          <a:p>
            <a:pPr algn="r" indent="0" marL="0">
              <a:buNone/>
            </a:pPr>
            <a:r>
              <a:rPr lang="en-US" sz="1100" b="1" dirty="0">
                <a:solidFill>
                  <a:srgbClr val="9AA0BF"/>
                </a:solidFill>
              </a:rPr>
              <a:t>3 · DELIVER</a:t>
            </a:r>
            <a:endParaRPr lang="en-US" sz="1100" dirty="0"/>
          </a:p>
        </p:txBody>
      </p:sp>
      <p:sp>
        <p:nvSpPr>
          <p:cNvPr id="47" name="Shape 45"/>
          <p:cNvSpPr/>
          <p:nvPr/>
        </p:nvSpPr>
        <p:spPr>
          <a:xfrm>
            <a:off x="3429000" y="5257800"/>
            <a:ext cx="2514600" cy="1051560"/>
          </a:xfrm>
          <a:prstGeom prst="roundRect">
            <a:avLst>
              <a:gd name="adj" fmla="val 10435"/>
            </a:avLst>
          </a:prstGeom>
          <a:solidFill>
            <a:srgbClr val="FFFFFF"/>
          </a:solidFill>
          <a:ln w="19050">
            <a:solidFill>
              <a:srgbClr val="2E9E6B"/>
            </a:solidFill>
            <a:prstDash val="solid"/>
          </a:ln>
        </p:spPr>
      </p:sp>
      <p:sp>
        <p:nvSpPr>
          <p:cNvPr id="48" name="Text 46"/>
          <p:cNvSpPr txBox="1"/>
          <p:nvPr/>
        </p:nvSpPr>
        <p:spPr>
          <a:xfrm>
            <a:off x="3611880" y="5394960"/>
            <a:ext cx="2148840" cy="411480"/>
          </a:xfrm>
          <a:prstGeom prst="rect">
            <a:avLst/>
          </a:prstGeom>
          <a:noFill/>
          <a:ln/>
        </p:spPr>
        <p:txBody>
          <a:bodyPr wrap="square" lIns="0" tIns="0" rIns="0" bIns="0" rtlCol="0" anchor="ctr"/>
          <a:lstStyle/>
          <a:p>
            <a:pPr indent="0" marL="0">
              <a:buNone/>
            </a:pPr>
            <a:r>
              <a:rPr lang="en-US" sz="1500" b="1" dirty="0">
                <a:solidFill>
                  <a:srgbClr val="1B1F3B"/>
                </a:solidFill>
              </a:rPr>
              <a:t>Chat change requests</a:t>
            </a:r>
            <a:endParaRPr lang="en-US" sz="1500" dirty="0"/>
          </a:p>
        </p:txBody>
      </p:sp>
      <p:sp>
        <p:nvSpPr>
          <p:cNvPr id="49" name="Text 47"/>
          <p:cNvSpPr txBox="1"/>
          <p:nvPr/>
        </p:nvSpPr>
        <p:spPr>
          <a:xfrm>
            <a:off x="3611880" y="582472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"rename the column" → change agent → re-check</a:t>
            </a:r>
            <a:endParaRPr lang="en-US" sz="1100" dirty="0"/>
          </a:p>
        </p:txBody>
      </p:sp>
      <p:sp>
        <p:nvSpPr>
          <p:cNvPr id="50" name="Shape 48"/>
          <p:cNvSpPr/>
          <p:nvPr/>
        </p:nvSpPr>
        <p:spPr>
          <a:xfrm>
            <a:off x="9006840" y="5257800"/>
            <a:ext cx="2514600" cy="1051560"/>
          </a:xfrm>
          <a:prstGeom prst="roundRect">
            <a:avLst>
              <a:gd name="adj" fmla="val 10435"/>
            </a:avLst>
          </a:prstGeom>
          <a:solidFill>
            <a:srgbClr val="2E9E6B"/>
          </a:solidFill>
          <a:ln w="12700">
            <a:solidFill>
              <a:srgbClr val="2E9E6B"/>
            </a:solidFill>
            <a:prstDash val="solid"/>
          </a:ln>
        </p:spPr>
      </p:sp>
      <p:sp>
        <p:nvSpPr>
          <p:cNvPr id="51" name="Text 49"/>
          <p:cNvSpPr txBox="1"/>
          <p:nvPr/>
        </p:nvSpPr>
        <p:spPr>
          <a:xfrm>
            <a:off x="9189720" y="5394960"/>
            <a:ext cx="2148840" cy="411480"/>
          </a:xfrm>
          <a:prstGeom prst="rect">
            <a:avLst/>
          </a:prstGeom>
          <a:noFill/>
          <a:ln/>
        </p:spPr>
        <p:txBody>
          <a:bodyPr wrap="square" lIns="0" tIns="0" rIns="0" bIns="0" rtlCol="0" anchor="ctr"/>
          <a:lstStyle/>
          <a:p>
            <a:pPr indent="0" marL="0">
              <a:buNone/>
            </a:pPr>
            <a:r>
              <a:rPr lang="en-US" sz="1500" b="1" dirty="0">
                <a:solidFill>
                  <a:srgbClr val="FFFFFF"/>
                </a:solidFill>
              </a:rPr>
              <a:t>Branch · zip · plan · log</a:t>
            </a:r>
            <a:endParaRPr lang="en-US" sz="1500" dirty="0"/>
          </a:p>
        </p:txBody>
      </p:sp>
      <p:sp>
        <p:nvSpPr>
          <p:cNvPr id="52" name="Text 50"/>
          <p:cNvSpPr txBox="1"/>
          <p:nvPr/>
        </p:nvSpPr>
        <p:spPr>
          <a:xfrm>
            <a:off x="9189720" y="5824728"/>
            <a:ext cx="2148840" cy="411480"/>
          </a:xfrm>
          <a:prstGeom prst="rect">
            <a:avLst/>
          </a:prstGeom>
          <a:noFill/>
          <a:ln/>
        </p:spPr>
        <p:txBody>
          <a:bodyPr wrap="square" lIns="0" tIns="0" rIns="0" bIns="0" rtlCol="0" anchor="t"/>
          <a:lstStyle/>
          <a:p>
            <a:pPr indent="0" marL="0">
              <a:spcAft>
                <a:spcPts val="300"/>
              </a:spcAft>
              <a:buNone/>
            </a:pPr>
            <a:r>
              <a:rPr lang="en-US" sz="1100" dirty="0">
                <a:solidFill>
                  <a:srgbClr val="E8F7EE"/>
                </a:solidFill>
              </a:rPr>
              <a:t>pushed as the developer, not as a bot</a:t>
            </a:r>
            <a:endParaRPr lang="en-US" sz="1100" dirty="0"/>
          </a:p>
        </p:txBody>
      </p:sp>
      <p:sp>
        <p:nvSpPr>
          <p:cNvPr id="53" name="Shape 51"/>
          <p:cNvSpPr/>
          <p:nvPr/>
        </p:nvSpPr>
        <p:spPr>
          <a:xfrm>
            <a:off x="10241280" y="4480560"/>
            <a:ext cx="9144" cy="758952"/>
          </a:xfrm>
          <a:prstGeom prst="line">
            <a:avLst/>
          </a:prstGeom>
          <a:noFill/>
          <a:ln w="19050">
            <a:solidFill>
              <a:srgbClr val="9AA0BF"/>
            </a:solidFill>
            <a:prstDash val="solid"/>
            <a:tailEnd type="triangle"/>
          </a:ln>
        </p:spPr>
      </p:sp>
      <p:sp>
        <p:nvSpPr>
          <p:cNvPr id="54" name="Shape 52"/>
          <p:cNvSpPr/>
          <p:nvPr/>
        </p:nvSpPr>
        <p:spPr>
          <a:xfrm flipH="1">
            <a:off x="5943600" y="5779008"/>
            <a:ext cx="3063240" cy="9144"/>
          </a:xfrm>
          <a:prstGeom prst="line">
            <a:avLst/>
          </a:prstGeom>
          <a:noFill/>
          <a:ln w="19050">
            <a:solidFill>
              <a:srgbClr val="9AA0BF"/>
            </a:solidFill>
            <a:prstDash val="solid"/>
            <a:tailEnd type="triangle"/>
          </a:ln>
        </p:spPr>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An agent is more than a prompt: role, tools, contract, grounding</a:t>
            </a:r>
            <a:endParaRPr lang="en-US" sz="3000" dirty="0"/>
          </a:p>
        </p:txBody>
      </p:sp>
      <p:sp>
        <p:nvSpPr>
          <p:cNvPr id="3" name="Shape 1"/>
          <p:cNvSpPr/>
          <p:nvPr/>
        </p:nvSpPr>
        <p:spPr>
          <a:xfrm>
            <a:off x="4480560" y="2103120"/>
            <a:ext cx="3200400" cy="2286000"/>
          </a:xfrm>
          <a:prstGeom prst="roundRect">
            <a:avLst>
              <a:gd name="adj" fmla="val 6000"/>
            </a:avLst>
          </a:prstGeom>
          <a:solidFill>
            <a:srgbClr val="6C5CE7"/>
          </a:solidFill>
          <a:ln w="12700">
            <a:solidFill>
              <a:srgbClr val="6C5CE7"/>
            </a:solidFill>
            <a:prstDash val="solid"/>
          </a:ln>
        </p:spPr>
      </p:sp>
      <p:sp>
        <p:nvSpPr>
          <p:cNvPr id="4" name="Text 2"/>
          <p:cNvSpPr txBox="1"/>
          <p:nvPr/>
        </p:nvSpPr>
        <p:spPr>
          <a:xfrm>
            <a:off x="4480560" y="2240280"/>
            <a:ext cx="3200400" cy="457200"/>
          </a:xfrm>
          <a:prstGeom prst="rect">
            <a:avLst/>
          </a:prstGeom>
          <a:noFill/>
          <a:ln/>
        </p:spPr>
        <p:txBody>
          <a:bodyPr wrap="square" lIns="0" tIns="0" rIns="0" bIns="0" rtlCol="0" anchor="t"/>
          <a:lstStyle/>
          <a:p>
            <a:pPr algn="ctr" indent="0" marL="0">
              <a:buNone/>
            </a:pPr>
            <a:r>
              <a:rPr lang="en-US" sz="2200" b="1" dirty="0">
                <a:solidFill>
                  <a:srgbClr val="FFFFFF"/>
                </a:solidFill>
              </a:rPr>
              <a:t>Agent</a:t>
            </a:r>
            <a:endParaRPr lang="en-US" sz="2200" dirty="0"/>
          </a:p>
        </p:txBody>
      </p:sp>
      <p:sp>
        <p:nvSpPr>
          <p:cNvPr id="5" name="Text 3"/>
          <p:cNvSpPr txBox="1"/>
          <p:nvPr/>
        </p:nvSpPr>
        <p:spPr>
          <a:xfrm>
            <a:off x="4572000" y="2743200"/>
            <a:ext cx="3017520" cy="1554480"/>
          </a:xfrm>
          <a:prstGeom prst="rect">
            <a:avLst/>
          </a:prstGeom>
          <a:noFill/>
          <a:ln/>
        </p:spPr>
        <p:txBody>
          <a:bodyPr wrap="square" lIns="0" tIns="0" rIns="0" bIns="0" rtlCol="0" anchor="ctr"/>
          <a:lstStyle/>
          <a:p>
            <a:pPr algn="ctr" indent="0" marL="0">
              <a:buNone/>
            </a:pPr>
            <a:r>
              <a:rPr lang="en-US" sz="1200" dirty="0">
                <a:solidFill>
                  <a:srgbClr val="ECEAFF"/>
                </a:solidFill>
              </a:rPr>
              <a:t>LLM (Azure OpenAI) + role prompt</a:t>
            </a:r>
            <a:endParaRPr lang="en-US" sz="1200" dirty="0"/>
          </a:p>
          <a:p>
            <a:pPr algn="ctr" indent="0" marL="0">
              <a:buNone/>
            </a:pPr>
            <a:r>
              <a:rPr lang="en-US" sz="1200" dirty="0">
                <a:solidFill>
                  <a:srgbClr val="ECEAFF"/>
                </a:solidFill>
              </a:rPr>
              <a:t>+ the JSON of previous agents</a:t>
            </a:r>
            <a:endParaRPr lang="en-US" sz="1200" dirty="0"/>
          </a:p>
          <a:p>
            <a:pPr algn="ctr" indent="0" marL="0">
              <a:buNone/>
            </a:pPr>
            <a:r>
              <a:rPr lang="en-US" sz="1200" dirty="0">
                <a:solidFill>
                  <a:srgbClr val="ECEAFF"/>
                </a:solidFill>
              </a:rPr>
              <a:t>+ a context budget</a:t>
            </a:r>
            <a:endParaRPr lang="en-US" sz="1200" dirty="0"/>
          </a:p>
          <a:p>
            <a:pPr algn="ctr" indent="0" marL="0">
              <a:buNone/>
            </a:pPr>
            <a:r>
              <a:rPr lang="en-US" sz="1200" dirty="0">
                <a:solidFill>
                  <a:srgbClr val="ECEAFF"/>
                </a:solidFill>
              </a:rPr>
              <a:t>+ up to ~12 tool-calling steps</a:t>
            </a:r>
            <a:endParaRPr lang="en-US" sz="1200" dirty="0"/>
          </a:p>
        </p:txBody>
      </p:sp>
      <p:sp>
        <p:nvSpPr>
          <p:cNvPr id="6" name="Shape 4"/>
          <p:cNvSpPr/>
          <p:nvPr/>
        </p:nvSpPr>
        <p:spPr>
          <a:xfrm>
            <a:off x="640080" y="1371600"/>
            <a:ext cx="3291840" cy="1600200"/>
          </a:xfrm>
          <a:prstGeom prst="roundRect">
            <a:avLst>
              <a:gd name="adj" fmla="val 6857"/>
            </a:avLst>
          </a:prstGeom>
          <a:solidFill>
            <a:srgbClr val="F1F2F8"/>
          </a:solidFill>
          <a:ln w="12700">
            <a:solidFill>
              <a:srgbClr val="F1F2F8"/>
            </a:solidFill>
            <a:prstDash val="solid"/>
          </a:ln>
        </p:spPr>
      </p:sp>
      <p:sp>
        <p:nvSpPr>
          <p:cNvPr id="7" name="Text 5"/>
          <p:cNvSpPr txBox="1"/>
          <p:nvPr/>
        </p:nvSpPr>
        <p:spPr>
          <a:xfrm>
            <a:off x="822960" y="1508760"/>
            <a:ext cx="2926080" cy="411480"/>
          </a:xfrm>
          <a:prstGeom prst="rect">
            <a:avLst/>
          </a:prstGeom>
          <a:noFill/>
          <a:ln/>
        </p:spPr>
        <p:txBody>
          <a:bodyPr wrap="square" lIns="0" tIns="0" rIns="0" bIns="0" rtlCol="0" anchor="ctr"/>
          <a:lstStyle/>
          <a:p>
            <a:pPr indent="0" marL="0">
              <a:buNone/>
            </a:pPr>
            <a:r>
              <a:rPr lang="en-US" sz="1500" b="1" dirty="0">
                <a:solidFill>
                  <a:srgbClr val="1B1F3B"/>
                </a:solidFill>
              </a:rPr>
              <a:t>1 · Role prompt</a:t>
            </a:r>
            <a:endParaRPr lang="en-US" sz="1500" dirty="0"/>
          </a:p>
        </p:txBody>
      </p:sp>
      <p:sp>
        <p:nvSpPr>
          <p:cNvPr id="8" name="Text 6"/>
          <p:cNvSpPr txBox="1"/>
          <p:nvPr/>
        </p:nvSpPr>
        <p:spPr>
          <a:xfrm>
            <a:off x="822960" y="1938528"/>
            <a:ext cx="2926080" cy="96012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"You are the planner: decide how the story is implemented so a developer can use the result as is ..."</a:t>
            </a:r>
            <a:endParaRPr lang="en-US" sz="1100" dirty="0"/>
          </a:p>
        </p:txBody>
      </p:sp>
      <p:sp>
        <p:nvSpPr>
          <p:cNvPr id="9" name="Shape 7"/>
          <p:cNvSpPr/>
          <p:nvPr/>
        </p:nvSpPr>
        <p:spPr>
          <a:xfrm>
            <a:off x="640080" y="3337560"/>
            <a:ext cx="3291840" cy="1600200"/>
          </a:xfrm>
          <a:prstGeom prst="roundRect">
            <a:avLst>
              <a:gd name="adj" fmla="val 6857"/>
            </a:avLst>
          </a:prstGeom>
          <a:solidFill>
            <a:srgbClr val="F1F2F8"/>
          </a:solidFill>
          <a:ln w="12700">
            <a:solidFill>
              <a:srgbClr val="F1F2F8"/>
            </a:solidFill>
            <a:prstDash val="solid"/>
          </a:ln>
        </p:spPr>
      </p:sp>
      <p:sp>
        <p:nvSpPr>
          <p:cNvPr id="10" name="Text 8"/>
          <p:cNvSpPr txBox="1"/>
          <p:nvPr/>
        </p:nvSpPr>
        <p:spPr>
          <a:xfrm>
            <a:off x="822960" y="3474720"/>
            <a:ext cx="2926080" cy="411480"/>
          </a:xfrm>
          <a:prstGeom prst="rect">
            <a:avLst/>
          </a:prstGeom>
          <a:noFill/>
          <a:ln/>
        </p:spPr>
        <p:txBody>
          <a:bodyPr wrap="square" lIns="0" tIns="0" rIns="0" bIns="0" rtlCol="0" anchor="ctr"/>
          <a:lstStyle/>
          <a:p>
            <a:pPr indent="0" marL="0">
              <a:buNone/>
            </a:pPr>
            <a:r>
              <a:rPr lang="en-US" sz="1500" b="1" dirty="0">
                <a:solidFill>
                  <a:srgbClr val="1B1F3B"/>
                </a:solidFill>
              </a:rPr>
              <a:t>2 · Tools - it looks things up</a:t>
            </a:r>
            <a:endParaRPr lang="en-US" sz="1500" dirty="0"/>
          </a:p>
        </p:txBody>
      </p:sp>
      <p:sp>
        <p:nvSpPr>
          <p:cNvPr id="11" name="Text 9"/>
          <p:cNvSpPr txBox="1"/>
          <p:nvPr/>
        </p:nvSpPr>
        <p:spPr>
          <a:xfrm>
            <a:off x="822960" y="3904488"/>
            <a:ext cx="2926080" cy="96012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search_repo · read_file · registration_points · companion_files · references · describe_table · define_term</a:t>
            </a:r>
            <a:endParaRPr lang="en-US" sz="1100" dirty="0"/>
          </a:p>
        </p:txBody>
      </p:sp>
      <p:sp>
        <p:nvSpPr>
          <p:cNvPr id="12" name="Shape 10"/>
          <p:cNvSpPr/>
          <p:nvPr/>
        </p:nvSpPr>
        <p:spPr>
          <a:xfrm>
            <a:off x="8229600" y="1371600"/>
            <a:ext cx="3291840" cy="1600200"/>
          </a:xfrm>
          <a:prstGeom prst="roundRect">
            <a:avLst>
              <a:gd name="adj" fmla="val 6857"/>
            </a:avLst>
          </a:prstGeom>
          <a:solidFill>
            <a:srgbClr val="F1F2F8"/>
          </a:solidFill>
          <a:ln w="12700">
            <a:solidFill>
              <a:srgbClr val="F1F2F8"/>
            </a:solidFill>
            <a:prstDash val="solid"/>
          </a:ln>
        </p:spPr>
      </p:sp>
      <p:sp>
        <p:nvSpPr>
          <p:cNvPr id="13" name="Text 11"/>
          <p:cNvSpPr txBox="1"/>
          <p:nvPr/>
        </p:nvSpPr>
        <p:spPr>
          <a:xfrm>
            <a:off x="8412480" y="1508760"/>
            <a:ext cx="2926080" cy="411480"/>
          </a:xfrm>
          <a:prstGeom prst="rect">
            <a:avLst/>
          </a:prstGeom>
          <a:noFill/>
          <a:ln/>
        </p:spPr>
        <p:txBody>
          <a:bodyPr wrap="square" lIns="0" tIns="0" rIns="0" bIns="0" rtlCol="0" anchor="ctr"/>
          <a:lstStyle/>
          <a:p>
            <a:pPr indent="0" marL="0">
              <a:buNone/>
            </a:pPr>
            <a:r>
              <a:rPr lang="en-US" sz="1500" b="1" dirty="0">
                <a:solidFill>
                  <a:srgbClr val="1B1F3B"/>
                </a:solidFill>
              </a:rPr>
              <a:t>3 · Contract - a JSON schema</a:t>
            </a:r>
            <a:endParaRPr lang="en-US" sz="1500" dirty="0"/>
          </a:p>
        </p:txBody>
      </p:sp>
      <p:sp>
        <p:nvSpPr>
          <p:cNvPr id="14" name="Text 12"/>
          <p:cNvSpPr txBox="1"/>
          <p:nvPr/>
        </p:nvSpPr>
        <p:spPr>
          <a:xfrm>
            <a:off x="8412480" y="1938528"/>
            <a:ext cx="2926080" cy="96012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Planner must return approach, design, files, registration_changes, impact, test_plan. Free text is rejected.</a:t>
            </a:r>
            <a:endParaRPr lang="en-US" sz="1100" dirty="0"/>
          </a:p>
        </p:txBody>
      </p:sp>
      <p:sp>
        <p:nvSpPr>
          <p:cNvPr id="15" name="Shape 13"/>
          <p:cNvSpPr/>
          <p:nvPr/>
        </p:nvSpPr>
        <p:spPr>
          <a:xfrm>
            <a:off x="8229600" y="3337560"/>
            <a:ext cx="3291840" cy="1600200"/>
          </a:xfrm>
          <a:prstGeom prst="roundRect">
            <a:avLst>
              <a:gd name="adj" fmla="val 6857"/>
            </a:avLst>
          </a:prstGeom>
          <a:solidFill>
            <a:srgbClr val="F1F2F8"/>
          </a:solidFill>
          <a:ln w="12700">
            <a:solidFill>
              <a:srgbClr val="F1F2F8"/>
            </a:solidFill>
            <a:prstDash val="solid"/>
          </a:ln>
        </p:spPr>
      </p:sp>
      <p:sp>
        <p:nvSpPr>
          <p:cNvPr id="16" name="Text 14"/>
          <p:cNvSpPr txBox="1"/>
          <p:nvPr/>
        </p:nvSpPr>
        <p:spPr>
          <a:xfrm>
            <a:off x="8412480" y="3474720"/>
            <a:ext cx="2926080" cy="411480"/>
          </a:xfrm>
          <a:prstGeom prst="rect">
            <a:avLst/>
          </a:prstGeom>
          <a:noFill/>
          <a:ln/>
        </p:spPr>
        <p:txBody>
          <a:bodyPr wrap="square" lIns="0" tIns="0" rIns="0" bIns="0" rtlCol="0" anchor="ctr"/>
          <a:lstStyle/>
          <a:p>
            <a:pPr indent="0" marL="0">
              <a:buNone/>
            </a:pPr>
            <a:r>
              <a:rPr lang="en-US" sz="1500" b="1" dirty="0">
                <a:solidFill>
                  <a:srgbClr val="1B1F3B"/>
                </a:solidFill>
              </a:rPr>
              <a:t>4 · Grounding - code checks the answer</a:t>
            </a:r>
            <a:endParaRPr lang="en-US" sz="1500" dirty="0"/>
          </a:p>
        </p:txBody>
      </p:sp>
      <p:sp>
        <p:nvSpPr>
          <p:cNvPr id="17" name="Text 15"/>
          <p:cNvSpPr txBox="1"/>
          <p:nvPr/>
        </p:nvSpPr>
        <p:spPr>
          <a:xfrm>
            <a:off x="8412480" y="3904488"/>
            <a:ext cx="2926080" cy="96012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'modify' of a file that does not exist · a story SQL block nobody used · a companion neither planned nor declined · file does not parse → REJECTED, fix and resubmit</a:t>
            </a:r>
            <a:endParaRPr lang="en-US" sz="1100" dirty="0"/>
          </a:p>
        </p:txBody>
      </p:sp>
      <p:sp>
        <p:nvSpPr>
          <p:cNvPr id="18" name="Shape 16"/>
          <p:cNvSpPr/>
          <p:nvPr/>
        </p:nvSpPr>
        <p:spPr>
          <a:xfrm>
            <a:off x="3977640" y="2194560"/>
            <a:ext cx="457200" cy="457200"/>
          </a:xfrm>
          <a:prstGeom prst="line">
            <a:avLst/>
          </a:prstGeom>
          <a:noFill/>
          <a:ln w="19050">
            <a:solidFill>
              <a:srgbClr val="9AA0BF"/>
            </a:solidFill>
            <a:prstDash val="solid"/>
            <a:tailEnd type="triangle"/>
          </a:ln>
        </p:spPr>
      </p:sp>
      <p:sp>
        <p:nvSpPr>
          <p:cNvPr id="19" name="Shape 17"/>
          <p:cNvSpPr/>
          <p:nvPr/>
        </p:nvSpPr>
        <p:spPr>
          <a:xfrm flipV="1">
            <a:off x="3977640" y="3749040"/>
            <a:ext cx="457200" cy="365760"/>
          </a:xfrm>
          <a:prstGeom prst="line">
            <a:avLst/>
          </a:prstGeom>
          <a:noFill/>
          <a:ln w="19050">
            <a:solidFill>
              <a:srgbClr val="9AA0BF"/>
            </a:solidFill>
            <a:prstDash val="solid"/>
            <a:tailEnd type="triangle"/>
          </a:ln>
        </p:spPr>
      </p:sp>
      <p:sp>
        <p:nvSpPr>
          <p:cNvPr id="20" name="Shape 18"/>
          <p:cNvSpPr/>
          <p:nvPr/>
        </p:nvSpPr>
        <p:spPr>
          <a:xfrm flipV="1">
            <a:off x="7726680" y="2194560"/>
            <a:ext cx="457200" cy="457200"/>
          </a:xfrm>
          <a:prstGeom prst="line">
            <a:avLst/>
          </a:prstGeom>
          <a:noFill/>
          <a:ln w="19050">
            <a:solidFill>
              <a:srgbClr val="9AA0BF"/>
            </a:solidFill>
            <a:prstDash val="solid"/>
            <a:tailEnd type="triangle"/>
          </a:ln>
        </p:spPr>
      </p:sp>
      <p:sp>
        <p:nvSpPr>
          <p:cNvPr id="21" name="Shape 19"/>
          <p:cNvSpPr/>
          <p:nvPr/>
        </p:nvSpPr>
        <p:spPr>
          <a:xfrm>
            <a:off x="7726680" y="3749040"/>
            <a:ext cx="457200" cy="365760"/>
          </a:xfrm>
          <a:prstGeom prst="line">
            <a:avLst/>
          </a:prstGeom>
          <a:noFill/>
          <a:ln w="19050">
            <a:solidFill>
              <a:srgbClr val="E6A23C"/>
            </a:solidFill>
            <a:prstDash val="solid"/>
            <a:tailEnd type="triangle"/>
          </a:ln>
        </p:spPr>
      </p:sp>
      <p:sp>
        <p:nvSpPr>
          <p:cNvPr id="22" name="Shape 20"/>
          <p:cNvSpPr/>
          <p:nvPr/>
        </p:nvSpPr>
        <p:spPr>
          <a:xfrm>
            <a:off x="640080" y="5166360"/>
            <a:ext cx="10881360" cy="868680"/>
          </a:xfrm>
          <a:prstGeom prst="roundRect">
            <a:avLst>
              <a:gd name="adj" fmla="val 12632"/>
            </a:avLst>
          </a:prstGeom>
          <a:solidFill>
            <a:srgbClr val="F1F2F8"/>
          </a:solidFill>
          <a:ln w="12700">
            <a:solidFill>
              <a:srgbClr val="F1F2F8"/>
            </a:solidFill>
            <a:prstDash val="solid"/>
          </a:ln>
        </p:spPr>
      </p:sp>
      <p:sp>
        <p:nvSpPr>
          <p:cNvPr id="23" name="Text 21"/>
          <p:cNvSpPr txBox="1"/>
          <p:nvPr/>
        </p:nvSpPr>
        <p:spPr>
          <a:xfrm>
            <a:off x="822960" y="5303520"/>
            <a:ext cx="10515600" cy="411480"/>
          </a:xfrm>
          <a:prstGeom prst="rect">
            <a:avLst/>
          </a:prstGeom>
          <a:noFill/>
          <a:ln/>
        </p:spPr>
        <p:txBody>
          <a:bodyPr wrap="square" lIns="0" tIns="0" rIns="0" bIns="0" rtlCol="0" anchor="ctr"/>
          <a:lstStyle/>
          <a:p>
            <a:pPr indent="0" marL="0">
              <a:buNone/>
            </a:pPr>
            <a:r>
              <a:rPr lang="en-US" sz="1500" b="1" dirty="0">
                <a:solidFill>
                  <a:srgbClr val="1B1F3B"/>
                </a:solidFill>
              </a:rPr>
              <a:t>5 · Memory on paper</a:t>
            </a:r>
            <a:endParaRPr lang="en-US" sz="1500" dirty="0"/>
          </a:p>
        </p:txBody>
      </p:sp>
      <p:sp>
        <p:nvSpPr>
          <p:cNvPr id="24" name="Text 22"/>
          <p:cNvSpPr txBox="1"/>
          <p:nvPr/>
        </p:nvSpPr>
        <p:spPr>
          <a:xfrm>
            <a:off x="822960" y="5733288"/>
            <a:ext cx="10515600" cy="228600"/>
          </a:xfrm>
          <a:prstGeom prst="rect">
            <a:avLst/>
          </a:prstGeom>
          <a:noFill/>
          <a:ln/>
        </p:spPr>
        <p:txBody>
          <a:bodyPr wrap="square" lIns="0" tIns="0" rIns="0" bIns="0" rtlCol="0" anchor="t"/>
          <a:lstStyle/>
          <a:p>
            <a:pPr indent="0" marL="0">
              <a:spcAft>
                <a:spcPts val="300"/>
              </a:spcAft>
              <a:buNone/>
            </a:pPr>
            <a:r>
              <a:rPr lang="en-US" sz="1200" dirty="0">
                <a:solidFill>
                  <a:srgbClr val="4A4F6B"/>
                </a:solidFill>
              </a:rPr>
              <a:t>Results cached per input (re-run only what changed); every call traced with tokens per agent; the output JSON is what the next agent reads - nothing lives only in someone's head.</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How planning works: the AI proposes, plain code verifies and sends it back</a:t>
            </a:r>
            <a:endParaRPr lang="en-US" sz="3000" dirty="0"/>
          </a:p>
        </p:txBody>
      </p:sp>
      <p:sp>
        <p:nvSpPr>
          <p:cNvPr id="3" name="Shape 1"/>
          <p:cNvSpPr/>
          <p:nvPr/>
        </p:nvSpPr>
        <p:spPr>
          <a:xfrm>
            <a:off x="640080" y="1463040"/>
            <a:ext cx="3108960" cy="2011680"/>
          </a:xfrm>
          <a:prstGeom prst="roundRect">
            <a:avLst>
              <a:gd name="adj" fmla="val 5455"/>
            </a:avLst>
          </a:prstGeom>
          <a:solidFill>
            <a:srgbClr val="6C5CE7"/>
          </a:solidFill>
          <a:ln w="12700">
            <a:solidFill>
              <a:srgbClr val="6C5CE7"/>
            </a:solidFill>
            <a:prstDash val="solid"/>
          </a:ln>
        </p:spPr>
      </p:sp>
      <p:sp>
        <p:nvSpPr>
          <p:cNvPr id="4" name="Text 2"/>
          <p:cNvSpPr txBox="1"/>
          <p:nvPr/>
        </p:nvSpPr>
        <p:spPr>
          <a:xfrm>
            <a:off x="822960" y="1600200"/>
            <a:ext cx="2743200" cy="411480"/>
          </a:xfrm>
          <a:prstGeom prst="rect">
            <a:avLst/>
          </a:prstGeom>
          <a:noFill/>
          <a:ln/>
        </p:spPr>
        <p:txBody>
          <a:bodyPr wrap="square" lIns="0" tIns="0" rIns="0" bIns="0" rtlCol="0" anchor="ctr"/>
          <a:lstStyle/>
          <a:p>
            <a:pPr indent="0" marL="0">
              <a:buNone/>
            </a:pPr>
            <a:r>
              <a:rPr lang="en-US" sz="1500" b="1" dirty="0">
                <a:solidFill>
                  <a:srgbClr val="FFFFFF"/>
                </a:solidFill>
              </a:rPr>
              <a:t>1 · Planner proposes</a:t>
            </a:r>
            <a:endParaRPr lang="en-US" sz="1500" dirty="0"/>
          </a:p>
        </p:txBody>
      </p:sp>
      <p:sp>
        <p:nvSpPr>
          <p:cNvPr id="5" name="Text 3"/>
          <p:cNvSpPr txBox="1"/>
          <p:nvPr/>
        </p:nvSpPr>
        <p:spPr>
          <a:xfrm>
            <a:off x="822960" y="2029968"/>
            <a:ext cx="2743200" cy="1371600"/>
          </a:xfrm>
          <a:prstGeom prst="rect">
            <a:avLst/>
          </a:prstGeom>
          <a:noFill/>
          <a:ln/>
        </p:spPr>
        <p:txBody>
          <a:bodyPr wrap="square" lIns="0" tIns="0" rIns="0" bIns="0" rtlCol="0" anchor="t"/>
          <a:lstStyle/>
          <a:p>
            <a:pPr indent="0" marL="0">
              <a:spcAft>
                <a:spcPts val="300"/>
              </a:spcAft>
              <a:buNone/>
            </a:pPr>
            <a:r>
              <a:rPr lang="en-US" sz="1150" dirty="0">
                <a:solidFill>
                  <a:srgbClr val="ECEAFF"/>
                </a:solidFill>
              </a:rPr>
              <a:t>a fixed form, not prose: approach, design, files (create / modify), registrations, impact, test plan, questions</a:t>
            </a:r>
            <a:endParaRPr lang="en-US" sz="1150" dirty="0"/>
          </a:p>
        </p:txBody>
      </p:sp>
      <p:sp>
        <p:nvSpPr>
          <p:cNvPr id="6" name="Shape 4"/>
          <p:cNvSpPr/>
          <p:nvPr/>
        </p:nvSpPr>
        <p:spPr>
          <a:xfrm>
            <a:off x="3794760" y="2468880"/>
            <a:ext cx="548640" cy="9144"/>
          </a:xfrm>
          <a:prstGeom prst="line">
            <a:avLst/>
          </a:prstGeom>
          <a:noFill/>
          <a:ln w="19050">
            <a:solidFill>
              <a:srgbClr val="9AA0BF"/>
            </a:solidFill>
            <a:prstDash val="solid"/>
            <a:tailEnd type="triangle"/>
          </a:ln>
        </p:spPr>
      </p:sp>
      <p:sp>
        <p:nvSpPr>
          <p:cNvPr id="7" name="Shape 5"/>
          <p:cNvSpPr/>
          <p:nvPr/>
        </p:nvSpPr>
        <p:spPr>
          <a:xfrm>
            <a:off x="4389120" y="1463040"/>
            <a:ext cx="3383280" cy="2011680"/>
          </a:xfrm>
          <a:prstGeom prst="roundRect">
            <a:avLst>
              <a:gd name="adj" fmla="val 5455"/>
            </a:avLst>
          </a:prstGeom>
          <a:solidFill>
            <a:srgbClr val="F1F2F8"/>
          </a:solidFill>
          <a:ln w="12700">
            <a:solidFill>
              <a:srgbClr val="F1F2F8"/>
            </a:solidFill>
            <a:prstDash val="solid"/>
          </a:ln>
        </p:spPr>
      </p:sp>
      <p:sp>
        <p:nvSpPr>
          <p:cNvPr id="8" name="Text 6"/>
          <p:cNvSpPr txBox="1"/>
          <p:nvPr/>
        </p:nvSpPr>
        <p:spPr>
          <a:xfrm>
            <a:off x="4572000" y="1600200"/>
            <a:ext cx="3017520" cy="411480"/>
          </a:xfrm>
          <a:prstGeom prst="rect">
            <a:avLst/>
          </a:prstGeom>
          <a:noFill/>
          <a:ln/>
        </p:spPr>
        <p:txBody>
          <a:bodyPr wrap="square" lIns="0" tIns="0" rIns="0" bIns="0" rtlCol="0" anchor="ctr"/>
          <a:lstStyle/>
          <a:p>
            <a:pPr indent="0" marL="0">
              <a:buNone/>
            </a:pPr>
            <a:r>
              <a:rPr lang="en-US" sz="1500" b="1" dirty="0">
                <a:solidFill>
                  <a:srgbClr val="1B1F3B"/>
                </a:solidFill>
              </a:rPr>
              <a:t>2 · Grounding checks (deterministic)</a:t>
            </a:r>
            <a:endParaRPr lang="en-US" sz="1500" dirty="0"/>
          </a:p>
        </p:txBody>
      </p:sp>
      <p:sp>
        <p:nvSpPr>
          <p:cNvPr id="9" name="Text 7"/>
          <p:cNvSpPr txBox="1"/>
          <p:nvPr/>
        </p:nvSpPr>
        <p:spPr>
          <a:xfrm>
            <a:off x="4572000" y="2029968"/>
            <a:ext cx="3017520" cy="13716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4A4F6B"/>
                </a:solidFill>
              </a:rPr>
              <a:t>every planned 'modify' exists in the repo</a:t>
            </a:r>
            <a:endParaRPr lang="en-US" sz="1050" dirty="0"/>
          </a:p>
          <a:p>
            <a:pPr marL="342900" indent="-342900">
              <a:spcAft>
                <a:spcPts val="300"/>
              </a:spcAft>
              <a:buSzPct val="100000"/>
              <a:buChar char="•"/>
            </a:pPr>
            <a:r>
              <a:rPr lang="en-US" sz="1050" dirty="0">
                <a:solidFill>
                  <a:srgbClr val="4A4F6B"/>
                </a:solidFill>
              </a:rPr>
              <a:t>every story SQL block is assigned to a file</a:t>
            </a:r>
            <a:endParaRPr lang="en-US" sz="1050" dirty="0"/>
          </a:p>
          <a:p>
            <a:pPr marL="342900" indent="-342900">
              <a:spcAft>
                <a:spcPts val="300"/>
              </a:spcAft>
              <a:buSzPct val="100000"/>
              <a:buChar char="•"/>
            </a:pPr>
            <a:r>
              <a:rPr lang="en-US" sz="1050" dirty="0">
                <a:solidFill>
                  <a:srgbClr val="4A4F6B"/>
                </a:solidFill>
              </a:rPr>
              <a:t>every registration point and companion is planned or declined with a reason</a:t>
            </a:r>
            <a:endParaRPr lang="en-US" sz="1050" dirty="0"/>
          </a:p>
          <a:p>
            <a:pPr marL="342900" indent="-342900">
              <a:spcAft>
                <a:spcPts val="300"/>
              </a:spcAft>
              <a:buSzPct val="100000"/>
              <a:buChar char="•"/>
            </a:pPr>
            <a:r>
              <a:rPr lang="en-US" sz="1050" dirty="0">
                <a:solidFill>
                  <a:srgbClr val="4A4F6B"/>
                </a:solidFill>
              </a:rPr>
              <a:t>logic is not pushed into an existing table script</a:t>
            </a:r>
            <a:endParaRPr lang="en-US" sz="1050" dirty="0"/>
          </a:p>
          <a:p>
            <a:pPr marL="342900" indent="-342900">
              <a:spcAft>
                <a:spcPts val="300"/>
              </a:spcAft>
              <a:buSzPct val="100000"/>
              <a:buChar char="•"/>
            </a:pPr>
            <a:r>
              <a:rPr lang="en-US" sz="1050" dirty="0">
                <a:solidFill>
                  <a:srgbClr val="4A4F6B"/>
                </a:solidFill>
              </a:rPr>
              <a:t>every intermediate table of the design has a file</a:t>
            </a:r>
            <a:endParaRPr lang="en-US" sz="1050" dirty="0"/>
          </a:p>
        </p:txBody>
      </p:sp>
      <p:sp>
        <p:nvSpPr>
          <p:cNvPr id="10" name="Shape 8"/>
          <p:cNvSpPr/>
          <p:nvPr/>
        </p:nvSpPr>
        <p:spPr>
          <a:xfrm>
            <a:off x="7818120" y="2468880"/>
            <a:ext cx="548640" cy="9144"/>
          </a:xfrm>
          <a:prstGeom prst="line">
            <a:avLst/>
          </a:prstGeom>
          <a:noFill/>
          <a:ln w="19050">
            <a:solidFill>
              <a:srgbClr val="9AA0BF"/>
            </a:solidFill>
            <a:prstDash val="solid"/>
            <a:tailEnd type="triangle"/>
          </a:ln>
        </p:spPr>
      </p:sp>
      <p:sp>
        <p:nvSpPr>
          <p:cNvPr id="11" name="Shape 9"/>
          <p:cNvSpPr/>
          <p:nvPr/>
        </p:nvSpPr>
        <p:spPr>
          <a:xfrm>
            <a:off x="8412480" y="1463040"/>
            <a:ext cx="3383280" cy="2011680"/>
          </a:xfrm>
          <a:prstGeom prst="roundRect">
            <a:avLst>
              <a:gd name="adj" fmla="val 5455"/>
            </a:avLst>
          </a:prstGeom>
          <a:solidFill>
            <a:srgbClr val="FFFFFF"/>
          </a:solidFill>
          <a:ln w="19050">
            <a:solidFill>
              <a:srgbClr val="E6A23C"/>
            </a:solidFill>
            <a:prstDash val="solid"/>
          </a:ln>
        </p:spPr>
      </p:sp>
      <p:sp>
        <p:nvSpPr>
          <p:cNvPr id="12" name="Text 10"/>
          <p:cNvSpPr txBox="1"/>
          <p:nvPr/>
        </p:nvSpPr>
        <p:spPr>
          <a:xfrm>
            <a:off x="8595360" y="1600200"/>
            <a:ext cx="3017520" cy="411480"/>
          </a:xfrm>
          <a:prstGeom prst="rect">
            <a:avLst/>
          </a:prstGeom>
          <a:noFill/>
          <a:ln/>
        </p:spPr>
        <p:txBody>
          <a:bodyPr wrap="square" lIns="0" tIns="0" rIns="0" bIns="0" rtlCol="0" anchor="ctr"/>
          <a:lstStyle/>
          <a:p>
            <a:pPr indent="0" marL="0">
              <a:buNone/>
            </a:pPr>
            <a:r>
              <a:rPr lang="en-US" sz="1500" b="1" dirty="0">
                <a:solidFill>
                  <a:srgbClr val="1B1F3B"/>
                </a:solidFill>
              </a:rPr>
              <a:t>3 · Accepted - or sent back</a:t>
            </a:r>
            <a:endParaRPr lang="en-US" sz="1500" dirty="0"/>
          </a:p>
        </p:txBody>
      </p:sp>
      <p:sp>
        <p:nvSpPr>
          <p:cNvPr id="13" name="Text 11"/>
          <p:cNvSpPr txBox="1"/>
          <p:nvPr/>
        </p:nvSpPr>
        <p:spPr>
          <a:xfrm>
            <a:off x="8595360" y="2029968"/>
            <a:ext cx="3017520" cy="137160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REJECTED with the exact missing item, e.g. 'dags/ikg_data_refresh.py registers this folder - add it as modify or decline it' (up to 2 more rounds)</a:t>
            </a:r>
            <a:endParaRPr lang="en-US" sz="1100" dirty="0"/>
          </a:p>
        </p:txBody>
      </p:sp>
      <p:sp>
        <p:nvSpPr>
          <p:cNvPr id="14" name="Shape 12"/>
          <p:cNvSpPr/>
          <p:nvPr/>
        </p:nvSpPr>
        <p:spPr>
          <a:xfrm>
            <a:off x="10058400" y="3474720"/>
            <a:ext cx="9144" cy="457200"/>
          </a:xfrm>
          <a:prstGeom prst="line">
            <a:avLst/>
          </a:prstGeom>
          <a:noFill/>
          <a:ln w="19050">
            <a:solidFill>
              <a:srgbClr val="E6A23C"/>
            </a:solidFill>
            <a:prstDash val="dash"/>
          </a:ln>
        </p:spPr>
      </p:sp>
      <p:sp>
        <p:nvSpPr>
          <p:cNvPr id="15" name="Shape 13"/>
          <p:cNvSpPr/>
          <p:nvPr/>
        </p:nvSpPr>
        <p:spPr>
          <a:xfrm>
            <a:off x="2194560" y="3931920"/>
            <a:ext cx="7863840" cy="9144"/>
          </a:xfrm>
          <a:prstGeom prst="line">
            <a:avLst/>
          </a:prstGeom>
          <a:noFill/>
          <a:ln w="19050">
            <a:solidFill>
              <a:srgbClr val="E6A23C"/>
            </a:solidFill>
            <a:prstDash val="dash"/>
          </a:ln>
        </p:spPr>
      </p:sp>
      <p:sp>
        <p:nvSpPr>
          <p:cNvPr id="16" name="Shape 14"/>
          <p:cNvSpPr/>
          <p:nvPr/>
        </p:nvSpPr>
        <p:spPr>
          <a:xfrm flipV="1">
            <a:off x="2194560" y="3493008"/>
            <a:ext cx="9144" cy="438912"/>
          </a:xfrm>
          <a:prstGeom prst="line">
            <a:avLst/>
          </a:prstGeom>
          <a:noFill/>
          <a:ln w="19050">
            <a:solidFill>
              <a:srgbClr val="E6A23C"/>
            </a:solidFill>
            <a:prstDash val="dash"/>
            <a:tailEnd type="triangle"/>
          </a:ln>
        </p:spPr>
      </p:sp>
      <p:sp>
        <p:nvSpPr>
          <p:cNvPr id="17" name="Text 15"/>
          <p:cNvSpPr txBox="1"/>
          <p:nvPr/>
        </p:nvSpPr>
        <p:spPr>
          <a:xfrm>
            <a:off x="5029200" y="3977640"/>
            <a:ext cx="2743200" cy="274320"/>
          </a:xfrm>
          <a:prstGeom prst="rect">
            <a:avLst/>
          </a:prstGeom>
          <a:noFill/>
          <a:ln/>
        </p:spPr>
        <p:txBody>
          <a:bodyPr wrap="square" lIns="0" tIns="0" rIns="0" bIns="0" rtlCol="0" anchor="t"/>
          <a:lstStyle/>
          <a:p>
            <a:pPr algn="ctr" indent="0" marL="0">
              <a:buNone/>
            </a:pPr>
            <a:r>
              <a:rPr lang="en-US" sz="1100" dirty="0">
                <a:solidFill>
                  <a:srgbClr val="E6A23C"/>
                </a:solidFill>
              </a:rPr>
              <a:t>fix and resubmit</a:t>
            </a:r>
            <a:endParaRPr lang="en-US" sz="1100" dirty="0"/>
          </a:p>
        </p:txBody>
      </p:sp>
      <p:sp>
        <p:nvSpPr>
          <p:cNvPr id="18" name="Shape 16"/>
          <p:cNvSpPr/>
          <p:nvPr/>
        </p:nvSpPr>
        <p:spPr>
          <a:xfrm>
            <a:off x="640080" y="4389120"/>
            <a:ext cx="5394960" cy="1463040"/>
          </a:xfrm>
          <a:prstGeom prst="roundRect">
            <a:avLst>
              <a:gd name="adj" fmla="val 7500"/>
            </a:avLst>
          </a:prstGeom>
          <a:solidFill>
            <a:srgbClr val="F1F2F8"/>
          </a:solidFill>
          <a:ln w="12700">
            <a:solidFill>
              <a:srgbClr val="F1F2F8"/>
            </a:solidFill>
            <a:prstDash val="solid"/>
          </a:ln>
        </p:spPr>
      </p:sp>
      <p:sp>
        <p:nvSpPr>
          <p:cNvPr id="19" name="Text 17"/>
          <p:cNvSpPr txBox="1"/>
          <p:nvPr/>
        </p:nvSpPr>
        <p:spPr>
          <a:xfrm>
            <a:off x="822960" y="4526280"/>
            <a:ext cx="5029200" cy="411480"/>
          </a:xfrm>
          <a:prstGeom prst="rect">
            <a:avLst/>
          </a:prstGeom>
          <a:noFill/>
          <a:ln/>
        </p:spPr>
        <p:txBody>
          <a:bodyPr wrap="square" lIns="0" tIns="0" rIns="0" bIns="0" rtlCol="0" anchor="ctr"/>
          <a:lstStyle/>
          <a:p>
            <a:pPr indent="0" marL="0">
              <a:buNone/>
            </a:pPr>
            <a:r>
              <a:rPr lang="en-US" sz="1500" b="1" dirty="0">
                <a:solidFill>
                  <a:srgbClr val="1B1F3B"/>
                </a:solidFill>
              </a:rPr>
              <a:t>Safety net outside the AI</a:t>
            </a:r>
            <a:endParaRPr lang="en-US" sz="1500" dirty="0"/>
          </a:p>
        </p:txBody>
      </p:sp>
      <p:sp>
        <p:nvSpPr>
          <p:cNvPr id="20" name="Text 18"/>
          <p:cNvSpPr txBox="1"/>
          <p:nvPr/>
        </p:nvSpPr>
        <p:spPr>
          <a:xfrm>
            <a:off x="822960" y="4956048"/>
            <a:ext cx="5029200" cy="82296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after the plan is accepted, a new script whose folder has a registration file (DAG, task list, config) gets that file added as a modify automatically - a script that is never registered never runs</a:t>
            </a:r>
            <a:endParaRPr lang="en-US" sz="1150" dirty="0"/>
          </a:p>
        </p:txBody>
      </p:sp>
      <p:sp>
        <p:nvSpPr>
          <p:cNvPr id="21" name="Shape 19"/>
          <p:cNvSpPr/>
          <p:nvPr/>
        </p:nvSpPr>
        <p:spPr>
          <a:xfrm>
            <a:off x="6309360" y="4389120"/>
            <a:ext cx="5486400" cy="1463040"/>
          </a:xfrm>
          <a:prstGeom prst="roundRect">
            <a:avLst>
              <a:gd name="adj" fmla="val 7500"/>
            </a:avLst>
          </a:prstGeom>
          <a:solidFill>
            <a:srgbClr val="F1F2F8"/>
          </a:solidFill>
          <a:ln w="12700">
            <a:solidFill>
              <a:srgbClr val="F1F2F8"/>
            </a:solidFill>
            <a:prstDash val="solid"/>
          </a:ln>
        </p:spPr>
      </p:sp>
      <p:sp>
        <p:nvSpPr>
          <p:cNvPr id="22" name="Text 20"/>
          <p:cNvSpPr txBox="1"/>
          <p:nvPr/>
        </p:nvSpPr>
        <p:spPr>
          <a:xfrm>
            <a:off x="6492240" y="4526280"/>
            <a:ext cx="5120640" cy="411480"/>
          </a:xfrm>
          <a:prstGeom prst="rect">
            <a:avLst/>
          </a:prstGeom>
          <a:noFill/>
          <a:ln/>
        </p:spPr>
        <p:txBody>
          <a:bodyPr wrap="square" lIns="0" tIns="0" rIns="0" bIns="0" rtlCol="0" anchor="ctr"/>
          <a:lstStyle/>
          <a:p>
            <a:pPr indent="0" marL="0">
              <a:buNone/>
            </a:pPr>
            <a:r>
              <a:rPr lang="en-US" sz="1500" b="1" dirty="0">
                <a:solidFill>
                  <a:srgbClr val="1B1F3B"/>
                </a:solidFill>
              </a:rPr>
              <a:t>Why this matters</a:t>
            </a:r>
            <a:endParaRPr lang="en-US" sz="1500" dirty="0"/>
          </a:p>
        </p:txBody>
      </p:sp>
      <p:sp>
        <p:nvSpPr>
          <p:cNvPr id="23" name="Text 21"/>
          <p:cNvSpPr txBox="1"/>
          <p:nvPr/>
        </p:nvSpPr>
        <p:spPr>
          <a:xfrm>
            <a:off x="6492240" y="4956048"/>
            <a:ext cx="5120640" cy="82296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an AI can argue a file away in prose; it cannot argue with a check that reads the repository. The same pattern - propose, verify, send back - is used for the repo agent (registrations, companions) and the coder (the file must parse).</a:t>
            </a:r>
            <a:endParaRPr lang="en-US" sz="11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Architecture: four layers, one rule</a:t>
            </a:r>
            <a:endParaRPr lang="en-US" sz="3000" dirty="0"/>
          </a:p>
        </p:txBody>
      </p:sp>
      <p:sp>
        <p:nvSpPr>
          <p:cNvPr id="3" name="Shape 1"/>
          <p:cNvSpPr/>
          <p:nvPr/>
        </p:nvSpPr>
        <p:spPr>
          <a:xfrm>
            <a:off x="640080" y="1371600"/>
            <a:ext cx="11155680" cy="1005840"/>
          </a:xfrm>
          <a:prstGeom prst="roundRect">
            <a:avLst>
              <a:gd name="adj" fmla="val 10909"/>
            </a:avLst>
          </a:prstGeom>
          <a:solidFill>
            <a:srgbClr val="F1F2F8"/>
          </a:solidFill>
          <a:ln w="19050">
            <a:solidFill>
              <a:srgbClr val="22B8CF"/>
            </a:solidFill>
            <a:prstDash val="solid"/>
          </a:ln>
        </p:spPr>
      </p:sp>
      <p:sp>
        <p:nvSpPr>
          <p:cNvPr id="4" name="Text 2"/>
          <p:cNvSpPr txBox="1"/>
          <p:nvPr/>
        </p:nvSpPr>
        <p:spPr>
          <a:xfrm>
            <a:off x="822960" y="1508760"/>
            <a:ext cx="2011680" cy="365760"/>
          </a:xfrm>
          <a:prstGeom prst="rect">
            <a:avLst/>
          </a:prstGeom>
          <a:noFill/>
          <a:ln/>
        </p:spPr>
        <p:txBody>
          <a:bodyPr wrap="square" lIns="0" tIns="0" rIns="0" bIns="0" rtlCol="0" anchor="t"/>
          <a:lstStyle/>
          <a:p>
            <a:pPr indent="0" marL="0">
              <a:buNone/>
            </a:pPr>
            <a:r>
              <a:rPr lang="en-US" sz="1500" b="1" dirty="0">
                <a:solidFill>
                  <a:srgbClr val="22B8CF"/>
                </a:solidFill>
              </a:rPr>
              <a:t>INPUTS</a:t>
            </a:r>
            <a:endParaRPr lang="en-US" sz="1500" dirty="0"/>
          </a:p>
        </p:txBody>
      </p:sp>
      <p:sp>
        <p:nvSpPr>
          <p:cNvPr id="5" name="Text 3"/>
          <p:cNvSpPr txBox="1"/>
          <p:nvPr/>
        </p:nvSpPr>
        <p:spPr>
          <a:xfrm>
            <a:off x="822960" y="1874520"/>
            <a:ext cx="3291840" cy="457200"/>
          </a:xfrm>
          <a:prstGeom prst="rect">
            <a:avLst/>
          </a:prstGeom>
          <a:noFill/>
          <a:ln/>
        </p:spPr>
        <p:txBody>
          <a:bodyPr wrap="square" lIns="0" tIns="0" rIns="0" bIns="0" rtlCol="0" anchor="t"/>
          <a:lstStyle/>
          <a:p>
            <a:pPr indent="0" marL="0">
              <a:buNone/>
            </a:pPr>
            <a:r>
              <a:rPr lang="en-US" sz="1100" dirty="0">
                <a:solidFill>
                  <a:srgbClr val="4A4F6B"/>
                </a:solidFill>
              </a:rPr>
              <a:t>story · skills · standards · data tables · git repository</a:t>
            </a:r>
            <a:endParaRPr lang="en-US" sz="1100" dirty="0"/>
          </a:p>
        </p:txBody>
      </p:sp>
      <p:sp>
        <p:nvSpPr>
          <p:cNvPr id="6" name="Shape 4"/>
          <p:cNvSpPr/>
          <p:nvPr/>
        </p:nvSpPr>
        <p:spPr>
          <a:xfrm>
            <a:off x="4389120" y="1600200"/>
            <a:ext cx="1737360" cy="548640"/>
          </a:xfrm>
          <a:prstGeom prst="roundRect">
            <a:avLst>
              <a:gd name="adj" fmla="val 16667"/>
            </a:avLst>
          </a:prstGeom>
          <a:solidFill>
            <a:srgbClr val="FFFFFF"/>
          </a:solidFill>
          <a:ln w="12700">
            <a:solidFill>
              <a:srgbClr val="22B8CF"/>
            </a:solidFill>
            <a:prstDash val="solid"/>
          </a:ln>
        </p:spPr>
      </p:sp>
      <p:sp>
        <p:nvSpPr>
          <p:cNvPr id="7" name="Text 5"/>
          <p:cNvSpPr txBox="1"/>
          <p:nvPr/>
        </p:nvSpPr>
        <p:spPr>
          <a:xfrm>
            <a:off x="4389120" y="160020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ticket</a:t>
            </a:r>
            <a:endParaRPr lang="en-US" sz="1150" dirty="0"/>
          </a:p>
        </p:txBody>
      </p:sp>
      <p:sp>
        <p:nvSpPr>
          <p:cNvPr id="8" name="Shape 6"/>
          <p:cNvSpPr/>
          <p:nvPr/>
        </p:nvSpPr>
        <p:spPr>
          <a:xfrm>
            <a:off x="6263640" y="1600200"/>
            <a:ext cx="1737360" cy="548640"/>
          </a:xfrm>
          <a:prstGeom prst="roundRect">
            <a:avLst>
              <a:gd name="adj" fmla="val 16667"/>
            </a:avLst>
          </a:prstGeom>
          <a:solidFill>
            <a:srgbClr val="FFFFFF"/>
          </a:solidFill>
          <a:ln w="12700">
            <a:solidFill>
              <a:srgbClr val="22B8CF"/>
            </a:solidFill>
            <a:prstDash val="solid"/>
          </a:ln>
        </p:spPr>
      </p:sp>
      <p:sp>
        <p:nvSpPr>
          <p:cNvPr id="9" name="Text 7"/>
          <p:cNvSpPr txBox="1"/>
          <p:nvPr/>
        </p:nvSpPr>
        <p:spPr>
          <a:xfrm>
            <a:off x="6263640" y="160020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team documents</a:t>
            </a:r>
            <a:endParaRPr lang="en-US" sz="1150" dirty="0"/>
          </a:p>
        </p:txBody>
      </p:sp>
      <p:sp>
        <p:nvSpPr>
          <p:cNvPr id="10" name="Shape 8"/>
          <p:cNvSpPr/>
          <p:nvPr/>
        </p:nvSpPr>
        <p:spPr>
          <a:xfrm>
            <a:off x="8138160" y="1600200"/>
            <a:ext cx="1737360" cy="548640"/>
          </a:xfrm>
          <a:prstGeom prst="roundRect">
            <a:avLst>
              <a:gd name="adj" fmla="val 16667"/>
            </a:avLst>
          </a:prstGeom>
          <a:solidFill>
            <a:srgbClr val="FFFFFF"/>
          </a:solidFill>
          <a:ln w="12700">
            <a:solidFill>
              <a:srgbClr val="22B8CF"/>
            </a:solidFill>
            <a:prstDash val="solid"/>
          </a:ln>
        </p:spPr>
      </p:sp>
      <p:sp>
        <p:nvSpPr>
          <p:cNvPr id="11" name="Text 9"/>
          <p:cNvSpPr txBox="1"/>
          <p:nvPr/>
        </p:nvSpPr>
        <p:spPr>
          <a:xfrm>
            <a:off x="8138160" y="160020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read-only tables</a:t>
            </a:r>
            <a:endParaRPr lang="en-US" sz="1150" dirty="0"/>
          </a:p>
        </p:txBody>
      </p:sp>
      <p:sp>
        <p:nvSpPr>
          <p:cNvPr id="12" name="Shape 10"/>
          <p:cNvSpPr/>
          <p:nvPr/>
        </p:nvSpPr>
        <p:spPr>
          <a:xfrm>
            <a:off x="10012680" y="1600200"/>
            <a:ext cx="1737360" cy="548640"/>
          </a:xfrm>
          <a:prstGeom prst="roundRect">
            <a:avLst>
              <a:gd name="adj" fmla="val 16667"/>
            </a:avLst>
          </a:prstGeom>
          <a:solidFill>
            <a:srgbClr val="FFFFFF"/>
          </a:solidFill>
          <a:ln w="12700">
            <a:solidFill>
              <a:srgbClr val="22B8CF"/>
            </a:solidFill>
            <a:prstDash val="solid"/>
          </a:ln>
        </p:spPr>
      </p:sp>
      <p:sp>
        <p:nvSpPr>
          <p:cNvPr id="13" name="Text 11"/>
          <p:cNvSpPr txBox="1"/>
          <p:nvPr/>
        </p:nvSpPr>
        <p:spPr>
          <a:xfrm>
            <a:off x="10012680" y="160020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code base</a:t>
            </a:r>
            <a:endParaRPr lang="en-US" sz="1150" dirty="0"/>
          </a:p>
        </p:txBody>
      </p:sp>
      <p:sp>
        <p:nvSpPr>
          <p:cNvPr id="14" name="Shape 12"/>
          <p:cNvSpPr/>
          <p:nvPr/>
        </p:nvSpPr>
        <p:spPr>
          <a:xfrm>
            <a:off x="1828800" y="2377440"/>
            <a:ext cx="9144" cy="182880"/>
          </a:xfrm>
          <a:prstGeom prst="line">
            <a:avLst/>
          </a:prstGeom>
          <a:noFill/>
          <a:ln w="19050">
            <a:solidFill>
              <a:srgbClr val="9AA0BF"/>
            </a:solidFill>
            <a:prstDash val="solid"/>
            <a:tailEnd type="triangle"/>
          </a:ln>
        </p:spPr>
      </p:sp>
      <p:sp>
        <p:nvSpPr>
          <p:cNvPr id="15" name="Shape 13"/>
          <p:cNvSpPr/>
          <p:nvPr/>
        </p:nvSpPr>
        <p:spPr>
          <a:xfrm>
            <a:off x="640080" y="2560320"/>
            <a:ext cx="11155680" cy="1005840"/>
          </a:xfrm>
          <a:prstGeom prst="roundRect">
            <a:avLst>
              <a:gd name="adj" fmla="val 10909"/>
            </a:avLst>
          </a:prstGeom>
          <a:solidFill>
            <a:srgbClr val="F1F2F8"/>
          </a:solidFill>
          <a:ln w="19050">
            <a:solidFill>
              <a:srgbClr val="22B8CF"/>
            </a:solidFill>
            <a:prstDash val="solid"/>
          </a:ln>
        </p:spPr>
      </p:sp>
      <p:sp>
        <p:nvSpPr>
          <p:cNvPr id="16" name="Text 14"/>
          <p:cNvSpPr txBox="1"/>
          <p:nvPr/>
        </p:nvSpPr>
        <p:spPr>
          <a:xfrm>
            <a:off x="822960" y="2697480"/>
            <a:ext cx="2011680" cy="365760"/>
          </a:xfrm>
          <a:prstGeom prst="rect">
            <a:avLst/>
          </a:prstGeom>
          <a:noFill/>
          <a:ln/>
        </p:spPr>
        <p:txBody>
          <a:bodyPr wrap="square" lIns="0" tIns="0" rIns="0" bIns="0" rtlCol="0" anchor="t"/>
          <a:lstStyle/>
          <a:p>
            <a:pPr indent="0" marL="0">
              <a:buNone/>
            </a:pPr>
            <a:r>
              <a:rPr lang="en-US" sz="1500" b="1" dirty="0">
                <a:solidFill>
                  <a:srgbClr val="22B8CF"/>
                </a:solidFill>
              </a:rPr>
              <a:t>RETRIEVAL</a:t>
            </a:r>
            <a:endParaRPr lang="en-US" sz="1500" dirty="0"/>
          </a:p>
        </p:txBody>
      </p:sp>
      <p:sp>
        <p:nvSpPr>
          <p:cNvPr id="17" name="Text 15"/>
          <p:cNvSpPr txBox="1"/>
          <p:nvPr/>
        </p:nvSpPr>
        <p:spPr>
          <a:xfrm>
            <a:off x="822960" y="3063240"/>
            <a:ext cx="3291840" cy="457200"/>
          </a:xfrm>
          <a:prstGeom prst="rect">
            <a:avLst/>
          </a:prstGeom>
          <a:noFill/>
          <a:ln/>
        </p:spPr>
        <p:txBody>
          <a:bodyPr wrap="square" lIns="0" tIns="0" rIns="0" bIns="0" rtlCol="0" anchor="t"/>
          <a:lstStyle/>
          <a:p>
            <a:pPr indent="0" marL="0">
              <a:buNone/>
            </a:pPr>
            <a:r>
              <a:rPr lang="en-US" sz="1100" dirty="0">
                <a:solidFill>
                  <a:srgbClr val="4A4F6B"/>
                </a:solidFill>
              </a:rPr>
              <a:t>index of the code base, exposed to the agents as look-up tools</a:t>
            </a:r>
            <a:endParaRPr lang="en-US" sz="1100" dirty="0"/>
          </a:p>
        </p:txBody>
      </p:sp>
      <p:sp>
        <p:nvSpPr>
          <p:cNvPr id="18" name="Shape 16"/>
          <p:cNvSpPr/>
          <p:nvPr/>
        </p:nvSpPr>
        <p:spPr>
          <a:xfrm>
            <a:off x="4389120" y="2788920"/>
            <a:ext cx="1737360" cy="548640"/>
          </a:xfrm>
          <a:prstGeom prst="roundRect">
            <a:avLst>
              <a:gd name="adj" fmla="val 16667"/>
            </a:avLst>
          </a:prstGeom>
          <a:solidFill>
            <a:srgbClr val="FFFFFF"/>
          </a:solidFill>
          <a:ln w="12700">
            <a:solidFill>
              <a:srgbClr val="22B8CF"/>
            </a:solidFill>
            <a:prstDash val="solid"/>
          </a:ln>
        </p:spPr>
      </p:sp>
      <p:sp>
        <p:nvSpPr>
          <p:cNvPr id="19" name="Text 17"/>
          <p:cNvSpPr txBox="1"/>
          <p:nvPr/>
        </p:nvSpPr>
        <p:spPr>
          <a:xfrm>
            <a:off x="4389120" y="278892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search</a:t>
            </a:r>
            <a:endParaRPr lang="en-US" sz="1150" dirty="0"/>
          </a:p>
        </p:txBody>
      </p:sp>
      <p:sp>
        <p:nvSpPr>
          <p:cNvPr id="20" name="Shape 18"/>
          <p:cNvSpPr/>
          <p:nvPr/>
        </p:nvSpPr>
        <p:spPr>
          <a:xfrm>
            <a:off x="6263640" y="2788920"/>
            <a:ext cx="1737360" cy="548640"/>
          </a:xfrm>
          <a:prstGeom prst="roundRect">
            <a:avLst>
              <a:gd name="adj" fmla="val 16667"/>
            </a:avLst>
          </a:prstGeom>
          <a:solidFill>
            <a:srgbClr val="FFFFFF"/>
          </a:solidFill>
          <a:ln w="12700">
            <a:solidFill>
              <a:srgbClr val="22B8CF"/>
            </a:solidFill>
            <a:prstDash val="solid"/>
          </a:ln>
        </p:spPr>
      </p:sp>
      <p:sp>
        <p:nvSpPr>
          <p:cNvPr id="21" name="Text 19"/>
          <p:cNvSpPr txBox="1"/>
          <p:nvPr/>
        </p:nvSpPr>
        <p:spPr>
          <a:xfrm>
            <a:off x="6263640" y="278892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read file</a:t>
            </a:r>
            <a:endParaRPr lang="en-US" sz="1150" dirty="0"/>
          </a:p>
        </p:txBody>
      </p:sp>
      <p:sp>
        <p:nvSpPr>
          <p:cNvPr id="22" name="Shape 20"/>
          <p:cNvSpPr/>
          <p:nvPr/>
        </p:nvSpPr>
        <p:spPr>
          <a:xfrm>
            <a:off x="8138160" y="2788920"/>
            <a:ext cx="1737360" cy="548640"/>
          </a:xfrm>
          <a:prstGeom prst="roundRect">
            <a:avLst>
              <a:gd name="adj" fmla="val 16667"/>
            </a:avLst>
          </a:prstGeom>
          <a:solidFill>
            <a:srgbClr val="FFFFFF"/>
          </a:solidFill>
          <a:ln w="12700">
            <a:solidFill>
              <a:srgbClr val="22B8CF"/>
            </a:solidFill>
            <a:prstDash val="solid"/>
          </a:ln>
        </p:spPr>
      </p:sp>
      <p:sp>
        <p:nvSpPr>
          <p:cNvPr id="23" name="Text 21"/>
          <p:cNvSpPr txBox="1"/>
          <p:nvPr/>
        </p:nvSpPr>
        <p:spPr>
          <a:xfrm>
            <a:off x="8138160" y="278892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who registers</a:t>
            </a:r>
            <a:endParaRPr lang="en-US" sz="1150" dirty="0"/>
          </a:p>
        </p:txBody>
      </p:sp>
      <p:sp>
        <p:nvSpPr>
          <p:cNvPr id="24" name="Shape 22"/>
          <p:cNvSpPr/>
          <p:nvPr/>
        </p:nvSpPr>
        <p:spPr>
          <a:xfrm>
            <a:off x="10012680" y="2788920"/>
            <a:ext cx="1737360" cy="548640"/>
          </a:xfrm>
          <a:prstGeom prst="roundRect">
            <a:avLst>
              <a:gd name="adj" fmla="val 16667"/>
            </a:avLst>
          </a:prstGeom>
          <a:solidFill>
            <a:srgbClr val="FFFFFF"/>
          </a:solidFill>
          <a:ln w="12700">
            <a:solidFill>
              <a:srgbClr val="22B8CF"/>
            </a:solidFill>
            <a:prstDash val="solid"/>
          </a:ln>
        </p:spPr>
      </p:sp>
      <p:sp>
        <p:nvSpPr>
          <p:cNvPr id="25" name="Text 23"/>
          <p:cNvSpPr txBox="1"/>
          <p:nvPr/>
        </p:nvSpPr>
        <p:spPr>
          <a:xfrm>
            <a:off x="10012680" y="278892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what changes together</a:t>
            </a:r>
            <a:endParaRPr lang="en-US" sz="1150" dirty="0"/>
          </a:p>
        </p:txBody>
      </p:sp>
      <p:sp>
        <p:nvSpPr>
          <p:cNvPr id="26" name="Shape 24"/>
          <p:cNvSpPr/>
          <p:nvPr/>
        </p:nvSpPr>
        <p:spPr>
          <a:xfrm>
            <a:off x="1828800" y="3566160"/>
            <a:ext cx="9144" cy="182880"/>
          </a:xfrm>
          <a:prstGeom prst="line">
            <a:avLst/>
          </a:prstGeom>
          <a:noFill/>
          <a:ln w="19050">
            <a:solidFill>
              <a:srgbClr val="9AA0BF"/>
            </a:solidFill>
            <a:prstDash val="solid"/>
            <a:tailEnd type="triangle"/>
          </a:ln>
        </p:spPr>
      </p:sp>
      <p:sp>
        <p:nvSpPr>
          <p:cNvPr id="27" name="Shape 25"/>
          <p:cNvSpPr/>
          <p:nvPr/>
        </p:nvSpPr>
        <p:spPr>
          <a:xfrm>
            <a:off x="640080" y="3749040"/>
            <a:ext cx="11155680" cy="1005840"/>
          </a:xfrm>
          <a:prstGeom prst="roundRect">
            <a:avLst>
              <a:gd name="adj" fmla="val 10909"/>
            </a:avLst>
          </a:prstGeom>
          <a:solidFill>
            <a:srgbClr val="6C5CE7"/>
          </a:solidFill>
          <a:ln w="19050">
            <a:solidFill>
              <a:srgbClr val="6C5CE7"/>
            </a:solidFill>
            <a:prstDash val="solid"/>
          </a:ln>
        </p:spPr>
      </p:sp>
      <p:sp>
        <p:nvSpPr>
          <p:cNvPr id="28" name="Text 26"/>
          <p:cNvSpPr txBox="1"/>
          <p:nvPr/>
        </p:nvSpPr>
        <p:spPr>
          <a:xfrm>
            <a:off x="822960" y="3886200"/>
            <a:ext cx="2011680" cy="365760"/>
          </a:xfrm>
          <a:prstGeom prst="rect">
            <a:avLst/>
          </a:prstGeom>
          <a:noFill/>
          <a:ln/>
        </p:spPr>
        <p:txBody>
          <a:bodyPr wrap="square" lIns="0" tIns="0" rIns="0" bIns="0" rtlCol="0" anchor="t"/>
          <a:lstStyle/>
          <a:p>
            <a:pPr indent="0" marL="0">
              <a:buNone/>
            </a:pPr>
            <a:r>
              <a:rPr lang="en-US" sz="1500" b="1" dirty="0">
                <a:solidFill>
                  <a:srgbClr val="FFFFFF"/>
                </a:solidFill>
              </a:rPr>
              <a:t>AGENTS</a:t>
            </a:r>
            <a:endParaRPr lang="en-US" sz="1500" dirty="0"/>
          </a:p>
        </p:txBody>
      </p:sp>
      <p:sp>
        <p:nvSpPr>
          <p:cNvPr id="29" name="Text 27"/>
          <p:cNvSpPr txBox="1"/>
          <p:nvPr/>
        </p:nvSpPr>
        <p:spPr>
          <a:xfrm>
            <a:off x="822960" y="4251960"/>
            <a:ext cx="3291840" cy="457200"/>
          </a:xfrm>
          <a:prstGeom prst="rect">
            <a:avLst/>
          </a:prstGeom>
          <a:noFill/>
          <a:ln/>
        </p:spPr>
        <p:txBody>
          <a:bodyPr wrap="square" lIns="0" tIns="0" rIns="0" bIns="0" rtlCol="0" anchor="t"/>
          <a:lstStyle/>
          <a:p>
            <a:pPr indent="0" marL="0">
              <a:buNone/>
            </a:pPr>
            <a:r>
              <a:rPr lang="en-US" sz="1100" dirty="0">
                <a:solidFill>
                  <a:srgbClr val="ECEAFF"/>
                </a:solidFill>
              </a:rPr>
              <a:t>read → plan → write → check, each step verified by code</a:t>
            </a:r>
            <a:endParaRPr lang="en-US" sz="1100" dirty="0"/>
          </a:p>
        </p:txBody>
      </p:sp>
      <p:sp>
        <p:nvSpPr>
          <p:cNvPr id="30" name="Shape 28"/>
          <p:cNvSpPr/>
          <p:nvPr/>
        </p:nvSpPr>
        <p:spPr>
          <a:xfrm>
            <a:off x="4389120" y="3977640"/>
            <a:ext cx="1737360" cy="548640"/>
          </a:xfrm>
          <a:prstGeom prst="roundRect">
            <a:avLst>
              <a:gd name="adj" fmla="val 16667"/>
            </a:avLst>
          </a:prstGeom>
          <a:solidFill>
            <a:srgbClr val="FFFFFF"/>
          </a:solidFill>
          <a:ln w="12700">
            <a:solidFill>
              <a:srgbClr val="6C5CE7"/>
            </a:solidFill>
            <a:prstDash val="solid"/>
          </a:ln>
        </p:spPr>
      </p:sp>
      <p:sp>
        <p:nvSpPr>
          <p:cNvPr id="31" name="Text 29"/>
          <p:cNvSpPr txBox="1"/>
          <p:nvPr/>
        </p:nvSpPr>
        <p:spPr>
          <a:xfrm>
            <a:off x="4389120" y="397764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4 readers</a:t>
            </a:r>
            <a:endParaRPr lang="en-US" sz="1150" dirty="0"/>
          </a:p>
        </p:txBody>
      </p:sp>
      <p:sp>
        <p:nvSpPr>
          <p:cNvPr id="32" name="Shape 30"/>
          <p:cNvSpPr/>
          <p:nvPr/>
        </p:nvSpPr>
        <p:spPr>
          <a:xfrm>
            <a:off x="6263640" y="3977640"/>
            <a:ext cx="1737360" cy="548640"/>
          </a:xfrm>
          <a:prstGeom prst="roundRect">
            <a:avLst>
              <a:gd name="adj" fmla="val 16667"/>
            </a:avLst>
          </a:prstGeom>
          <a:solidFill>
            <a:srgbClr val="FFFFFF"/>
          </a:solidFill>
          <a:ln w="12700">
            <a:solidFill>
              <a:srgbClr val="6C5CE7"/>
            </a:solidFill>
            <a:prstDash val="solid"/>
          </a:ln>
        </p:spPr>
      </p:sp>
      <p:sp>
        <p:nvSpPr>
          <p:cNvPr id="33" name="Text 31"/>
          <p:cNvSpPr txBox="1"/>
          <p:nvPr/>
        </p:nvSpPr>
        <p:spPr>
          <a:xfrm>
            <a:off x="6263640" y="397764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planner</a:t>
            </a:r>
            <a:endParaRPr lang="en-US" sz="1150" dirty="0"/>
          </a:p>
        </p:txBody>
      </p:sp>
      <p:sp>
        <p:nvSpPr>
          <p:cNvPr id="34" name="Shape 32"/>
          <p:cNvSpPr/>
          <p:nvPr/>
        </p:nvSpPr>
        <p:spPr>
          <a:xfrm>
            <a:off x="8138160" y="3977640"/>
            <a:ext cx="1737360" cy="548640"/>
          </a:xfrm>
          <a:prstGeom prst="roundRect">
            <a:avLst>
              <a:gd name="adj" fmla="val 16667"/>
            </a:avLst>
          </a:prstGeom>
          <a:solidFill>
            <a:srgbClr val="FFFFFF"/>
          </a:solidFill>
          <a:ln w="12700">
            <a:solidFill>
              <a:srgbClr val="6C5CE7"/>
            </a:solidFill>
            <a:prstDash val="solid"/>
          </a:ln>
        </p:spPr>
      </p:sp>
      <p:sp>
        <p:nvSpPr>
          <p:cNvPr id="35" name="Text 33"/>
          <p:cNvSpPr txBox="1"/>
          <p:nvPr/>
        </p:nvSpPr>
        <p:spPr>
          <a:xfrm>
            <a:off x="8138160" y="397764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coder</a:t>
            </a:r>
            <a:endParaRPr lang="en-US" sz="1150" dirty="0"/>
          </a:p>
        </p:txBody>
      </p:sp>
      <p:sp>
        <p:nvSpPr>
          <p:cNvPr id="36" name="Shape 34"/>
          <p:cNvSpPr/>
          <p:nvPr/>
        </p:nvSpPr>
        <p:spPr>
          <a:xfrm>
            <a:off x="10012680" y="3977640"/>
            <a:ext cx="1737360" cy="548640"/>
          </a:xfrm>
          <a:prstGeom prst="roundRect">
            <a:avLst>
              <a:gd name="adj" fmla="val 16667"/>
            </a:avLst>
          </a:prstGeom>
          <a:solidFill>
            <a:srgbClr val="FFFFFF"/>
          </a:solidFill>
          <a:ln w="12700">
            <a:solidFill>
              <a:srgbClr val="6C5CE7"/>
            </a:solidFill>
            <a:prstDash val="solid"/>
          </a:ln>
        </p:spPr>
      </p:sp>
      <p:sp>
        <p:nvSpPr>
          <p:cNvPr id="37" name="Text 35"/>
          <p:cNvSpPr txBox="1"/>
          <p:nvPr/>
        </p:nvSpPr>
        <p:spPr>
          <a:xfrm>
            <a:off x="10012680" y="397764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validator + reviewer</a:t>
            </a:r>
            <a:endParaRPr lang="en-US" sz="1150" dirty="0"/>
          </a:p>
        </p:txBody>
      </p:sp>
      <p:sp>
        <p:nvSpPr>
          <p:cNvPr id="38" name="Shape 36"/>
          <p:cNvSpPr/>
          <p:nvPr/>
        </p:nvSpPr>
        <p:spPr>
          <a:xfrm>
            <a:off x="1828800" y="4754880"/>
            <a:ext cx="9144" cy="182880"/>
          </a:xfrm>
          <a:prstGeom prst="line">
            <a:avLst/>
          </a:prstGeom>
          <a:noFill/>
          <a:ln w="19050">
            <a:solidFill>
              <a:srgbClr val="9AA0BF"/>
            </a:solidFill>
            <a:prstDash val="solid"/>
            <a:tailEnd type="triangle"/>
          </a:ln>
        </p:spPr>
      </p:sp>
      <p:sp>
        <p:nvSpPr>
          <p:cNvPr id="39" name="Shape 37"/>
          <p:cNvSpPr/>
          <p:nvPr/>
        </p:nvSpPr>
        <p:spPr>
          <a:xfrm>
            <a:off x="640080" y="4937760"/>
            <a:ext cx="11155680" cy="1005840"/>
          </a:xfrm>
          <a:prstGeom prst="roundRect">
            <a:avLst>
              <a:gd name="adj" fmla="val 10909"/>
            </a:avLst>
          </a:prstGeom>
          <a:solidFill>
            <a:srgbClr val="F1F2F8"/>
          </a:solidFill>
          <a:ln w="19050">
            <a:solidFill>
              <a:srgbClr val="2E9E6B"/>
            </a:solidFill>
            <a:prstDash val="solid"/>
          </a:ln>
        </p:spPr>
      </p:sp>
      <p:sp>
        <p:nvSpPr>
          <p:cNvPr id="40" name="Text 38"/>
          <p:cNvSpPr txBox="1"/>
          <p:nvPr/>
        </p:nvSpPr>
        <p:spPr>
          <a:xfrm>
            <a:off x="822960" y="5074920"/>
            <a:ext cx="2011680" cy="365760"/>
          </a:xfrm>
          <a:prstGeom prst="rect">
            <a:avLst/>
          </a:prstGeom>
          <a:noFill/>
          <a:ln/>
        </p:spPr>
        <p:txBody>
          <a:bodyPr wrap="square" lIns="0" tIns="0" rIns="0" bIns="0" rtlCol="0" anchor="t"/>
          <a:lstStyle/>
          <a:p>
            <a:pPr indent="0" marL="0">
              <a:buNone/>
            </a:pPr>
            <a:r>
              <a:rPr lang="en-US" sz="1500" b="1" dirty="0">
                <a:solidFill>
                  <a:srgbClr val="2E9E6B"/>
                </a:solidFill>
              </a:rPr>
              <a:t>DELIVERY</a:t>
            </a:r>
            <a:endParaRPr lang="en-US" sz="1500" dirty="0"/>
          </a:p>
        </p:txBody>
      </p:sp>
      <p:sp>
        <p:nvSpPr>
          <p:cNvPr id="41" name="Text 39"/>
          <p:cNvSpPr txBox="1"/>
          <p:nvPr/>
        </p:nvSpPr>
        <p:spPr>
          <a:xfrm>
            <a:off x="822960" y="5440680"/>
            <a:ext cx="3291840" cy="457200"/>
          </a:xfrm>
          <a:prstGeom prst="rect">
            <a:avLst/>
          </a:prstGeom>
          <a:noFill/>
          <a:ln/>
        </p:spPr>
        <p:txBody>
          <a:bodyPr wrap="square" lIns="0" tIns="0" rIns="0" bIns="0" rtlCol="0" anchor="t"/>
          <a:lstStyle/>
          <a:p>
            <a:pPr indent="0" marL="0">
              <a:buNone/>
            </a:pPr>
            <a:r>
              <a:rPr lang="en-US" sz="1100" dirty="0">
                <a:solidFill>
                  <a:srgbClr val="4A4F6B"/>
                </a:solidFill>
              </a:rPr>
              <a:t>what the developer gets</a:t>
            </a:r>
            <a:endParaRPr lang="en-US" sz="1100" dirty="0"/>
          </a:p>
        </p:txBody>
      </p:sp>
      <p:sp>
        <p:nvSpPr>
          <p:cNvPr id="42" name="Shape 40"/>
          <p:cNvSpPr/>
          <p:nvPr/>
        </p:nvSpPr>
        <p:spPr>
          <a:xfrm>
            <a:off x="4389120" y="5166360"/>
            <a:ext cx="1737360" cy="548640"/>
          </a:xfrm>
          <a:prstGeom prst="roundRect">
            <a:avLst>
              <a:gd name="adj" fmla="val 16667"/>
            </a:avLst>
          </a:prstGeom>
          <a:solidFill>
            <a:srgbClr val="FFFFFF"/>
          </a:solidFill>
          <a:ln w="12700">
            <a:solidFill>
              <a:srgbClr val="2E9E6B"/>
            </a:solidFill>
            <a:prstDash val="solid"/>
          </a:ln>
        </p:spPr>
      </p:sp>
      <p:sp>
        <p:nvSpPr>
          <p:cNvPr id="43" name="Text 41"/>
          <p:cNvSpPr txBox="1"/>
          <p:nvPr/>
        </p:nvSpPr>
        <p:spPr>
          <a:xfrm>
            <a:off x="4389120" y="516636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confidence score</a:t>
            </a:r>
            <a:endParaRPr lang="en-US" sz="1150" dirty="0"/>
          </a:p>
        </p:txBody>
      </p:sp>
      <p:sp>
        <p:nvSpPr>
          <p:cNvPr id="44" name="Shape 42"/>
          <p:cNvSpPr/>
          <p:nvPr/>
        </p:nvSpPr>
        <p:spPr>
          <a:xfrm>
            <a:off x="6263640" y="5166360"/>
            <a:ext cx="1737360" cy="548640"/>
          </a:xfrm>
          <a:prstGeom prst="roundRect">
            <a:avLst>
              <a:gd name="adj" fmla="val 16667"/>
            </a:avLst>
          </a:prstGeom>
          <a:solidFill>
            <a:srgbClr val="FFFFFF"/>
          </a:solidFill>
          <a:ln w="12700">
            <a:solidFill>
              <a:srgbClr val="2E9E6B"/>
            </a:solidFill>
            <a:prstDash val="solid"/>
          </a:ln>
        </p:spPr>
      </p:sp>
      <p:sp>
        <p:nvSpPr>
          <p:cNvPr id="45" name="Text 43"/>
          <p:cNvSpPr txBox="1"/>
          <p:nvPr/>
        </p:nvSpPr>
        <p:spPr>
          <a:xfrm>
            <a:off x="6263640" y="516636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diff + savepoints</a:t>
            </a:r>
            <a:endParaRPr lang="en-US" sz="1150" dirty="0"/>
          </a:p>
        </p:txBody>
      </p:sp>
      <p:sp>
        <p:nvSpPr>
          <p:cNvPr id="46" name="Shape 44"/>
          <p:cNvSpPr/>
          <p:nvPr/>
        </p:nvSpPr>
        <p:spPr>
          <a:xfrm>
            <a:off x="8138160" y="5166360"/>
            <a:ext cx="1737360" cy="548640"/>
          </a:xfrm>
          <a:prstGeom prst="roundRect">
            <a:avLst>
              <a:gd name="adj" fmla="val 16667"/>
            </a:avLst>
          </a:prstGeom>
          <a:solidFill>
            <a:srgbClr val="FFFFFF"/>
          </a:solidFill>
          <a:ln w="12700">
            <a:solidFill>
              <a:srgbClr val="2E9E6B"/>
            </a:solidFill>
            <a:prstDash val="solid"/>
          </a:ln>
        </p:spPr>
      </p:sp>
      <p:sp>
        <p:nvSpPr>
          <p:cNvPr id="47" name="Text 45"/>
          <p:cNvSpPr txBox="1"/>
          <p:nvPr/>
        </p:nvSpPr>
        <p:spPr>
          <a:xfrm>
            <a:off x="8138160" y="516636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branch in your name</a:t>
            </a:r>
            <a:endParaRPr lang="en-US" sz="1150" dirty="0"/>
          </a:p>
        </p:txBody>
      </p:sp>
      <p:sp>
        <p:nvSpPr>
          <p:cNvPr id="48" name="Shape 46"/>
          <p:cNvSpPr/>
          <p:nvPr/>
        </p:nvSpPr>
        <p:spPr>
          <a:xfrm>
            <a:off x="10012680" y="5166360"/>
            <a:ext cx="1737360" cy="548640"/>
          </a:xfrm>
          <a:prstGeom prst="roundRect">
            <a:avLst>
              <a:gd name="adj" fmla="val 16667"/>
            </a:avLst>
          </a:prstGeom>
          <a:solidFill>
            <a:srgbClr val="FFFFFF"/>
          </a:solidFill>
          <a:ln w="12700">
            <a:solidFill>
              <a:srgbClr val="2E9E6B"/>
            </a:solidFill>
            <a:prstDash val="solid"/>
          </a:ln>
        </p:spPr>
      </p:sp>
      <p:sp>
        <p:nvSpPr>
          <p:cNvPr id="49" name="Text 47"/>
          <p:cNvSpPr txBox="1"/>
          <p:nvPr/>
        </p:nvSpPr>
        <p:spPr>
          <a:xfrm>
            <a:off x="10012680" y="5166360"/>
            <a:ext cx="1737360" cy="548640"/>
          </a:xfrm>
          <a:prstGeom prst="rect">
            <a:avLst/>
          </a:prstGeom>
          <a:noFill/>
          <a:ln/>
        </p:spPr>
        <p:txBody>
          <a:bodyPr wrap="square" lIns="0" tIns="0" rIns="0" bIns="0" rtlCol="0" anchor="ctr"/>
          <a:lstStyle/>
          <a:p>
            <a:pPr algn="ctr" indent="0" marL="0">
              <a:buNone/>
            </a:pPr>
            <a:r>
              <a:rPr lang="en-US" sz="1150" b="1" dirty="0">
                <a:solidFill>
                  <a:srgbClr val="1B1F3B"/>
                </a:solidFill>
              </a:rPr>
              <a:t>audit log</a:t>
            </a:r>
            <a:endParaRPr lang="en-US" sz="1150" dirty="0"/>
          </a:p>
        </p:txBody>
      </p:sp>
      <p:sp>
        <p:nvSpPr>
          <p:cNvPr id="50" name="Text 48"/>
          <p:cNvSpPr txBox="1"/>
          <p:nvPr/>
        </p:nvSpPr>
        <p:spPr>
          <a:xfrm>
            <a:off x="640080" y="6172200"/>
            <a:ext cx="11155680" cy="320040"/>
          </a:xfrm>
          <a:prstGeom prst="rect">
            <a:avLst/>
          </a:prstGeom>
          <a:noFill/>
          <a:ln/>
        </p:spPr>
        <p:txBody>
          <a:bodyPr wrap="square" lIns="0" tIns="0" rIns="0" bIns="0" rtlCol="0" anchor="t"/>
          <a:lstStyle/>
          <a:p>
            <a:pPr indent="0" marL="0">
              <a:buNone/>
            </a:pPr>
            <a:r>
              <a:rPr lang="en-US" sz="1150" i="1" dirty="0">
                <a:solidFill>
                  <a:srgbClr val="6C5CE7"/>
                </a:solidFill>
              </a:rPr>
              <a:t>Azure OpenAI (GPT-5) is called only from the agent layer. Nothing is stored outside the bank; keys are never written to disk.</a:t>
            </a:r>
            <a:endParaRPr lang="en-US" sz="11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Why look-ups instead of a vector database</a:t>
            </a:r>
            <a:endParaRPr lang="en-US" sz="3000" dirty="0"/>
          </a:p>
        </p:txBody>
      </p:sp>
      <p:sp>
        <p:nvSpPr>
          <p:cNvPr id="3" name="Shape 1"/>
          <p:cNvSpPr/>
          <p:nvPr/>
        </p:nvSpPr>
        <p:spPr>
          <a:xfrm>
            <a:off x="640080" y="1463040"/>
            <a:ext cx="5394960" cy="1371600"/>
          </a:xfrm>
          <a:prstGeom prst="roundRect">
            <a:avLst>
              <a:gd name="adj" fmla="val 8000"/>
            </a:avLst>
          </a:prstGeom>
          <a:solidFill>
            <a:srgbClr val="F1F2F8"/>
          </a:solidFill>
          <a:ln w="12700">
            <a:solidFill>
              <a:srgbClr val="F1F2F8"/>
            </a:solidFill>
            <a:prstDash val="solid"/>
          </a:ln>
        </p:spPr>
      </p:sp>
      <p:sp>
        <p:nvSpPr>
          <p:cNvPr id="4" name="Text 2"/>
          <p:cNvSpPr txBox="1"/>
          <p:nvPr/>
        </p:nvSpPr>
        <p:spPr>
          <a:xfrm>
            <a:off x="822960" y="1600200"/>
            <a:ext cx="5029200" cy="411480"/>
          </a:xfrm>
          <a:prstGeom prst="rect">
            <a:avLst/>
          </a:prstGeom>
          <a:noFill/>
          <a:ln/>
        </p:spPr>
        <p:txBody>
          <a:bodyPr wrap="square" lIns="0" tIns="0" rIns="0" bIns="0" rtlCol="0" anchor="ctr"/>
          <a:lstStyle/>
          <a:p>
            <a:pPr indent="0" marL="0">
              <a:buNone/>
            </a:pPr>
            <a:r>
              <a:rPr lang="en-US" sz="1600" b="1" dirty="0">
                <a:solidFill>
                  <a:srgbClr val="1B1F3B"/>
                </a:solidFill>
              </a:rPr>
              <a:t>It is retrieval-augmented</a:t>
            </a:r>
            <a:endParaRPr lang="en-US" sz="1600" dirty="0"/>
          </a:p>
        </p:txBody>
      </p:sp>
      <p:sp>
        <p:nvSpPr>
          <p:cNvPr id="5" name="Text 3"/>
          <p:cNvSpPr txBox="1"/>
          <p:nvPr/>
        </p:nvSpPr>
        <p:spPr>
          <a:xfrm>
            <a:off x="822960" y="2029968"/>
            <a:ext cx="5029200" cy="731520"/>
          </a:xfrm>
          <a:prstGeom prst="rect">
            <a:avLst/>
          </a:prstGeom>
          <a:noFill/>
          <a:ln/>
        </p:spPr>
        <p:txBody>
          <a:bodyPr wrap="square" lIns="0" tIns="0" rIns="0" bIns="0" rtlCol="0" anchor="t"/>
          <a:lstStyle/>
          <a:p>
            <a:pPr indent="0" marL="0">
              <a:spcAft>
                <a:spcPts val="300"/>
              </a:spcAft>
              <a:buNone/>
            </a:pPr>
            <a:r>
              <a:rPr lang="en-US" sz="1300" dirty="0">
                <a:solidFill>
                  <a:srgbClr val="4A4F6B"/>
                </a:solidFill>
              </a:rPr>
              <a:t>every agent works from retrieved facts - ticket, tables, code - never from memory</a:t>
            </a:r>
            <a:endParaRPr lang="en-US" sz="1300" dirty="0"/>
          </a:p>
        </p:txBody>
      </p:sp>
      <p:sp>
        <p:nvSpPr>
          <p:cNvPr id="6" name="Shape 4"/>
          <p:cNvSpPr/>
          <p:nvPr/>
        </p:nvSpPr>
        <p:spPr>
          <a:xfrm>
            <a:off x="6309360" y="1463040"/>
            <a:ext cx="5394960" cy="1371600"/>
          </a:xfrm>
          <a:prstGeom prst="roundRect">
            <a:avLst>
              <a:gd name="adj" fmla="val 8000"/>
            </a:avLst>
          </a:prstGeom>
          <a:solidFill>
            <a:srgbClr val="F1F2F8"/>
          </a:solidFill>
          <a:ln w="12700">
            <a:solidFill>
              <a:srgbClr val="F1F2F8"/>
            </a:solidFill>
            <a:prstDash val="solid"/>
          </a:ln>
        </p:spPr>
      </p:sp>
      <p:sp>
        <p:nvSpPr>
          <p:cNvPr id="7" name="Text 5"/>
          <p:cNvSpPr txBox="1"/>
          <p:nvPr/>
        </p:nvSpPr>
        <p:spPr>
          <a:xfrm>
            <a:off x="6492240" y="1600200"/>
            <a:ext cx="5029200" cy="411480"/>
          </a:xfrm>
          <a:prstGeom prst="rect">
            <a:avLst/>
          </a:prstGeom>
          <a:noFill/>
          <a:ln/>
        </p:spPr>
        <p:txBody>
          <a:bodyPr wrap="square" lIns="0" tIns="0" rIns="0" bIns="0" rtlCol="0" anchor="ctr"/>
          <a:lstStyle/>
          <a:p>
            <a:pPr indent="0" marL="0">
              <a:buNone/>
            </a:pPr>
            <a:r>
              <a:rPr lang="en-US" sz="1600" b="1" dirty="0">
                <a:solidFill>
                  <a:srgbClr val="1B1F3B"/>
                </a:solidFill>
              </a:rPr>
              <a:t>but the retrieval is exact, not semantic</a:t>
            </a:r>
            <a:endParaRPr lang="en-US" sz="1600" dirty="0"/>
          </a:p>
        </p:txBody>
      </p:sp>
      <p:sp>
        <p:nvSpPr>
          <p:cNvPr id="8" name="Text 6"/>
          <p:cNvSpPr txBox="1"/>
          <p:nvPr/>
        </p:nvSpPr>
        <p:spPr>
          <a:xfrm>
            <a:off x="6492240" y="2029968"/>
            <a:ext cx="5029200" cy="731520"/>
          </a:xfrm>
          <a:prstGeom prst="rect">
            <a:avLst/>
          </a:prstGeom>
          <a:noFill/>
          <a:ln/>
        </p:spPr>
        <p:txBody>
          <a:bodyPr wrap="square" lIns="0" tIns="0" rIns="0" bIns="0" rtlCol="0" anchor="t"/>
          <a:lstStyle/>
          <a:p>
            <a:pPr indent="0" marL="0">
              <a:spcAft>
                <a:spcPts val="300"/>
              </a:spcAft>
              <a:buNone/>
            </a:pPr>
            <a:r>
              <a:rPr lang="en-US" sz="1300" dirty="0">
                <a:solidFill>
                  <a:srgbClr val="4A4F6B"/>
                </a:solidFill>
              </a:rPr>
              <a:t>keyword + symbol search over the code base; no embeddings, no vector store</a:t>
            </a:r>
            <a:endParaRPr lang="en-US" sz="1300" dirty="0"/>
          </a:p>
        </p:txBody>
      </p:sp>
      <p:sp>
        <p:nvSpPr>
          <p:cNvPr id="9" name="Shape 7"/>
          <p:cNvSpPr/>
          <p:nvPr/>
        </p:nvSpPr>
        <p:spPr>
          <a:xfrm>
            <a:off x="640080" y="3108960"/>
            <a:ext cx="5394960" cy="1188720"/>
          </a:xfrm>
          <a:prstGeom prst="roundRect">
            <a:avLst>
              <a:gd name="adj" fmla="val 9231"/>
            </a:avLst>
          </a:prstGeom>
          <a:solidFill>
            <a:srgbClr val="FFFFFF"/>
          </a:solidFill>
          <a:ln w="19050">
            <a:solidFill>
              <a:srgbClr val="6C5CE7"/>
            </a:solidFill>
            <a:prstDash val="solid"/>
          </a:ln>
        </p:spPr>
      </p:sp>
      <p:sp>
        <p:nvSpPr>
          <p:cNvPr id="10" name="Shape 8"/>
          <p:cNvSpPr/>
          <p:nvPr/>
        </p:nvSpPr>
        <p:spPr>
          <a:xfrm>
            <a:off x="822960" y="3410712"/>
            <a:ext cx="548640" cy="548640"/>
          </a:xfrm>
          <a:prstGeom prst="ellipse">
            <a:avLst/>
          </a:prstGeom>
          <a:solidFill>
            <a:srgbClr val="6C5CE7"/>
          </a:solidFill>
          <a:ln w="12700">
            <a:solidFill>
              <a:srgbClr val="6C5CE7"/>
            </a:solidFill>
            <a:prstDash val="solid"/>
          </a:ln>
        </p:spPr>
      </p:sp>
      <p:sp>
        <p:nvSpPr>
          <p:cNvPr id="11" name="Text 9"/>
          <p:cNvSpPr txBox="1"/>
          <p:nvPr/>
        </p:nvSpPr>
        <p:spPr>
          <a:xfrm>
            <a:off x="822960" y="3410712"/>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10"/>
          <p:cNvSpPr txBox="1"/>
          <p:nvPr/>
        </p:nvSpPr>
        <p:spPr>
          <a:xfrm>
            <a:off x="1554480" y="3246120"/>
            <a:ext cx="4297680" cy="365760"/>
          </a:xfrm>
          <a:prstGeom prst="rect">
            <a:avLst/>
          </a:prstGeom>
          <a:noFill/>
          <a:ln/>
        </p:spPr>
        <p:txBody>
          <a:bodyPr wrap="square" lIns="0" tIns="0" rIns="0" bIns="0" rtlCol="0" anchor="t"/>
          <a:lstStyle/>
          <a:p>
            <a:pPr indent="0" marL="0">
              <a:buNone/>
            </a:pPr>
            <a:r>
              <a:rPr lang="en-US" sz="1500" b="1" dirty="0">
                <a:solidFill>
                  <a:srgbClr val="1B1F3B"/>
                </a:solidFill>
              </a:rPr>
              <a:t>We search for names, not meanings</a:t>
            </a:r>
            <a:endParaRPr lang="en-US" sz="1500" dirty="0"/>
          </a:p>
        </p:txBody>
      </p:sp>
      <p:sp>
        <p:nvSpPr>
          <p:cNvPr id="13" name="Text 11"/>
          <p:cNvSpPr txBox="1"/>
          <p:nvPr/>
        </p:nvSpPr>
        <p:spPr>
          <a:xfrm>
            <a:off x="1554480" y="3657600"/>
            <a:ext cx="4297680" cy="548640"/>
          </a:xfrm>
          <a:prstGeom prst="rect">
            <a:avLst/>
          </a:prstGeom>
          <a:noFill/>
          <a:ln/>
        </p:spPr>
        <p:txBody>
          <a:bodyPr wrap="square" lIns="0" tIns="0" rIns="0" bIns="0" rtlCol="0" anchor="t"/>
          <a:lstStyle/>
          <a:p>
            <a:pPr indent="0" marL="0">
              <a:buNone/>
            </a:pPr>
            <a:r>
              <a:rPr lang="en-US" sz="1150" dirty="0">
                <a:solidFill>
                  <a:srgbClr val="4A4F6B"/>
                </a:solidFill>
              </a:rPr>
              <a:t>x_profile_ikg and x_profile_curr_ikg are different files; an embedding calls them the same</a:t>
            </a:r>
            <a:endParaRPr lang="en-US" sz="1150" dirty="0"/>
          </a:p>
        </p:txBody>
      </p:sp>
      <p:sp>
        <p:nvSpPr>
          <p:cNvPr id="14" name="Shape 12"/>
          <p:cNvSpPr/>
          <p:nvPr/>
        </p:nvSpPr>
        <p:spPr>
          <a:xfrm>
            <a:off x="6309360" y="3108960"/>
            <a:ext cx="5394960" cy="1188720"/>
          </a:xfrm>
          <a:prstGeom prst="roundRect">
            <a:avLst>
              <a:gd name="adj" fmla="val 9231"/>
            </a:avLst>
          </a:prstGeom>
          <a:solidFill>
            <a:srgbClr val="FFFFFF"/>
          </a:solidFill>
          <a:ln w="19050">
            <a:solidFill>
              <a:srgbClr val="22B8CF"/>
            </a:solidFill>
            <a:prstDash val="solid"/>
          </a:ln>
        </p:spPr>
      </p:sp>
      <p:sp>
        <p:nvSpPr>
          <p:cNvPr id="15" name="Shape 13"/>
          <p:cNvSpPr/>
          <p:nvPr/>
        </p:nvSpPr>
        <p:spPr>
          <a:xfrm>
            <a:off x="6492240" y="3410712"/>
            <a:ext cx="548640" cy="548640"/>
          </a:xfrm>
          <a:prstGeom prst="ellipse">
            <a:avLst/>
          </a:prstGeom>
          <a:solidFill>
            <a:srgbClr val="22B8CF"/>
          </a:solidFill>
          <a:ln w="12700">
            <a:solidFill>
              <a:srgbClr val="22B8CF"/>
            </a:solidFill>
            <a:prstDash val="solid"/>
          </a:ln>
        </p:spPr>
      </p:sp>
      <p:sp>
        <p:nvSpPr>
          <p:cNvPr id="16" name="Text 14"/>
          <p:cNvSpPr txBox="1"/>
          <p:nvPr/>
        </p:nvSpPr>
        <p:spPr>
          <a:xfrm>
            <a:off x="6492240" y="3410712"/>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5"/>
          <p:cNvSpPr txBox="1"/>
          <p:nvPr/>
        </p:nvSpPr>
        <p:spPr>
          <a:xfrm>
            <a:off x="7223760" y="3246120"/>
            <a:ext cx="4297680" cy="365760"/>
          </a:xfrm>
          <a:prstGeom prst="rect">
            <a:avLst/>
          </a:prstGeom>
          <a:noFill/>
          <a:ln/>
        </p:spPr>
        <p:txBody>
          <a:bodyPr wrap="square" lIns="0" tIns="0" rIns="0" bIns="0" rtlCol="0" anchor="t"/>
          <a:lstStyle/>
          <a:p>
            <a:pPr indent="0" marL="0">
              <a:buNone/>
            </a:pPr>
            <a:r>
              <a:rPr lang="en-US" sz="1500" b="1" dirty="0">
                <a:solidFill>
                  <a:srgbClr val="1B1F3B"/>
                </a:solidFill>
              </a:rPr>
              <a:t>Every result is explainable</a:t>
            </a:r>
            <a:endParaRPr lang="en-US" sz="1500" dirty="0"/>
          </a:p>
        </p:txBody>
      </p:sp>
      <p:sp>
        <p:nvSpPr>
          <p:cNvPr id="18" name="Text 16"/>
          <p:cNvSpPr txBox="1"/>
          <p:nvPr/>
        </p:nvSpPr>
        <p:spPr>
          <a:xfrm>
            <a:off x="7223760" y="3657600"/>
            <a:ext cx="4297680" cy="548640"/>
          </a:xfrm>
          <a:prstGeom prst="rect">
            <a:avLst/>
          </a:prstGeom>
          <a:noFill/>
          <a:ln/>
        </p:spPr>
        <p:txBody>
          <a:bodyPr wrap="square" lIns="0" tIns="0" rIns="0" bIns="0" rtlCol="0" anchor="t"/>
          <a:lstStyle/>
          <a:p>
            <a:pPr indent="0" marL="0">
              <a:buNone/>
            </a:pPr>
            <a:r>
              <a:rPr lang="en-US" sz="1150" dirty="0">
                <a:solidFill>
                  <a:srgbClr val="4A4F6B"/>
                </a:solidFill>
              </a:rPr>
              <a:t>"names the folder and lists its scripts" - a reviewer can check it</a:t>
            </a:r>
            <a:endParaRPr lang="en-US" sz="1150" dirty="0"/>
          </a:p>
        </p:txBody>
      </p:sp>
      <p:sp>
        <p:nvSpPr>
          <p:cNvPr id="19" name="Shape 17"/>
          <p:cNvSpPr/>
          <p:nvPr/>
        </p:nvSpPr>
        <p:spPr>
          <a:xfrm>
            <a:off x="640080" y="4480560"/>
            <a:ext cx="5394960" cy="1188720"/>
          </a:xfrm>
          <a:prstGeom prst="roundRect">
            <a:avLst>
              <a:gd name="adj" fmla="val 9231"/>
            </a:avLst>
          </a:prstGeom>
          <a:solidFill>
            <a:srgbClr val="FFFFFF"/>
          </a:solidFill>
          <a:ln w="19050">
            <a:solidFill>
              <a:srgbClr val="2E9E6B"/>
            </a:solidFill>
            <a:prstDash val="solid"/>
          </a:ln>
        </p:spPr>
      </p:sp>
      <p:sp>
        <p:nvSpPr>
          <p:cNvPr id="20" name="Shape 18"/>
          <p:cNvSpPr/>
          <p:nvPr/>
        </p:nvSpPr>
        <p:spPr>
          <a:xfrm>
            <a:off x="822960" y="4782312"/>
            <a:ext cx="548640" cy="548640"/>
          </a:xfrm>
          <a:prstGeom prst="ellipse">
            <a:avLst/>
          </a:prstGeom>
          <a:solidFill>
            <a:srgbClr val="2E9E6B"/>
          </a:solidFill>
          <a:ln w="12700">
            <a:solidFill>
              <a:srgbClr val="2E9E6B"/>
            </a:solidFill>
            <a:prstDash val="solid"/>
          </a:ln>
        </p:spPr>
      </p:sp>
      <p:sp>
        <p:nvSpPr>
          <p:cNvPr id="21" name="Text 19"/>
          <p:cNvSpPr txBox="1"/>
          <p:nvPr/>
        </p:nvSpPr>
        <p:spPr>
          <a:xfrm>
            <a:off x="822960" y="4782312"/>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20"/>
          <p:cNvSpPr txBox="1"/>
          <p:nvPr/>
        </p:nvSpPr>
        <p:spPr>
          <a:xfrm>
            <a:off x="1554480" y="4617720"/>
            <a:ext cx="4297680" cy="365760"/>
          </a:xfrm>
          <a:prstGeom prst="rect">
            <a:avLst/>
          </a:prstGeom>
          <a:noFill/>
          <a:ln/>
        </p:spPr>
        <p:txBody>
          <a:bodyPr wrap="square" lIns="0" tIns="0" rIns="0" bIns="0" rtlCol="0" anchor="t"/>
          <a:lstStyle/>
          <a:p>
            <a:pPr indent="0" marL="0">
              <a:buNone/>
            </a:pPr>
            <a:r>
              <a:rPr lang="en-US" sz="1500" b="1" dirty="0">
                <a:solidFill>
                  <a:srgbClr val="1B1F3B"/>
                </a:solidFill>
              </a:rPr>
              <a:t>Nothing extra to run</a:t>
            </a:r>
            <a:endParaRPr lang="en-US" sz="1500" dirty="0"/>
          </a:p>
        </p:txBody>
      </p:sp>
      <p:sp>
        <p:nvSpPr>
          <p:cNvPr id="23" name="Text 21"/>
          <p:cNvSpPr txBox="1"/>
          <p:nvPr/>
        </p:nvSpPr>
        <p:spPr>
          <a:xfrm>
            <a:off x="1554480" y="5029200"/>
            <a:ext cx="4297680" cy="548640"/>
          </a:xfrm>
          <a:prstGeom prst="rect">
            <a:avLst/>
          </a:prstGeom>
          <a:noFill/>
          <a:ln/>
        </p:spPr>
        <p:txBody>
          <a:bodyPr wrap="square" lIns="0" tIns="0" rIns="0" bIns="0" rtlCol="0" anchor="t"/>
          <a:lstStyle/>
          <a:p>
            <a:pPr indent="0" marL="0">
              <a:buNone/>
            </a:pPr>
            <a:r>
              <a:rPr lang="en-US" sz="1150" dirty="0">
                <a:solidFill>
                  <a:srgbClr val="4A4F6B"/>
                </a:solidFill>
              </a:rPr>
              <a:t>no service to host, sync or secure; index rebuilt in seconds</a:t>
            </a:r>
            <a:endParaRPr lang="en-US" sz="1150" dirty="0"/>
          </a:p>
        </p:txBody>
      </p:sp>
      <p:sp>
        <p:nvSpPr>
          <p:cNvPr id="24" name="Shape 22"/>
          <p:cNvSpPr/>
          <p:nvPr/>
        </p:nvSpPr>
        <p:spPr>
          <a:xfrm>
            <a:off x="6309360" y="4480560"/>
            <a:ext cx="5394960" cy="1188720"/>
          </a:xfrm>
          <a:prstGeom prst="roundRect">
            <a:avLst>
              <a:gd name="adj" fmla="val 9231"/>
            </a:avLst>
          </a:prstGeom>
          <a:solidFill>
            <a:srgbClr val="FFFFFF"/>
          </a:solidFill>
          <a:ln w="19050">
            <a:solidFill>
              <a:srgbClr val="E6A23C"/>
            </a:solidFill>
            <a:prstDash val="solid"/>
          </a:ln>
        </p:spPr>
      </p:sp>
      <p:sp>
        <p:nvSpPr>
          <p:cNvPr id="25" name="Shape 23"/>
          <p:cNvSpPr/>
          <p:nvPr/>
        </p:nvSpPr>
        <p:spPr>
          <a:xfrm>
            <a:off x="6492240" y="4782312"/>
            <a:ext cx="548640" cy="548640"/>
          </a:xfrm>
          <a:prstGeom prst="ellipse">
            <a:avLst/>
          </a:prstGeom>
          <a:solidFill>
            <a:srgbClr val="E6A23C"/>
          </a:solidFill>
          <a:ln w="12700">
            <a:solidFill>
              <a:srgbClr val="E6A23C"/>
            </a:solidFill>
            <a:prstDash val="solid"/>
          </a:ln>
        </p:spPr>
      </p:sp>
      <p:sp>
        <p:nvSpPr>
          <p:cNvPr id="26" name="Text 24"/>
          <p:cNvSpPr txBox="1"/>
          <p:nvPr/>
        </p:nvSpPr>
        <p:spPr>
          <a:xfrm>
            <a:off x="6492240" y="4782312"/>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5"/>
          <p:cNvSpPr txBox="1"/>
          <p:nvPr/>
        </p:nvSpPr>
        <p:spPr>
          <a:xfrm>
            <a:off x="7223760" y="4617720"/>
            <a:ext cx="4297680" cy="365760"/>
          </a:xfrm>
          <a:prstGeom prst="rect">
            <a:avLst/>
          </a:prstGeom>
          <a:noFill/>
          <a:ln/>
        </p:spPr>
        <p:txBody>
          <a:bodyPr wrap="square" lIns="0" tIns="0" rIns="0" bIns="0" rtlCol="0" anchor="t"/>
          <a:lstStyle/>
          <a:p>
            <a:pPr indent="0" marL="0">
              <a:buNone/>
            </a:pPr>
            <a:r>
              <a:rPr lang="en-US" sz="1500" b="1" dirty="0">
                <a:solidFill>
                  <a:srgbClr val="1B1F3B"/>
                </a:solidFill>
              </a:rPr>
              <a:t>Easy to add later</a:t>
            </a:r>
            <a:endParaRPr lang="en-US" sz="1500" dirty="0"/>
          </a:p>
        </p:txBody>
      </p:sp>
      <p:sp>
        <p:nvSpPr>
          <p:cNvPr id="28" name="Text 26"/>
          <p:cNvSpPr txBox="1"/>
          <p:nvPr/>
        </p:nvSpPr>
        <p:spPr>
          <a:xfrm>
            <a:off x="7223760" y="5029200"/>
            <a:ext cx="4297680" cy="548640"/>
          </a:xfrm>
          <a:prstGeom prst="rect">
            <a:avLst/>
          </a:prstGeom>
          <a:noFill/>
          <a:ln/>
        </p:spPr>
        <p:txBody>
          <a:bodyPr wrap="square" lIns="0" tIns="0" rIns="0" bIns="0" rtlCol="0" anchor="t"/>
          <a:lstStyle/>
          <a:p>
            <a:pPr indent="0" marL="0">
              <a:buNone/>
            </a:pPr>
            <a:r>
              <a:rPr lang="en-US" sz="1150" dirty="0">
                <a:solidFill>
                  <a:srgbClr val="4A4F6B"/>
                </a:solidFill>
              </a:rPr>
              <a:t>for large prose wikis or "similar past stories" - a contained change</a:t>
            </a:r>
            <a:endParaRPr lang="en-US" sz="1150" dirty="0"/>
          </a:p>
        </p:txBody>
      </p:sp>
      <p:sp>
        <p:nvSpPr>
          <p:cNvPr id="29" name="Text 27"/>
          <p:cNvSpPr txBox="1"/>
          <p:nvPr/>
        </p:nvSpPr>
        <p:spPr>
          <a:xfrm>
            <a:off x="640080" y="5989320"/>
            <a:ext cx="10972800" cy="365760"/>
          </a:xfrm>
          <a:prstGeom prst="rect">
            <a:avLst/>
          </a:prstGeom>
          <a:noFill/>
          <a:ln/>
        </p:spPr>
        <p:txBody>
          <a:bodyPr wrap="square" lIns="0" tIns="0" rIns="0" bIns="0" rtlCol="0" anchor="t"/>
          <a:lstStyle/>
          <a:p>
            <a:pPr indent="0" marL="0">
              <a:buNone/>
            </a:pPr>
            <a:r>
              <a:rPr lang="en-US" sz="1300" i="1" dirty="0">
                <a:solidFill>
                  <a:srgbClr val="6C5CE7"/>
                </a:solidFill>
              </a:rPr>
              <a:t>Chosen, not omitted.</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Context pack and the two caches</a:t>
            </a:r>
            <a:endParaRPr lang="en-US" sz="3000" dirty="0"/>
          </a:p>
        </p:txBody>
      </p:sp>
      <p:sp>
        <p:nvSpPr>
          <p:cNvPr id="3" name="Text 1"/>
          <p:cNvSpPr txBox="1"/>
          <p:nvPr/>
        </p:nvSpPr>
        <p:spPr>
          <a:xfrm>
            <a:off x="640080" y="1234440"/>
            <a:ext cx="11155680" cy="548640"/>
          </a:xfrm>
          <a:prstGeom prst="rect">
            <a:avLst/>
          </a:prstGeom>
          <a:noFill/>
          <a:ln/>
        </p:spPr>
        <p:txBody>
          <a:bodyPr wrap="square" lIns="0" tIns="0" rIns="0" bIns="0" rtlCol="0" anchor="t"/>
          <a:lstStyle/>
          <a:p>
            <a:pPr indent="0" marL="0">
              <a:buNone/>
            </a:pPr>
            <a:r>
              <a:rPr lang="en-US" sz="1350" dirty="0">
                <a:solidFill>
                  <a:srgbClr val="4A4F6B"/>
                </a:solidFill>
              </a:rPr>
              <a:t>The model knows nothing about UBS. Everything it answers from is put in front of it for that one call: that is the context. The four readers write it down once as the context pack.</a:t>
            </a:r>
            <a:endParaRPr lang="en-US" sz="1350" dirty="0"/>
          </a:p>
        </p:txBody>
      </p:sp>
      <p:sp>
        <p:nvSpPr>
          <p:cNvPr id="4" name="Shape 2"/>
          <p:cNvSpPr/>
          <p:nvPr/>
        </p:nvSpPr>
        <p:spPr>
          <a:xfrm>
            <a:off x="640080" y="2011680"/>
            <a:ext cx="3108960" cy="731520"/>
          </a:xfrm>
          <a:prstGeom prst="roundRect">
            <a:avLst>
              <a:gd name="adj" fmla="val 12500"/>
            </a:avLst>
          </a:prstGeom>
          <a:solidFill>
            <a:srgbClr val="FFFFFF"/>
          </a:solidFill>
          <a:ln w="19050">
            <a:solidFill>
              <a:srgbClr val="22B8CF"/>
            </a:solidFill>
            <a:prstDash val="solid"/>
          </a:ln>
        </p:spPr>
      </p:sp>
      <p:sp>
        <p:nvSpPr>
          <p:cNvPr id="5" name="Text 3"/>
          <p:cNvSpPr txBox="1"/>
          <p:nvPr/>
        </p:nvSpPr>
        <p:spPr>
          <a:xfrm>
            <a:off x="822960" y="2103120"/>
            <a:ext cx="2743200" cy="274320"/>
          </a:xfrm>
          <a:prstGeom prst="rect">
            <a:avLst/>
          </a:prstGeom>
          <a:noFill/>
          <a:ln/>
        </p:spPr>
        <p:txBody>
          <a:bodyPr wrap="square" lIns="0" tIns="0" rIns="0" bIns="0" rtlCol="0" anchor="t"/>
          <a:lstStyle/>
          <a:p>
            <a:pPr indent="0" marL="0">
              <a:buNone/>
            </a:pPr>
            <a:r>
              <a:rPr lang="en-US" sz="1300" b="1" dirty="0">
                <a:solidFill>
                  <a:srgbClr val="22B8CF"/>
                </a:solidFill>
              </a:rPr>
              <a:t>Story</a:t>
            </a:r>
            <a:endParaRPr lang="en-US" sz="1300" dirty="0"/>
          </a:p>
        </p:txBody>
      </p:sp>
      <p:sp>
        <p:nvSpPr>
          <p:cNvPr id="6" name="Text 4"/>
          <p:cNvSpPr txBox="1"/>
          <p:nvPr/>
        </p:nvSpPr>
        <p:spPr>
          <a:xfrm>
            <a:off x="822960" y="2395728"/>
            <a:ext cx="2834640" cy="274320"/>
          </a:xfrm>
          <a:prstGeom prst="rect">
            <a:avLst/>
          </a:prstGeom>
          <a:noFill/>
          <a:ln/>
        </p:spPr>
        <p:txBody>
          <a:bodyPr wrap="square" lIns="0" tIns="0" rIns="0" bIns="0" rtlCol="0" anchor="t"/>
          <a:lstStyle/>
          <a:p>
            <a:pPr indent="0" marL="0">
              <a:buNone/>
            </a:pPr>
            <a:r>
              <a:rPr lang="en-US" sz="1050" dirty="0">
                <a:solidFill>
                  <a:srgbClr val="4A4F6B"/>
                </a:solidFill>
              </a:rPr>
              <a:t>requirements · tables · SQL</a:t>
            </a:r>
            <a:endParaRPr lang="en-US" sz="1050" dirty="0"/>
          </a:p>
        </p:txBody>
      </p:sp>
      <p:sp>
        <p:nvSpPr>
          <p:cNvPr id="7" name="Shape 5"/>
          <p:cNvSpPr/>
          <p:nvPr/>
        </p:nvSpPr>
        <p:spPr>
          <a:xfrm>
            <a:off x="3749040" y="2377440"/>
            <a:ext cx="731520" cy="9144"/>
          </a:xfrm>
          <a:prstGeom prst="line">
            <a:avLst/>
          </a:prstGeom>
          <a:noFill/>
          <a:ln w="19050">
            <a:solidFill>
              <a:srgbClr val="22B8CF"/>
            </a:solidFill>
            <a:prstDash val="solid"/>
            <a:tailEnd type="triangle"/>
          </a:ln>
        </p:spPr>
      </p:sp>
      <p:sp>
        <p:nvSpPr>
          <p:cNvPr id="8" name="Shape 6"/>
          <p:cNvSpPr/>
          <p:nvPr/>
        </p:nvSpPr>
        <p:spPr>
          <a:xfrm>
            <a:off x="640080" y="2880360"/>
            <a:ext cx="3108960" cy="731520"/>
          </a:xfrm>
          <a:prstGeom prst="roundRect">
            <a:avLst>
              <a:gd name="adj" fmla="val 12500"/>
            </a:avLst>
          </a:prstGeom>
          <a:solidFill>
            <a:srgbClr val="FFFFFF"/>
          </a:solidFill>
          <a:ln w="19050">
            <a:solidFill>
              <a:srgbClr val="E6A23C"/>
            </a:solidFill>
            <a:prstDash val="solid"/>
          </a:ln>
        </p:spPr>
      </p:sp>
      <p:sp>
        <p:nvSpPr>
          <p:cNvPr id="9" name="Text 7"/>
          <p:cNvSpPr txBox="1"/>
          <p:nvPr/>
        </p:nvSpPr>
        <p:spPr>
          <a:xfrm>
            <a:off x="822960" y="2971800"/>
            <a:ext cx="2743200" cy="274320"/>
          </a:xfrm>
          <a:prstGeom prst="rect">
            <a:avLst/>
          </a:prstGeom>
          <a:noFill/>
          <a:ln/>
        </p:spPr>
        <p:txBody>
          <a:bodyPr wrap="square" lIns="0" tIns="0" rIns="0" bIns="0" rtlCol="0" anchor="t"/>
          <a:lstStyle/>
          <a:p>
            <a:pPr indent="0" marL="0">
              <a:buNone/>
            </a:pPr>
            <a:r>
              <a:rPr lang="en-US" sz="1300" b="1" dirty="0">
                <a:solidFill>
                  <a:srgbClr val="E6A23C"/>
                </a:solidFill>
              </a:rPr>
              <a:t>Knowledge</a:t>
            </a:r>
            <a:endParaRPr lang="en-US" sz="1300" dirty="0"/>
          </a:p>
        </p:txBody>
      </p:sp>
      <p:sp>
        <p:nvSpPr>
          <p:cNvPr id="10" name="Text 8"/>
          <p:cNvSpPr txBox="1"/>
          <p:nvPr/>
        </p:nvSpPr>
        <p:spPr>
          <a:xfrm>
            <a:off x="822960" y="3264408"/>
            <a:ext cx="2834640" cy="274320"/>
          </a:xfrm>
          <a:prstGeom prst="rect">
            <a:avLst/>
          </a:prstGeom>
          <a:noFill/>
          <a:ln/>
        </p:spPr>
        <p:txBody>
          <a:bodyPr wrap="square" lIns="0" tIns="0" rIns="0" bIns="0" rtlCol="0" anchor="t"/>
          <a:lstStyle/>
          <a:p>
            <a:pPr indent="0" marL="0">
              <a:buNone/>
            </a:pPr>
            <a:r>
              <a:rPr lang="en-US" sz="1050" dirty="0">
                <a:solidFill>
                  <a:srgbClr val="4A4F6B"/>
                </a:solidFill>
              </a:rPr>
              <a:t>conventions · rules · exceptions</a:t>
            </a:r>
            <a:endParaRPr lang="en-US" sz="1050" dirty="0"/>
          </a:p>
        </p:txBody>
      </p:sp>
      <p:sp>
        <p:nvSpPr>
          <p:cNvPr id="11" name="Shape 9"/>
          <p:cNvSpPr/>
          <p:nvPr/>
        </p:nvSpPr>
        <p:spPr>
          <a:xfrm>
            <a:off x="3749040" y="3246120"/>
            <a:ext cx="731520" cy="9144"/>
          </a:xfrm>
          <a:prstGeom prst="line">
            <a:avLst/>
          </a:prstGeom>
          <a:noFill/>
          <a:ln w="19050">
            <a:solidFill>
              <a:srgbClr val="E6A23C"/>
            </a:solidFill>
            <a:prstDash val="solid"/>
            <a:tailEnd type="triangle"/>
          </a:ln>
        </p:spPr>
      </p:sp>
      <p:sp>
        <p:nvSpPr>
          <p:cNvPr id="12" name="Shape 10"/>
          <p:cNvSpPr/>
          <p:nvPr/>
        </p:nvSpPr>
        <p:spPr>
          <a:xfrm>
            <a:off x="640080" y="3749040"/>
            <a:ext cx="3108960" cy="731520"/>
          </a:xfrm>
          <a:prstGeom prst="roundRect">
            <a:avLst>
              <a:gd name="adj" fmla="val 12500"/>
            </a:avLst>
          </a:prstGeom>
          <a:solidFill>
            <a:srgbClr val="FFFFFF"/>
          </a:solidFill>
          <a:ln w="19050">
            <a:solidFill>
              <a:srgbClr val="2E9E6B"/>
            </a:solidFill>
            <a:prstDash val="solid"/>
          </a:ln>
        </p:spPr>
      </p:sp>
      <p:sp>
        <p:nvSpPr>
          <p:cNvPr id="13" name="Text 11"/>
          <p:cNvSpPr txBox="1"/>
          <p:nvPr/>
        </p:nvSpPr>
        <p:spPr>
          <a:xfrm>
            <a:off x="822960" y="3840480"/>
            <a:ext cx="2743200" cy="274320"/>
          </a:xfrm>
          <a:prstGeom prst="rect">
            <a:avLst/>
          </a:prstGeom>
          <a:noFill/>
          <a:ln/>
        </p:spPr>
        <p:txBody>
          <a:bodyPr wrap="square" lIns="0" tIns="0" rIns="0" bIns="0" rtlCol="0" anchor="t"/>
          <a:lstStyle/>
          <a:p>
            <a:pPr indent="0" marL="0">
              <a:buNone/>
            </a:pPr>
            <a:r>
              <a:rPr lang="en-US" sz="1300" b="1" dirty="0">
                <a:solidFill>
                  <a:srgbClr val="2E9E6B"/>
                </a:solidFill>
              </a:rPr>
              <a:t>Data</a:t>
            </a:r>
            <a:endParaRPr lang="en-US" sz="1300" dirty="0"/>
          </a:p>
        </p:txBody>
      </p:sp>
      <p:sp>
        <p:nvSpPr>
          <p:cNvPr id="14" name="Text 12"/>
          <p:cNvSpPr txBox="1"/>
          <p:nvPr/>
        </p:nvSpPr>
        <p:spPr>
          <a:xfrm>
            <a:off x="822960" y="4133088"/>
            <a:ext cx="2834640" cy="274320"/>
          </a:xfrm>
          <a:prstGeom prst="rect">
            <a:avLst/>
          </a:prstGeom>
          <a:noFill/>
          <a:ln/>
        </p:spPr>
        <p:txBody>
          <a:bodyPr wrap="square" lIns="0" tIns="0" rIns="0" bIns="0" rtlCol="0" anchor="t"/>
          <a:lstStyle/>
          <a:p>
            <a:pPr indent="0" marL="0">
              <a:buNone/>
            </a:pPr>
            <a:r>
              <a:rPr lang="en-US" sz="1050" dirty="0">
                <a:solidFill>
                  <a:srgbClr val="4A4F6B"/>
                </a:solidFill>
              </a:rPr>
              <a:t>columns · keys · samples</a:t>
            </a:r>
            <a:endParaRPr lang="en-US" sz="1050" dirty="0"/>
          </a:p>
        </p:txBody>
      </p:sp>
      <p:sp>
        <p:nvSpPr>
          <p:cNvPr id="15" name="Shape 13"/>
          <p:cNvSpPr/>
          <p:nvPr/>
        </p:nvSpPr>
        <p:spPr>
          <a:xfrm>
            <a:off x="3749040" y="4114800"/>
            <a:ext cx="731520" cy="9144"/>
          </a:xfrm>
          <a:prstGeom prst="line">
            <a:avLst/>
          </a:prstGeom>
          <a:noFill/>
          <a:ln w="19050">
            <a:solidFill>
              <a:srgbClr val="2E9E6B"/>
            </a:solidFill>
            <a:prstDash val="solid"/>
            <a:tailEnd type="triangle"/>
          </a:ln>
        </p:spPr>
      </p:sp>
      <p:sp>
        <p:nvSpPr>
          <p:cNvPr id="16" name="Shape 14"/>
          <p:cNvSpPr/>
          <p:nvPr/>
        </p:nvSpPr>
        <p:spPr>
          <a:xfrm>
            <a:off x="640080" y="4617720"/>
            <a:ext cx="3108960" cy="731520"/>
          </a:xfrm>
          <a:prstGeom prst="roundRect">
            <a:avLst>
              <a:gd name="adj" fmla="val 12500"/>
            </a:avLst>
          </a:prstGeom>
          <a:solidFill>
            <a:srgbClr val="FFFFFF"/>
          </a:solidFill>
          <a:ln w="19050">
            <a:solidFill>
              <a:srgbClr val="6C5CE7"/>
            </a:solidFill>
            <a:prstDash val="solid"/>
          </a:ln>
        </p:spPr>
      </p:sp>
      <p:sp>
        <p:nvSpPr>
          <p:cNvPr id="17" name="Text 15"/>
          <p:cNvSpPr txBox="1"/>
          <p:nvPr/>
        </p:nvSpPr>
        <p:spPr>
          <a:xfrm>
            <a:off x="822960" y="4709160"/>
            <a:ext cx="2743200" cy="274320"/>
          </a:xfrm>
          <a:prstGeom prst="rect">
            <a:avLst/>
          </a:prstGeom>
          <a:noFill/>
          <a:ln/>
        </p:spPr>
        <p:txBody>
          <a:bodyPr wrap="square" lIns="0" tIns="0" rIns="0" bIns="0" rtlCol="0" anchor="t"/>
          <a:lstStyle/>
          <a:p>
            <a:pPr indent="0" marL="0">
              <a:buNone/>
            </a:pPr>
            <a:r>
              <a:rPr lang="en-US" sz="1300" b="1" dirty="0">
                <a:solidFill>
                  <a:srgbClr val="6C5CE7"/>
                </a:solidFill>
              </a:rPr>
              <a:t>Repo</a:t>
            </a:r>
            <a:endParaRPr lang="en-US" sz="1300" dirty="0"/>
          </a:p>
        </p:txBody>
      </p:sp>
      <p:sp>
        <p:nvSpPr>
          <p:cNvPr id="18" name="Text 16"/>
          <p:cNvSpPr txBox="1"/>
          <p:nvPr/>
        </p:nvSpPr>
        <p:spPr>
          <a:xfrm>
            <a:off x="822960" y="5001768"/>
            <a:ext cx="2834640" cy="274320"/>
          </a:xfrm>
          <a:prstGeom prst="rect">
            <a:avLst/>
          </a:prstGeom>
          <a:noFill/>
          <a:ln/>
        </p:spPr>
        <p:txBody>
          <a:bodyPr wrap="square" lIns="0" tIns="0" rIns="0" bIns="0" rtlCol="0" anchor="t"/>
          <a:lstStyle/>
          <a:p>
            <a:pPr indent="0" marL="0">
              <a:buNone/>
            </a:pPr>
            <a:r>
              <a:rPr lang="en-US" sz="1050" dirty="0">
                <a:solidFill>
                  <a:srgbClr val="4A4F6B"/>
                </a:solidFill>
              </a:rPr>
              <a:t>patterns · registrations · companions</a:t>
            </a:r>
            <a:endParaRPr lang="en-US" sz="1050" dirty="0"/>
          </a:p>
        </p:txBody>
      </p:sp>
      <p:sp>
        <p:nvSpPr>
          <p:cNvPr id="19" name="Shape 17"/>
          <p:cNvSpPr/>
          <p:nvPr/>
        </p:nvSpPr>
        <p:spPr>
          <a:xfrm>
            <a:off x="3749040" y="4983480"/>
            <a:ext cx="731520" cy="9144"/>
          </a:xfrm>
          <a:prstGeom prst="line">
            <a:avLst/>
          </a:prstGeom>
          <a:noFill/>
          <a:ln w="19050">
            <a:solidFill>
              <a:srgbClr val="6C5CE7"/>
            </a:solidFill>
            <a:prstDash val="solid"/>
            <a:tailEnd type="triangle"/>
          </a:ln>
        </p:spPr>
      </p:sp>
      <p:sp>
        <p:nvSpPr>
          <p:cNvPr id="20" name="Shape 18"/>
          <p:cNvSpPr/>
          <p:nvPr/>
        </p:nvSpPr>
        <p:spPr>
          <a:xfrm>
            <a:off x="4480560" y="2011680"/>
            <a:ext cx="2377440" cy="3337560"/>
          </a:xfrm>
          <a:prstGeom prst="roundRect">
            <a:avLst>
              <a:gd name="adj" fmla="val 4615"/>
            </a:avLst>
          </a:prstGeom>
          <a:solidFill>
            <a:srgbClr val="6C5CE7"/>
          </a:solidFill>
          <a:ln w="12700">
            <a:solidFill>
              <a:srgbClr val="6C5CE7"/>
            </a:solidFill>
            <a:prstDash val="solid"/>
          </a:ln>
        </p:spPr>
      </p:sp>
      <p:sp>
        <p:nvSpPr>
          <p:cNvPr id="21" name="Text 19"/>
          <p:cNvSpPr txBox="1"/>
          <p:nvPr/>
        </p:nvSpPr>
        <p:spPr>
          <a:xfrm>
            <a:off x="4480560" y="2286000"/>
            <a:ext cx="2377440" cy="365760"/>
          </a:xfrm>
          <a:prstGeom prst="rect">
            <a:avLst/>
          </a:prstGeom>
          <a:noFill/>
          <a:ln/>
        </p:spPr>
        <p:txBody>
          <a:bodyPr wrap="square" lIns="0" tIns="0" rIns="0" bIns="0" rtlCol="0" anchor="t"/>
          <a:lstStyle/>
          <a:p>
            <a:pPr algn="ctr" indent="0" marL="0">
              <a:buNone/>
            </a:pPr>
            <a:r>
              <a:rPr lang="en-US" sz="1400" b="1" dirty="0">
                <a:solidFill>
                  <a:srgbClr val="FFFFFF"/>
                </a:solidFill>
              </a:rPr>
              <a:t>CONTEXT PACK</a:t>
            </a:r>
            <a:endParaRPr lang="en-US" sz="1400" dirty="0"/>
          </a:p>
        </p:txBody>
      </p:sp>
      <p:sp>
        <p:nvSpPr>
          <p:cNvPr id="22" name="Text 20"/>
          <p:cNvSpPr txBox="1"/>
          <p:nvPr/>
        </p:nvSpPr>
        <p:spPr>
          <a:xfrm>
            <a:off x="4572000" y="2743200"/>
            <a:ext cx="2194560" cy="2468880"/>
          </a:xfrm>
          <a:prstGeom prst="rect">
            <a:avLst/>
          </a:prstGeom>
          <a:noFill/>
          <a:ln/>
        </p:spPr>
        <p:txBody>
          <a:bodyPr wrap="square" lIns="0" tIns="0" rIns="0" bIns="0" rtlCol="0" anchor="t"/>
          <a:lstStyle/>
          <a:p>
            <a:pPr algn="ctr" indent="0" marL="0">
              <a:buNone/>
            </a:pPr>
            <a:r>
              <a:rPr lang="en-US" sz="1100" dirty="0">
                <a:solidFill>
                  <a:srgbClr val="ECEAFF"/>
                </a:solidFill>
              </a:rPr>
              <a:t>pack.json</a:t>
            </a:r>
            <a:endParaRPr lang="en-US" sz="1100" dirty="0"/>
          </a:p>
          <a:p>
            <a:pPr algn="ctr" indent="0" marL="0">
              <a:buNone/>
            </a:pPr>
            <a:r>
              <a:rPr lang="en-US" sz="1100" dirty="0">
                <a:solidFill>
                  <a:srgbClr val="ECEAFF"/>
                </a:solidFill>
              </a:rPr>
              <a:t>one briefing</a:t>
            </a:r>
            <a:endParaRPr lang="en-US" sz="1100" dirty="0"/>
          </a:p>
          <a:p>
            <a:pPr algn="ctr" indent="0" marL="0">
              <a:buNone/>
            </a:pPr>
            <a:r>
              <a:rPr lang="en-US" sz="1100" dirty="0">
                <a:solidFill>
                  <a:srgbClr val="ECEAFF"/>
                </a:solidFill>
              </a:rPr>
              <a:t>read by planner, coder, reviewer</a:t>
            </a:r>
            <a:endParaRPr lang="en-US" sz="1100" dirty="0"/>
          </a:p>
          <a:p>
            <a:pPr algn="ctr" indent="0" marL="0">
              <a:buNone/>
            </a:pPr>
            <a:endParaRPr lang="en-US" sz="1100" dirty="0"/>
          </a:p>
          <a:p>
            <a:pPr algn="ctr" indent="0" marL="0">
              <a:buNone/>
            </a:pPr>
            <a:r>
              <a:rPr lang="en-US" sz="1100" dirty="0">
                <a:solidFill>
                  <a:srgbClr val="ECEAFF"/>
                </a:solidFill>
              </a:rPr>
              <a:t>"Sources used" on the Plan tab = its table of contents</a:t>
            </a:r>
            <a:endParaRPr lang="en-US" sz="1100" dirty="0"/>
          </a:p>
        </p:txBody>
      </p:sp>
      <p:sp>
        <p:nvSpPr>
          <p:cNvPr id="23" name="Shape 21"/>
          <p:cNvSpPr/>
          <p:nvPr/>
        </p:nvSpPr>
        <p:spPr>
          <a:xfrm>
            <a:off x="6858000" y="3657600"/>
            <a:ext cx="731520" cy="9144"/>
          </a:xfrm>
          <a:prstGeom prst="line">
            <a:avLst/>
          </a:prstGeom>
          <a:noFill/>
          <a:ln w="19050">
            <a:solidFill>
              <a:srgbClr val="6C5CE7"/>
            </a:solidFill>
            <a:prstDash val="solid"/>
            <a:tailEnd type="triangle"/>
          </a:ln>
        </p:spPr>
      </p:sp>
      <p:sp>
        <p:nvSpPr>
          <p:cNvPr id="24" name="Shape 22"/>
          <p:cNvSpPr/>
          <p:nvPr/>
        </p:nvSpPr>
        <p:spPr>
          <a:xfrm>
            <a:off x="7589520" y="2011680"/>
            <a:ext cx="4206240" cy="1554480"/>
          </a:xfrm>
          <a:prstGeom prst="roundRect">
            <a:avLst>
              <a:gd name="adj" fmla="val 7059"/>
            </a:avLst>
          </a:prstGeom>
          <a:solidFill>
            <a:srgbClr val="F1F2F8"/>
          </a:solidFill>
          <a:ln w="12700">
            <a:solidFill>
              <a:srgbClr val="F1F2F8"/>
            </a:solidFill>
            <a:prstDash val="solid"/>
          </a:ln>
        </p:spPr>
      </p:sp>
      <p:sp>
        <p:nvSpPr>
          <p:cNvPr id="25" name="Text 23"/>
          <p:cNvSpPr txBox="1"/>
          <p:nvPr/>
        </p:nvSpPr>
        <p:spPr>
          <a:xfrm>
            <a:off x="7772400" y="2148840"/>
            <a:ext cx="3840480" cy="411480"/>
          </a:xfrm>
          <a:prstGeom prst="rect">
            <a:avLst/>
          </a:prstGeom>
          <a:noFill/>
          <a:ln/>
        </p:spPr>
        <p:txBody>
          <a:bodyPr wrap="square" lIns="0" tIns="0" rIns="0" bIns="0" rtlCol="0" anchor="ctr"/>
          <a:lstStyle/>
          <a:p>
            <a:pPr indent="0" marL="0">
              <a:buNone/>
            </a:pPr>
            <a:r>
              <a:rPr lang="en-US" sz="1400" b="1" dirty="0">
                <a:solidFill>
                  <a:srgbClr val="1B1F3B"/>
                </a:solidFill>
              </a:rPr>
              <a:t>Result cache (ours)</a:t>
            </a:r>
            <a:endParaRPr lang="en-US" sz="1400" dirty="0"/>
          </a:p>
        </p:txBody>
      </p:sp>
      <p:sp>
        <p:nvSpPr>
          <p:cNvPr id="26" name="Text 24"/>
          <p:cNvSpPr txBox="1"/>
          <p:nvPr/>
        </p:nvSpPr>
        <p:spPr>
          <a:xfrm>
            <a:off x="7772400" y="2578608"/>
            <a:ext cx="3840480" cy="91440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4A4F6B"/>
                </a:solidFill>
              </a:rPr>
              <a:t>readers' JSON stored under a fingerprint of their inputs</a:t>
            </a:r>
            <a:endParaRPr lang="en-US" sz="1100" dirty="0"/>
          </a:p>
          <a:p>
            <a:pPr marL="342900" indent="-342900">
              <a:spcAft>
                <a:spcPts val="300"/>
              </a:spcAft>
              <a:buSzPct val="100000"/>
              <a:buChar char="•"/>
            </a:pPr>
            <a:r>
              <a:rPr lang="en-US" sz="1100" dirty="0">
                <a:solidFill>
                  <a:srgbClr val="4A4F6B"/>
                </a:solidFill>
              </a:rPr>
              <a:t>same documents / tables / repo → 0 calls, 0 tokens</a:t>
            </a:r>
            <a:endParaRPr lang="en-US" sz="1100" dirty="0"/>
          </a:p>
          <a:p>
            <a:pPr marL="342900" indent="-342900">
              <a:spcAft>
                <a:spcPts val="300"/>
              </a:spcAft>
              <a:buSzPct val="100000"/>
              <a:buChar char="•"/>
            </a:pPr>
            <a:r>
              <a:rPr lang="en-US" sz="1100" dirty="0">
                <a:solidFill>
                  <a:srgbClr val="4A4F6B"/>
                </a:solidFill>
              </a:rPr>
              <a:t>knowledge keyed without the story → shared across stories</a:t>
            </a:r>
            <a:endParaRPr lang="en-US" sz="1100" dirty="0"/>
          </a:p>
        </p:txBody>
      </p:sp>
      <p:sp>
        <p:nvSpPr>
          <p:cNvPr id="27" name="Shape 25"/>
          <p:cNvSpPr/>
          <p:nvPr/>
        </p:nvSpPr>
        <p:spPr>
          <a:xfrm>
            <a:off x="7589520" y="3794760"/>
            <a:ext cx="4206240" cy="1554480"/>
          </a:xfrm>
          <a:prstGeom prst="roundRect">
            <a:avLst>
              <a:gd name="adj" fmla="val 7059"/>
            </a:avLst>
          </a:prstGeom>
          <a:solidFill>
            <a:srgbClr val="F1F2F8"/>
          </a:solidFill>
          <a:ln w="12700">
            <a:solidFill>
              <a:srgbClr val="F1F2F8"/>
            </a:solidFill>
            <a:prstDash val="solid"/>
          </a:ln>
        </p:spPr>
      </p:sp>
      <p:sp>
        <p:nvSpPr>
          <p:cNvPr id="28" name="Text 26"/>
          <p:cNvSpPr txBox="1"/>
          <p:nvPr/>
        </p:nvSpPr>
        <p:spPr>
          <a:xfrm>
            <a:off x="7772400" y="3931920"/>
            <a:ext cx="3840480" cy="411480"/>
          </a:xfrm>
          <a:prstGeom prst="rect">
            <a:avLst/>
          </a:prstGeom>
          <a:noFill/>
          <a:ln/>
        </p:spPr>
        <p:txBody>
          <a:bodyPr wrap="square" lIns="0" tIns="0" rIns="0" bIns="0" rtlCol="0" anchor="ctr"/>
          <a:lstStyle/>
          <a:p>
            <a:pPr indent="0" marL="0">
              <a:buNone/>
            </a:pPr>
            <a:r>
              <a:rPr lang="en-US" sz="1400" b="1" dirty="0">
                <a:solidFill>
                  <a:srgbClr val="1B1F3B"/>
                </a:solidFill>
              </a:rPr>
              <a:t>Prompt cache (Azure)</a:t>
            </a:r>
            <a:endParaRPr lang="en-US" sz="1400" dirty="0"/>
          </a:p>
        </p:txBody>
      </p:sp>
      <p:sp>
        <p:nvSpPr>
          <p:cNvPr id="29" name="Text 27"/>
          <p:cNvSpPr txBox="1"/>
          <p:nvPr/>
        </p:nvSpPr>
        <p:spPr>
          <a:xfrm>
            <a:off x="7772400" y="4361688"/>
            <a:ext cx="3840480" cy="91440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4A4F6B"/>
                </a:solidFill>
              </a:rPr>
              <a:t>every agent step re-sends its whole conversation</a:t>
            </a:r>
            <a:endParaRPr lang="en-US" sz="1100" dirty="0"/>
          </a:p>
          <a:p>
            <a:pPr marL="342900" indent="-342900">
              <a:spcAft>
                <a:spcPts val="300"/>
              </a:spcAft>
              <a:buSzPct val="100000"/>
              <a:buChar char="•"/>
            </a:pPr>
            <a:r>
              <a:rPr lang="en-US" sz="1100" dirty="0">
                <a:solidFill>
                  <a:srgbClr val="4A4F6B"/>
                </a:solidFill>
              </a:rPr>
              <a:t>the identical prefix is billed at 1/10 price</a:t>
            </a:r>
            <a:endParaRPr lang="en-US" sz="1100" dirty="0"/>
          </a:p>
          <a:p>
            <a:pPr marL="342900" indent="-342900">
              <a:spcAft>
                <a:spcPts val="300"/>
              </a:spcAft>
              <a:buSzPct val="100000"/>
              <a:buChar char="•"/>
            </a:pPr>
            <a:r>
              <a:rPr lang="en-US" sz="1100" dirty="0">
                <a:solidFill>
                  <a:srgbClr val="4A4F6B"/>
                </a:solidFill>
              </a:rPr>
              <a:t>shows as "cached input tokens" - the cheap part</a:t>
            </a:r>
            <a:endParaRPr lang="en-US" sz="1100" dirty="0"/>
          </a:p>
        </p:txBody>
      </p:sp>
      <p:sp>
        <p:nvSpPr>
          <p:cNvPr id="30" name="Text 28"/>
          <p:cNvSpPr txBox="1"/>
          <p:nvPr/>
        </p:nvSpPr>
        <p:spPr>
          <a:xfrm>
            <a:off x="640080" y="5669280"/>
            <a:ext cx="11155680" cy="365760"/>
          </a:xfrm>
          <a:prstGeom prst="rect">
            <a:avLst/>
          </a:prstGeom>
          <a:noFill/>
          <a:ln/>
        </p:spPr>
        <p:txBody>
          <a:bodyPr wrap="square" lIns="0" tIns="0" rIns="0" bIns="0" rtlCol="0" anchor="t"/>
          <a:lstStyle/>
          <a:p>
            <a:pPr indent="0" marL="0">
              <a:buNone/>
            </a:pPr>
            <a:r>
              <a:rPr lang="en-US" sz="1250" i="1" dirty="0">
                <a:solidFill>
                  <a:srgbClr val="6C5CE7"/>
                </a:solidFill>
              </a:rPr>
              <a:t>Planner, coder and reviewer are never cached: their answer depends on the story and the code being written now.</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What a story costs: reading the Tokens tab</a:t>
            </a:r>
            <a:endParaRPr lang="en-US" sz="3000" dirty="0"/>
          </a:p>
        </p:txBody>
      </p:sp>
      <p:sp>
        <p:nvSpPr>
          <p:cNvPr id="3" name="Text 1"/>
          <p:cNvSpPr txBox="1"/>
          <p:nvPr/>
        </p:nvSpPr>
        <p:spPr>
          <a:xfrm>
            <a:off x="640080" y="1371600"/>
            <a:ext cx="2743200" cy="822960"/>
          </a:xfrm>
          <a:prstGeom prst="rect">
            <a:avLst/>
          </a:prstGeom>
          <a:noFill/>
          <a:ln/>
        </p:spPr>
        <p:txBody>
          <a:bodyPr wrap="square" lIns="0" tIns="0" rIns="0" bIns="0" rtlCol="0" anchor="t"/>
          <a:lstStyle/>
          <a:p>
            <a:pPr indent="0" marL="0">
              <a:buNone/>
            </a:pPr>
            <a:r>
              <a:rPr lang="en-US" sz="4400" b="1" dirty="0">
                <a:solidFill>
                  <a:srgbClr val="22B8CF"/>
                </a:solidFill>
                <a:latin typeface="Cambria" pitchFamily="34" charset="0"/>
                <a:ea typeface="Cambria" pitchFamily="34" charset="-122"/>
                <a:cs typeface="Cambria" pitchFamily="34" charset="-120"/>
              </a:rPr>
              <a:t>99k</a:t>
            </a:r>
            <a:endParaRPr lang="en-US" sz="4400" dirty="0"/>
          </a:p>
        </p:txBody>
      </p:sp>
      <p:sp>
        <p:nvSpPr>
          <p:cNvPr id="4" name="Text 2"/>
          <p:cNvSpPr txBox="1"/>
          <p:nvPr/>
        </p:nvSpPr>
        <p:spPr>
          <a:xfrm>
            <a:off x="640080" y="2240280"/>
            <a:ext cx="2743200" cy="640080"/>
          </a:xfrm>
          <a:prstGeom prst="rect">
            <a:avLst/>
          </a:prstGeom>
          <a:noFill/>
          <a:ln/>
        </p:spPr>
        <p:txBody>
          <a:bodyPr wrap="square" lIns="0" tIns="0" rIns="0" bIns="0" rtlCol="0" anchor="t"/>
          <a:lstStyle/>
          <a:p>
            <a:pPr indent="0" marL="0">
              <a:buNone/>
            </a:pPr>
            <a:r>
              <a:rPr lang="en-US" sz="1300" dirty="0">
                <a:solidFill>
                  <a:srgbClr val="4A4F6B"/>
                </a:solidFill>
              </a:rPr>
              <a:t>input tokens - sent to the model, not cached</a:t>
            </a:r>
            <a:endParaRPr lang="en-US" sz="1300" dirty="0"/>
          </a:p>
        </p:txBody>
      </p:sp>
      <p:sp>
        <p:nvSpPr>
          <p:cNvPr id="5" name="Text 3"/>
          <p:cNvSpPr txBox="1"/>
          <p:nvPr/>
        </p:nvSpPr>
        <p:spPr>
          <a:xfrm>
            <a:off x="3566160" y="1371600"/>
            <a:ext cx="2926080" cy="822960"/>
          </a:xfrm>
          <a:prstGeom prst="rect">
            <a:avLst/>
          </a:prstGeom>
          <a:noFill/>
          <a:ln/>
        </p:spPr>
        <p:txBody>
          <a:bodyPr wrap="square" lIns="0" tIns="0" rIns="0" bIns="0" rtlCol="0" anchor="t"/>
          <a:lstStyle/>
          <a:p>
            <a:pPr indent="0" marL="0">
              <a:buNone/>
            </a:pPr>
            <a:r>
              <a:rPr lang="en-US" sz="4400" b="1" dirty="0">
                <a:solidFill>
                  <a:srgbClr val="E6A23C"/>
                </a:solidFill>
                <a:latin typeface="Cambria" pitchFamily="34" charset="0"/>
                <a:ea typeface="Cambria" pitchFamily="34" charset="-122"/>
                <a:cs typeface="Cambria" pitchFamily="34" charset="-120"/>
              </a:rPr>
              <a:t>239k</a:t>
            </a:r>
            <a:endParaRPr lang="en-US" sz="4400" dirty="0"/>
          </a:p>
        </p:txBody>
      </p:sp>
      <p:sp>
        <p:nvSpPr>
          <p:cNvPr id="6" name="Text 4"/>
          <p:cNvSpPr txBox="1"/>
          <p:nvPr/>
        </p:nvSpPr>
        <p:spPr>
          <a:xfrm>
            <a:off x="3566160" y="2240280"/>
            <a:ext cx="2926080" cy="640080"/>
          </a:xfrm>
          <a:prstGeom prst="rect">
            <a:avLst/>
          </a:prstGeom>
          <a:noFill/>
          <a:ln/>
        </p:spPr>
        <p:txBody>
          <a:bodyPr wrap="square" lIns="0" tIns="0" rIns="0" bIns="0" rtlCol="0" anchor="t"/>
          <a:lstStyle/>
          <a:p>
            <a:pPr indent="0" marL="0">
              <a:buNone/>
            </a:pPr>
            <a:r>
              <a:rPr lang="en-US" sz="1300" dirty="0">
                <a:solidFill>
                  <a:srgbClr val="4A4F6B"/>
                </a:solidFill>
              </a:rPr>
              <a:t>cached input - repetition served by Azure at 1/10 price</a:t>
            </a:r>
            <a:endParaRPr lang="en-US" sz="1300" dirty="0"/>
          </a:p>
        </p:txBody>
      </p:sp>
      <p:sp>
        <p:nvSpPr>
          <p:cNvPr id="7" name="Text 5"/>
          <p:cNvSpPr txBox="1"/>
          <p:nvPr/>
        </p:nvSpPr>
        <p:spPr>
          <a:xfrm>
            <a:off x="6675120" y="1371600"/>
            <a:ext cx="2560320" cy="822960"/>
          </a:xfrm>
          <a:prstGeom prst="rect">
            <a:avLst/>
          </a:prstGeom>
          <a:noFill/>
          <a:ln/>
        </p:spPr>
        <p:txBody>
          <a:bodyPr wrap="square" lIns="0" tIns="0" rIns="0" bIns="0" rtlCol="0" anchor="t"/>
          <a:lstStyle/>
          <a:p>
            <a:pPr indent="0" marL="0">
              <a:buNone/>
            </a:pPr>
            <a:r>
              <a:rPr lang="en-US" sz="4400" b="1" dirty="0">
                <a:solidFill>
                  <a:srgbClr val="6C5CE7"/>
                </a:solidFill>
                <a:latin typeface="Cambria" pitchFamily="34" charset="0"/>
                <a:ea typeface="Cambria" pitchFamily="34" charset="-122"/>
                <a:cs typeface="Cambria" pitchFamily="34" charset="-120"/>
              </a:rPr>
              <a:t>36k</a:t>
            </a:r>
            <a:endParaRPr lang="en-US" sz="4400" dirty="0"/>
          </a:p>
        </p:txBody>
      </p:sp>
      <p:sp>
        <p:nvSpPr>
          <p:cNvPr id="8" name="Text 6"/>
          <p:cNvSpPr txBox="1"/>
          <p:nvPr/>
        </p:nvSpPr>
        <p:spPr>
          <a:xfrm>
            <a:off x="6675120" y="2240280"/>
            <a:ext cx="2560320" cy="640080"/>
          </a:xfrm>
          <a:prstGeom prst="rect">
            <a:avLst/>
          </a:prstGeom>
          <a:noFill/>
          <a:ln/>
        </p:spPr>
        <p:txBody>
          <a:bodyPr wrap="square" lIns="0" tIns="0" rIns="0" bIns="0" rtlCol="0" anchor="t"/>
          <a:lstStyle/>
          <a:p>
            <a:pPr indent="0" marL="0">
              <a:buNone/>
            </a:pPr>
            <a:r>
              <a:rPr lang="en-US" sz="1300" dirty="0">
                <a:solidFill>
                  <a:srgbClr val="4A4F6B"/>
                </a:solidFill>
              </a:rPr>
              <a:t>output - plan, files, review, reasoning</a:t>
            </a:r>
            <a:endParaRPr lang="en-US" sz="1300" dirty="0"/>
          </a:p>
        </p:txBody>
      </p:sp>
      <p:sp>
        <p:nvSpPr>
          <p:cNvPr id="9" name="Text 7"/>
          <p:cNvSpPr txBox="1"/>
          <p:nvPr/>
        </p:nvSpPr>
        <p:spPr>
          <a:xfrm>
            <a:off x="9418320" y="1371600"/>
            <a:ext cx="2377440" cy="822960"/>
          </a:xfrm>
          <a:prstGeom prst="rect">
            <a:avLst/>
          </a:prstGeom>
          <a:noFill/>
          <a:ln/>
        </p:spPr>
        <p:txBody>
          <a:bodyPr wrap="square" lIns="0" tIns="0" rIns="0" bIns="0" rtlCol="0" anchor="t"/>
          <a:lstStyle/>
          <a:p>
            <a:pPr indent="0" marL="0">
              <a:buNone/>
            </a:pPr>
            <a:r>
              <a:rPr lang="en-US" sz="4400" b="1" dirty="0">
                <a:solidFill>
                  <a:srgbClr val="2E9E6B"/>
                </a:solidFill>
                <a:latin typeface="Cambria" pitchFamily="34" charset="0"/>
                <a:ea typeface="Cambria" pitchFamily="34" charset="-122"/>
                <a:cs typeface="Cambria" pitchFamily="34" charset="-120"/>
              </a:rPr>
              <a:t>$0.50</a:t>
            </a:r>
            <a:endParaRPr lang="en-US" sz="4400" dirty="0"/>
          </a:p>
        </p:txBody>
      </p:sp>
      <p:sp>
        <p:nvSpPr>
          <p:cNvPr id="10" name="Text 8"/>
          <p:cNvSpPr txBox="1"/>
          <p:nvPr/>
        </p:nvSpPr>
        <p:spPr>
          <a:xfrm>
            <a:off x="9418320" y="2240280"/>
            <a:ext cx="2377440" cy="640080"/>
          </a:xfrm>
          <a:prstGeom prst="rect">
            <a:avLst/>
          </a:prstGeom>
          <a:noFill/>
          <a:ln/>
        </p:spPr>
        <p:txBody>
          <a:bodyPr wrap="square" lIns="0" tIns="0" rIns="0" bIns="0" rtlCol="0" anchor="t"/>
          <a:lstStyle/>
          <a:p>
            <a:pPr indent="0" marL="0">
              <a:buNone/>
            </a:pPr>
            <a:r>
              <a:rPr lang="en-US" sz="1300" dirty="0">
                <a:solidFill>
                  <a:srgbClr val="4A4F6B"/>
                </a:solidFill>
              </a:rPr>
              <a:t>one story, GPT-5 list prices</a:t>
            </a:r>
            <a:endParaRPr lang="en-US" sz="1300" dirty="0"/>
          </a:p>
        </p:txBody>
      </p:sp>
      <p:sp>
        <p:nvSpPr>
          <p:cNvPr id="11" name="Text 9"/>
          <p:cNvSpPr txBox="1"/>
          <p:nvPr/>
        </p:nvSpPr>
        <p:spPr>
          <a:xfrm>
            <a:off x="640080" y="3383280"/>
            <a:ext cx="2103120" cy="548640"/>
          </a:xfrm>
          <a:prstGeom prst="rect">
            <a:avLst/>
          </a:prstGeom>
          <a:noFill/>
          <a:ln/>
        </p:spPr>
        <p:txBody>
          <a:bodyPr wrap="square" lIns="0" tIns="0" rIns="0" bIns="0" rtlCol="0" anchor="t"/>
          <a:lstStyle/>
          <a:p>
            <a:pPr indent="0" marL="0">
              <a:buNone/>
            </a:pPr>
            <a:r>
              <a:rPr lang="en-US" sz="1400" b="1" dirty="0">
                <a:solidFill>
                  <a:srgbClr val="1B1F3B"/>
                </a:solidFill>
              </a:rPr>
              <a:t>Planner</a:t>
            </a:r>
            <a:endParaRPr lang="en-US" sz="1400" dirty="0"/>
          </a:p>
        </p:txBody>
      </p:sp>
      <p:sp>
        <p:nvSpPr>
          <p:cNvPr id="12" name="Shape 10"/>
          <p:cNvSpPr/>
          <p:nvPr/>
        </p:nvSpPr>
        <p:spPr>
          <a:xfrm>
            <a:off x="2834640" y="3456432"/>
            <a:ext cx="4032504" cy="411480"/>
          </a:xfrm>
          <a:prstGeom prst="roundRect">
            <a:avLst>
              <a:gd name="adj" fmla="val 17778"/>
            </a:avLst>
          </a:prstGeom>
          <a:solidFill>
            <a:srgbClr val="6C5CE7"/>
          </a:solidFill>
          <a:ln w="12700">
            <a:solidFill>
              <a:srgbClr val="6C5CE7"/>
            </a:solidFill>
            <a:prstDash val="solid"/>
          </a:ln>
        </p:spPr>
      </p:sp>
      <p:sp>
        <p:nvSpPr>
          <p:cNvPr id="13" name="Text 11"/>
          <p:cNvSpPr txBox="1"/>
          <p:nvPr/>
        </p:nvSpPr>
        <p:spPr>
          <a:xfrm>
            <a:off x="7004304" y="3474720"/>
            <a:ext cx="4745736" cy="411480"/>
          </a:xfrm>
          <a:prstGeom prst="rect">
            <a:avLst/>
          </a:prstGeom>
          <a:noFill/>
          <a:ln/>
        </p:spPr>
        <p:txBody>
          <a:bodyPr wrap="square" lIns="0" tIns="0" rIns="0" bIns="0" rtlCol="0" anchor="ctr"/>
          <a:lstStyle/>
          <a:p>
            <a:pPr indent="0" marL="0">
              <a:buNone/>
            </a:pPr>
            <a:r>
              <a:rPr lang="en-US" sz="1150" dirty="0">
                <a:solidFill>
                  <a:srgbClr val="4A4F6B"/>
                </a:solidFill>
              </a:rPr>
              <a:t>reads the whole pack, loops until every file is grounded</a:t>
            </a:r>
            <a:endParaRPr lang="en-US" sz="1150" dirty="0"/>
          </a:p>
        </p:txBody>
      </p:sp>
      <p:sp>
        <p:nvSpPr>
          <p:cNvPr id="14" name="Text 12"/>
          <p:cNvSpPr txBox="1"/>
          <p:nvPr/>
        </p:nvSpPr>
        <p:spPr>
          <a:xfrm>
            <a:off x="640080" y="4160520"/>
            <a:ext cx="2103120" cy="548640"/>
          </a:xfrm>
          <a:prstGeom prst="rect">
            <a:avLst/>
          </a:prstGeom>
          <a:noFill/>
          <a:ln/>
        </p:spPr>
        <p:txBody>
          <a:bodyPr wrap="square" lIns="0" tIns="0" rIns="0" bIns="0" rtlCol="0" anchor="t"/>
          <a:lstStyle/>
          <a:p>
            <a:pPr indent="0" marL="0">
              <a:buNone/>
            </a:pPr>
            <a:r>
              <a:rPr lang="en-US" sz="1400" b="1" dirty="0">
                <a:solidFill>
                  <a:srgbClr val="1B1F3B"/>
                </a:solidFill>
              </a:rPr>
              <a:t>Coder</a:t>
            </a:r>
            <a:endParaRPr lang="en-US" sz="1400" dirty="0"/>
          </a:p>
        </p:txBody>
      </p:sp>
      <p:sp>
        <p:nvSpPr>
          <p:cNvPr id="15" name="Shape 13"/>
          <p:cNvSpPr/>
          <p:nvPr/>
        </p:nvSpPr>
        <p:spPr>
          <a:xfrm>
            <a:off x="2834640" y="4233672"/>
            <a:ext cx="2688336" cy="411480"/>
          </a:xfrm>
          <a:prstGeom prst="roundRect">
            <a:avLst>
              <a:gd name="adj" fmla="val 17778"/>
            </a:avLst>
          </a:prstGeom>
          <a:solidFill>
            <a:srgbClr val="22B8CF"/>
          </a:solidFill>
          <a:ln w="12700">
            <a:solidFill>
              <a:srgbClr val="22B8CF"/>
            </a:solidFill>
            <a:prstDash val="solid"/>
          </a:ln>
        </p:spPr>
      </p:sp>
      <p:sp>
        <p:nvSpPr>
          <p:cNvPr id="16" name="Text 14"/>
          <p:cNvSpPr txBox="1"/>
          <p:nvPr/>
        </p:nvSpPr>
        <p:spPr>
          <a:xfrm>
            <a:off x="5660136" y="4251960"/>
            <a:ext cx="6089904" cy="411480"/>
          </a:xfrm>
          <a:prstGeom prst="rect">
            <a:avLst/>
          </a:prstGeom>
          <a:noFill/>
          <a:ln/>
        </p:spPr>
        <p:txBody>
          <a:bodyPr wrap="square" lIns="0" tIns="0" rIns="0" bIns="0" rtlCol="0" anchor="ctr"/>
          <a:lstStyle/>
          <a:p>
            <a:pPr indent="0" marL="0">
              <a:buNone/>
            </a:pPr>
            <a:r>
              <a:rPr lang="en-US" sz="1150" dirty="0">
                <a:solidFill>
                  <a:srgbClr val="4A4F6B"/>
                </a:solidFill>
              </a:rPr>
              <a:t>one call per file over one shared, cached context</a:t>
            </a:r>
            <a:endParaRPr lang="en-US" sz="1150" dirty="0"/>
          </a:p>
        </p:txBody>
      </p:sp>
      <p:sp>
        <p:nvSpPr>
          <p:cNvPr id="17" name="Text 15"/>
          <p:cNvSpPr txBox="1"/>
          <p:nvPr/>
        </p:nvSpPr>
        <p:spPr>
          <a:xfrm>
            <a:off x="640080" y="4937760"/>
            <a:ext cx="2103120" cy="548640"/>
          </a:xfrm>
          <a:prstGeom prst="rect">
            <a:avLst/>
          </a:prstGeom>
          <a:noFill/>
          <a:ln/>
        </p:spPr>
        <p:txBody>
          <a:bodyPr wrap="square" lIns="0" tIns="0" rIns="0" bIns="0" rtlCol="0" anchor="t"/>
          <a:lstStyle/>
          <a:p>
            <a:pPr indent="0" marL="0">
              <a:buNone/>
            </a:pPr>
            <a:r>
              <a:rPr lang="en-US" sz="1400" b="1" dirty="0">
                <a:solidFill>
                  <a:srgbClr val="1B1F3B"/>
                </a:solidFill>
              </a:rPr>
              <a:t>Reviewer + fixes</a:t>
            </a:r>
            <a:endParaRPr lang="en-US" sz="1400" dirty="0"/>
          </a:p>
        </p:txBody>
      </p:sp>
      <p:sp>
        <p:nvSpPr>
          <p:cNvPr id="18" name="Shape 16"/>
          <p:cNvSpPr/>
          <p:nvPr/>
        </p:nvSpPr>
        <p:spPr>
          <a:xfrm>
            <a:off x="2834640" y="5010912"/>
            <a:ext cx="2240280" cy="411480"/>
          </a:xfrm>
          <a:prstGeom prst="roundRect">
            <a:avLst>
              <a:gd name="adj" fmla="val 17778"/>
            </a:avLst>
          </a:prstGeom>
          <a:solidFill>
            <a:srgbClr val="E6A23C"/>
          </a:solidFill>
          <a:ln w="12700">
            <a:solidFill>
              <a:srgbClr val="E6A23C"/>
            </a:solidFill>
            <a:prstDash val="solid"/>
          </a:ln>
        </p:spPr>
      </p:sp>
      <p:sp>
        <p:nvSpPr>
          <p:cNvPr id="19" name="Text 17"/>
          <p:cNvSpPr txBox="1"/>
          <p:nvPr/>
        </p:nvSpPr>
        <p:spPr>
          <a:xfrm>
            <a:off x="5212080" y="5029200"/>
            <a:ext cx="6537960" cy="411480"/>
          </a:xfrm>
          <a:prstGeom prst="rect">
            <a:avLst/>
          </a:prstGeom>
          <a:noFill/>
          <a:ln/>
        </p:spPr>
        <p:txBody>
          <a:bodyPr wrap="square" lIns="0" tIns="0" rIns="0" bIns="0" rtlCol="0" anchor="ctr"/>
          <a:lstStyle/>
          <a:p>
            <a:pPr indent="0" marL="0">
              <a:buNone/>
            </a:pPr>
            <a:r>
              <a:rPr lang="en-US" sz="1150" dirty="0">
                <a:solidFill>
                  <a:srgbClr val="4A4F6B"/>
                </a:solidFill>
              </a:rPr>
              <a:t>all files and diffs, then the coder again per finding</a:t>
            </a:r>
            <a:endParaRPr lang="en-US" sz="1150" dirty="0"/>
          </a:p>
        </p:txBody>
      </p:sp>
      <p:sp>
        <p:nvSpPr>
          <p:cNvPr id="20" name="Text 18"/>
          <p:cNvSpPr txBox="1"/>
          <p:nvPr/>
        </p:nvSpPr>
        <p:spPr>
          <a:xfrm>
            <a:off x="640080" y="3017520"/>
            <a:ext cx="7315200" cy="320040"/>
          </a:xfrm>
          <a:prstGeom prst="rect">
            <a:avLst/>
          </a:prstGeom>
          <a:noFill/>
          <a:ln/>
        </p:spPr>
        <p:txBody>
          <a:bodyPr wrap="square" lIns="0" tIns="0" rIns="0" bIns="0" rtlCol="0" anchor="t"/>
          <a:lstStyle/>
          <a:p>
            <a:pPr indent="0" marL="0">
              <a:buNone/>
            </a:pPr>
            <a:r>
              <a:rPr lang="en-US" sz="1100" dirty="0">
                <a:solidFill>
                  <a:srgbClr val="9AA0BF"/>
                </a:solidFill>
              </a:rPr>
              <a:t>Where the tokens go (share of the uncached input + output)</a:t>
            </a:r>
            <a:endParaRPr lang="en-US" sz="1100" dirty="0"/>
          </a:p>
        </p:txBody>
      </p:sp>
      <p:sp>
        <p:nvSpPr>
          <p:cNvPr id="21" name="Text 19"/>
          <p:cNvSpPr txBox="1"/>
          <p:nvPr/>
        </p:nvSpPr>
        <p:spPr>
          <a:xfrm>
            <a:off x="640080" y="5760720"/>
            <a:ext cx="11155680" cy="457200"/>
          </a:xfrm>
          <a:prstGeom prst="rect">
            <a:avLst/>
          </a:prstGeom>
          <a:noFill/>
          <a:ln/>
        </p:spPr>
        <p:txBody>
          <a:bodyPr wrap="square" lIns="0" tIns="0" rIns="0" bIns="0" rtlCol="0" anchor="t"/>
          <a:lstStyle/>
          <a:p>
            <a:pPr indent="0" marL="0">
              <a:buNone/>
            </a:pPr>
            <a:r>
              <a:rPr lang="en-US" sz="1250" i="1" dirty="0">
                <a:solidFill>
                  <a:srgbClr val="6C5CE7"/>
                </a:solidFill>
              </a:rPr>
              <a:t>The number to watch is uncached input + output. A high cached share is good: it is repetition we did not pay in full. Readers at 0 calls = result reused from our cache.</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How it decides which code to create or change: three sources of evidence</a:t>
            </a:r>
            <a:endParaRPr lang="en-US" sz="3000" dirty="0"/>
          </a:p>
        </p:txBody>
      </p:sp>
      <p:sp>
        <p:nvSpPr>
          <p:cNvPr id="3" name="Shape 1"/>
          <p:cNvSpPr/>
          <p:nvPr/>
        </p:nvSpPr>
        <p:spPr>
          <a:xfrm>
            <a:off x="640080" y="1371600"/>
            <a:ext cx="3566160" cy="2743200"/>
          </a:xfrm>
          <a:prstGeom prst="roundRect">
            <a:avLst>
              <a:gd name="adj" fmla="val 4000"/>
            </a:avLst>
          </a:prstGeom>
          <a:solidFill>
            <a:srgbClr val="FFFFFF"/>
          </a:solidFill>
          <a:ln w="25400">
            <a:solidFill>
              <a:srgbClr val="22B8CF"/>
            </a:solidFill>
            <a:prstDash val="solid"/>
          </a:ln>
        </p:spPr>
      </p:sp>
      <p:sp>
        <p:nvSpPr>
          <p:cNvPr id="4" name="Text 2"/>
          <p:cNvSpPr txBox="1"/>
          <p:nvPr/>
        </p:nvSpPr>
        <p:spPr>
          <a:xfrm>
            <a:off x="822960" y="1463040"/>
            <a:ext cx="3200400" cy="365760"/>
          </a:xfrm>
          <a:prstGeom prst="rect">
            <a:avLst/>
          </a:prstGeom>
          <a:noFill/>
          <a:ln/>
        </p:spPr>
        <p:txBody>
          <a:bodyPr wrap="square" lIns="0" tIns="0" rIns="0" bIns="0" rtlCol="0" anchor="t"/>
          <a:lstStyle/>
          <a:p>
            <a:pPr indent="0" marL="0">
              <a:buNone/>
            </a:pPr>
            <a:r>
              <a:rPr lang="en-US" sz="1600" b="1" dirty="0">
                <a:solidFill>
                  <a:srgbClr val="22B8CF"/>
                </a:solidFill>
              </a:rPr>
              <a:t>The story</a:t>
            </a:r>
            <a:endParaRPr lang="en-US" sz="1600" dirty="0"/>
          </a:p>
        </p:txBody>
      </p:sp>
      <p:sp>
        <p:nvSpPr>
          <p:cNvPr id="5" name="Text 3"/>
          <p:cNvSpPr txBox="1"/>
          <p:nvPr/>
        </p:nvSpPr>
        <p:spPr>
          <a:xfrm>
            <a:off x="822960" y="1874520"/>
            <a:ext cx="3200400" cy="1371600"/>
          </a:xfrm>
          <a:prstGeom prst="rect">
            <a:avLst/>
          </a:prstGeom>
          <a:noFill/>
          <a:ln/>
        </p:spPr>
        <p:txBody>
          <a:bodyPr wrap="square" lIns="0" tIns="0" rIns="0" bIns="0" rtlCol="0" anchor="t"/>
          <a:lstStyle/>
          <a:p>
            <a:pPr indent="0" marL="0">
              <a:buNone/>
            </a:pPr>
            <a:r>
              <a:rPr lang="en-US" sz="1150" dirty="0">
                <a:solidFill>
                  <a:srgbClr val="4A4F6B"/>
                </a:solidFill>
              </a:rPr>
              <a:t>tables it names, SQL it contains</a:t>
            </a:r>
            <a:endParaRPr lang="en-US" sz="1150" dirty="0"/>
          </a:p>
        </p:txBody>
      </p:sp>
      <p:sp>
        <p:nvSpPr>
          <p:cNvPr id="6" name="Text 4"/>
          <p:cNvSpPr txBox="1"/>
          <p:nvPr/>
        </p:nvSpPr>
        <p:spPr>
          <a:xfrm>
            <a:off x="822960" y="3291840"/>
            <a:ext cx="3200400" cy="731520"/>
          </a:xfrm>
          <a:prstGeom prst="rect">
            <a:avLst/>
          </a:prstGeom>
          <a:noFill/>
          <a:ln/>
        </p:spPr>
        <p:txBody>
          <a:bodyPr wrap="square" lIns="0" tIns="0" rIns="0" bIns="0" rtlCol="0" anchor="t"/>
          <a:lstStyle/>
          <a:p>
            <a:pPr indent="0" marL="0">
              <a:buNone/>
            </a:pPr>
            <a:r>
              <a:rPr lang="en-US" sz="1150" b="1" dirty="0">
                <a:solidFill>
                  <a:srgbClr val="1B1F3B"/>
                </a:solidFill>
              </a:rPr>
              <a:t>→ every code block → a file, or 'not used because ...'</a:t>
            </a:r>
            <a:endParaRPr lang="en-US" sz="1150" dirty="0"/>
          </a:p>
        </p:txBody>
      </p:sp>
      <p:sp>
        <p:nvSpPr>
          <p:cNvPr id="7" name="Shape 5"/>
          <p:cNvSpPr/>
          <p:nvPr/>
        </p:nvSpPr>
        <p:spPr>
          <a:xfrm>
            <a:off x="2423160" y="4160520"/>
            <a:ext cx="9144" cy="365760"/>
          </a:xfrm>
          <a:prstGeom prst="line">
            <a:avLst/>
          </a:prstGeom>
          <a:noFill/>
          <a:ln w="19050">
            <a:solidFill>
              <a:srgbClr val="22B8CF"/>
            </a:solidFill>
            <a:prstDash val="solid"/>
            <a:tailEnd type="triangle"/>
          </a:ln>
        </p:spPr>
      </p:sp>
      <p:sp>
        <p:nvSpPr>
          <p:cNvPr id="8" name="Shape 6"/>
          <p:cNvSpPr/>
          <p:nvPr/>
        </p:nvSpPr>
        <p:spPr>
          <a:xfrm>
            <a:off x="4389120" y="1371600"/>
            <a:ext cx="3566160" cy="2743200"/>
          </a:xfrm>
          <a:prstGeom prst="roundRect">
            <a:avLst>
              <a:gd name="adj" fmla="val 4000"/>
            </a:avLst>
          </a:prstGeom>
          <a:solidFill>
            <a:srgbClr val="FFFFFF"/>
          </a:solidFill>
          <a:ln w="25400">
            <a:solidFill>
              <a:srgbClr val="6C5CE7"/>
            </a:solidFill>
            <a:prstDash val="solid"/>
          </a:ln>
        </p:spPr>
      </p:sp>
      <p:sp>
        <p:nvSpPr>
          <p:cNvPr id="9" name="Text 7"/>
          <p:cNvSpPr txBox="1"/>
          <p:nvPr/>
        </p:nvSpPr>
        <p:spPr>
          <a:xfrm>
            <a:off x="4572000" y="1463040"/>
            <a:ext cx="3200400" cy="365760"/>
          </a:xfrm>
          <a:prstGeom prst="rect">
            <a:avLst/>
          </a:prstGeom>
          <a:noFill/>
          <a:ln/>
        </p:spPr>
        <p:txBody>
          <a:bodyPr wrap="square" lIns="0" tIns="0" rIns="0" bIns="0" rtlCol="0" anchor="t"/>
          <a:lstStyle/>
          <a:p>
            <a:pPr indent="0" marL="0">
              <a:buNone/>
            </a:pPr>
            <a:r>
              <a:rPr lang="en-US" sz="1600" b="1" dirty="0">
                <a:solidFill>
                  <a:srgbClr val="6C5CE7"/>
                </a:solidFill>
              </a:rPr>
              <a:t>The repository</a:t>
            </a:r>
            <a:endParaRPr lang="en-US" sz="1600" dirty="0"/>
          </a:p>
        </p:txBody>
      </p:sp>
      <p:sp>
        <p:nvSpPr>
          <p:cNvPr id="10" name="Text 8"/>
          <p:cNvSpPr txBox="1"/>
          <p:nvPr/>
        </p:nvSpPr>
        <p:spPr>
          <a:xfrm>
            <a:off x="4572000" y="1874520"/>
            <a:ext cx="3200400" cy="1371600"/>
          </a:xfrm>
          <a:prstGeom prst="rect">
            <a:avLst/>
          </a:prstGeom>
          <a:noFill/>
          <a:ln/>
        </p:spPr>
        <p:txBody>
          <a:bodyPr wrap="square" lIns="0" tIns="0" rIns="0" bIns="0" rtlCol="0" anchor="t"/>
          <a:lstStyle/>
          <a:p>
            <a:pPr indent="0" marL="0">
              <a:buNone/>
            </a:pPr>
            <a:r>
              <a:rPr lang="en-US" sz="1150" dirty="0">
                <a:solidFill>
                  <a:srgbClr val="4A4F6B"/>
                </a:solidFill>
              </a:rPr>
              <a:t>registration_points: who lists this folder's scripts</a:t>
            </a:r>
            <a:endParaRPr lang="en-US" sz="1150" dirty="0"/>
          </a:p>
          <a:p>
            <a:pPr indent="0" marL="0">
              <a:buNone/>
            </a:pPr>
            <a:r>
              <a:rPr lang="en-US" sz="1150" dirty="0">
                <a:solidFill>
                  <a:srgbClr val="4A4F6B"/>
                </a:solidFill>
              </a:rPr>
              <a:t>companion_files: history / archive script, config entries, readers</a:t>
            </a:r>
            <a:endParaRPr lang="en-US" sz="1150" dirty="0"/>
          </a:p>
          <a:p>
            <a:pPr indent="0" marL="0">
              <a:buNone/>
            </a:pPr>
            <a:r>
              <a:rPr lang="en-US" sz="1150" dirty="0">
                <a:solidFill>
                  <a:srgbClr val="4A4F6B"/>
                </a:solidFill>
              </a:rPr>
              <a:t>references: what depends on the table</a:t>
            </a:r>
            <a:endParaRPr lang="en-US" sz="1150" dirty="0"/>
          </a:p>
        </p:txBody>
      </p:sp>
      <p:sp>
        <p:nvSpPr>
          <p:cNvPr id="11" name="Text 9"/>
          <p:cNvSpPr txBox="1"/>
          <p:nvPr/>
        </p:nvSpPr>
        <p:spPr>
          <a:xfrm>
            <a:off x="4572000" y="3291840"/>
            <a:ext cx="3200400" cy="731520"/>
          </a:xfrm>
          <a:prstGeom prst="rect">
            <a:avLst/>
          </a:prstGeom>
          <a:noFill/>
          <a:ln/>
        </p:spPr>
        <p:txBody>
          <a:bodyPr wrap="square" lIns="0" tIns="0" rIns="0" bIns="0" rtlCol="0" anchor="t"/>
          <a:lstStyle/>
          <a:p>
            <a:pPr indent="0" marL="0">
              <a:buNone/>
            </a:pPr>
            <a:r>
              <a:rPr lang="en-US" sz="1150" b="1" dirty="0">
                <a:solidFill>
                  <a:srgbClr val="1B1F3B"/>
                </a:solidFill>
              </a:rPr>
              <a:t>→ each candidate → create / modify, or declined with a reason</a:t>
            </a:r>
            <a:endParaRPr lang="en-US" sz="1150" dirty="0"/>
          </a:p>
        </p:txBody>
      </p:sp>
      <p:sp>
        <p:nvSpPr>
          <p:cNvPr id="12" name="Shape 10"/>
          <p:cNvSpPr/>
          <p:nvPr/>
        </p:nvSpPr>
        <p:spPr>
          <a:xfrm>
            <a:off x="6172200" y="4160520"/>
            <a:ext cx="9144" cy="365760"/>
          </a:xfrm>
          <a:prstGeom prst="line">
            <a:avLst/>
          </a:prstGeom>
          <a:noFill/>
          <a:ln w="19050">
            <a:solidFill>
              <a:srgbClr val="6C5CE7"/>
            </a:solidFill>
            <a:prstDash val="solid"/>
            <a:tailEnd type="triangle"/>
          </a:ln>
        </p:spPr>
      </p:sp>
      <p:sp>
        <p:nvSpPr>
          <p:cNvPr id="13" name="Shape 11"/>
          <p:cNvSpPr/>
          <p:nvPr/>
        </p:nvSpPr>
        <p:spPr>
          <a:xfrm>
            <a:off x="8138160" y="1371600"/>
            <a:ext cx="3566160" cy="2743200"/>
          </a:xfrm>
          <a:prstGeom prst="roundRect">
            <a:avLst>
              <a:gd name="adj" fmla="val 4000"/>
            </a:avLst>
          </a:prstGeom>
          <a:solidFill>
            <a:srgbClr val="FFFFFF"/>
          </a:solidFill>
          <a:ln w="25400">
            <a:solidFill>
              <a:srgbClr val="2E9E6B"/>
            </a:solidFill>
            <a:prstDash val="solid"/>
          </a:ln>
        </p:spPr>
      </p:sp>
      <p:sp>
        <p:nvSpPr>
          <p:cNvPr id="14" name="Text 12"/>
          <p:cNvSpPr txBox="1"/>
          <p:nvPr/>
        </p:nvSpPr>
        <p:spPr>
          <a:xfrm>
            <a:off x="8321040" y="1463040"/>
            <a:ext cx="3200400" cy="365760"/>
          </a:xfrm>
          <a:prstGeom prst="rect">
            <a:avLst/>
          </a:prstGeom>
          <a:noFill/>
          <a:ln/>
        </p:spPr>
        <p:txBody>
          <a:bodyPr wrap="square" lIns="0" tIns="0" rIns="0" bIns="0" rtlCol="0" anchor="t"/>
          <a:lstStyle/>
          <a:p>
            <a:pPr indent="0" marL="0">
              <a:buNone/>
            </a:pPr>
            <a:r>
              <a:rPr lang="en-US" sz="1600" b="1" dirty="0">
                <a:solidFill>
                  <a:srgbClr val="2E9E6B"/>
                </a:solidFill>
              </a:rPr>
              <a:t>The conventions</a:t>
            </a:r>
            <a:endParaRPr lang="en-US" sz="1600" dirty="0"/>
          </a:p>
        </p:txBody>
      </p:sp>
      <p:sp>
        <p:nvSpPr>
          <p:cNvPr id="15" name="Text 13"/>
          <p:cNvSpPr txBox="1"/>
          <p:nvPr/>
        </p:nvSpPr>
        <p:spPr>
          <a:xfrm>
            <a:off x="8321040" y="1874520"/>
            <a:ext cx="3200400" cy="1371600"/>
          </a:xfrm>
          <a:prstGeom prst="rect">
            <a:avLst/>
          </a:prstGeom>
          <a:noFill/>
          <a:ln/>
        </p:spPr>
        <p:txBody>
          <a:bodyPr wrap="square" lIns="0" tIns="0" rIns="0" bIns="0" rtlCol="0" anchor="t"/>
          <a:lstStyle/>
          <a:p>
            <a:pPr indent="0" marL="0">
              <a:buNone/>
            </a:pPr>
            <a:r>
              <a:rPr lang="en-US" sz="1150" dirty="0">
                <a:solidFill>
                  <a:srgbClr val="4A4F6B"/>
                </a:solidFill>
              </a:rPr>
              <a:t>skills / standards: 'logic lives in intermediate tables, profile scripts only join'; 'a new profile table needs its history script and TABLE_CONFIG'</a:t>
            </a:r>
            <a:endParaRPr lang="en-US" sz="1150" dirty="0"/>
          </a:p>
        </p:txBody>
      </p:sp>
      <p:sp>
        <p:nvSpPr>
          <p:cNvPr id="16" name="Text 14"/>
          <p:cNvSpPr txBox="1"/>
          <p:nvPr/>
        </p:nvSpPr>
        <p:spPr>
          <a:xfrm>
            <a:off x="8321040" y="3291840"/>
            <a:ext cx="3200400" cy="731520"/>
          </a:xfrm>
          <a:prstGeom prst="rect">
            <a:avLst/>
          </a:prstGeom>
          <a:noFill/>
          <a:ln/>
        </p:spPr>
        <p:txBody>
          <a:bodyPr wrap="square" lIns="0" tIns="0" rIns="0" bIns="0" rtlCol="0" anchor="t"/>
          <a:lstStyle/>
          <a:p>
            <a:pPr indent="0" marL="0">
              <a:buNone/>
            </a:pPr>
            <a:r>
              <a:rPr lang="en-US" sz="1150" b="1" dirty="0">
                <a:solidFill>
                  <a:srgbClr val="1B1F3B"/>
                </a:solidFill>
              </a:rPr>
              <a:t>→ rules the planner must apply; many become validator checks</a:t>
            </a:r>
            <a:endParaRPr lang="en-US" sz="1150" dirty="0"/>
          </a:p>
        </p:txBody>
      </p:sp>
      <p:sp>
        <p:nvSpPr>
          <p:cNvPr id="17" name="Shape 15"/>
          <p:cNvSpPr/>
          <p:nvPr/>
        </p:nvSpPr>
        <p:spPr>
          <a:xfrm>
            <a:off x="9921240" y="4160520"/>
            <a:ext cx="9144" cy="365760"/>
          </a:xfrm>
          <a:prstGeom prst="line">
            <a:avLst/>
          </a:prstGeom>
          <a:noFill/>
          <a:ln w="19050">
            <a:solidFill>
              <a:srgbClr val="2E9E6B"/>
            </a:solidFill>
            <a:prstDash val="solid"/>
            <a:tailEnd type="triangle"/>
          </a:ln>
        </p:spPr>
      </p:sp>
      <p:sp>
        <p:nvSpPr>
          <p:cNvPr id="18" name="Shape 16"/>
          <p:cNvSpPr/>
          <p:nvPr/>
        </p:nvSpPr>
        <p:spPr>
          <a:xfrm>
            <a:off x="640080" y="4572000"/>
            <a:ext cx="11064240" cy="1325880"/>
          </a:xfrm>
          <a:prstGeom prst="roundRect">
            <a:avLst>
              <a:gd name="adj" fmla="val 8276"/>
            </a:avLst>
          </a:prstGeom>
          <a:solidFill>
            <a:srgbClr val="F1F2F8"/>
          </a:solidFill>
          <a:ln w="12700">
            <a:solidFill>
              <a:srgbClr val="F1F2F8"/>
            </a:solidFill>
            <a:prstDash val="solid"/>
          </a:ln>
        </p:spPr>
      </p:sp>
      <p:sp>
        <p:nvSpPr>
          <p:cNvPr id="19" name="Text 17"/>
          <p:cNvSpPr txBox="1"/>
          <p:nvPr/>
        </p:nvSpPr>
        <p:spPr>
          <a:xfrm>
            <a:off x="822960" y="4663440"/>
            <a:ext cx="10698480" cy="548640"/>
          </a:xfrm>
          <a:prstGeom prst="rect">
            <a:avLst/>
          </a:prstGeom>
          <a:noFill/>
          <a:ln/>
        </p:spPr>
        <p:txBody>
          <a:bodyPr wrap="square" lIns="0" tIns="0" rIns="0" bIns="0" rtlCol="0" anchor="t"/>
          <a:lstStyle/>
          <a:p>
            <a:pPr indent="0" marL="0">
              <a:buNone/>
            </a:pPr>
            <a:r>
              <a:rPr lang="en-US" sz="1300" b="1" dirty="0">
                <a:solidFill>
                  <a:srgbClr val="1B1F3B"/>
                </a:solidFill>
              </a:rPr>
              <a:t>The planner must account for every piece of evidence - a file (create / modify) or a decline with a reason - or the plan is REJECTED and sent back with the missing item (up to 2 rounds).</a:t>
            </a:r>
            <a:endParaRPr lang="en-US" sz="1300" dirty="0"/>
          </a:p>
        </p:txBody>
      </p:sp>
      <p:sp>
        <p:nvSpPr>
          <p:cNvPr id="20" name="Text 18"/>
          <p:cNvSpPr txBox="1"/>
          <p:nvPr/>
        </p:nvSpPr>
        <p:spPr>
          <a:xfrm>
            <a:off x="822960" y="5212080"/>
            <a:ext cx="10698480" cy="640080"/>
          </a:xfrm>
          <a:prstGeom prst="rect">
            <a:avLst/>
          </a:prstGeom>
          <a:noFill/>
          <a:ln/>
        </p:spPr>
        <p:txBody>
          <a:bodyPr wrap="square" lIns="0" tIns="0" rIns="0" bIns="0" rtlCol="0" anchor="t"/>
          <a:lstStyle/>
          <a:p>
            <a:pPr indent="0" marL="0">
              <a:buNone/>
            </a:pPr>
            <a:r>
              <a:rPr lang="en-US" sz="1200" dirty="0">
                <a:solidFill>
                  <a:srgbClr val="4A4F6B"/>
                </a:solidFill>
              </a:rPr>
              <a:t>Safety net outside the model: a new script whose folder has a registration file always gets that file added to the plan. A script that is never registered never runs - this is the defect the planner is most likely to argue away.</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Example: story 2547 - one ticket becomes five files</a:t>
            </a:r>
            <a:endParaRPr lang="en-US" sz="3000" dirty="0"/>
          </a:p>
        </p:txBody>
      </p:sp>
      <p:sp>
        <p:nvSpPr>
          <p:cNvPr id="3" name="Shape 1"/>
          <p:cNvSpPr/>
          <p:nvPr/>
        </p:nvSpPr>
        <p:spPr>
          <a:xfrm>
            <a:off x="640080" y="1371600"/>
            <a:ext cx="3108960" cy="1920240"/>
          </a:xfrm>
          <a:prstGeom prst="roundRect">
            <a:avLst>
              <a:gd name="adj" fmla="val 5714"/>
            </a:avLst>
          </a:prstGeom>
          <a:solidFill>
            <a:srgbClr val="F1F2F8"/>
          </a:solidFill>
          <a:ln w="12700">
            <a:solidFill>
              <a:srgbClr val="F1F2F8"/>
            </a:solidFill>
            <a:prstDash val="solid"/>
          </a:ln>
        </p:spPr>
      </p:sp>
      <p:sp>
        <p:nvSpPr>
          <p:cNvPr id="4" name="Text 2"/>
          <p:cNvSpPr txBox="1"/>
          <p:nvPr/>
        </p:nvSpPr>
        <p:spPr>
          <a:xfrm>
            <a:off x="822960" y="1508760"/>
            <a:ext cx="2743200" cy="411480"/>
          </a:xfrm>
          <a:prstGeom prst="rect">
            <a:avLst/>
          </a:prstGeom>
          <a:noFill/>
          <a:ln/>
        </p:spPr>
        <p:txBody>
          <a:bodyPr wrap="square" lIns="0" tIns="0" rIns="0" bIns="0" rtlCol="0" anchor="ctr"/>
          <a:lstStyle/>
          <a:p>
            <a:pPr indent="0" marL="0">
              <a:buNone/>
            </a:pPr>
            <a:r>
              <a:rPr lang="en-US" sz="1500" b="1" dirty="0">
                <a:solidFill>
                  <a:srgbClr val="1B1F3B"/>
                </a:solidFill>
              </a:rPr>
              <a:t>Story 2547</a:t>
            </a:r>
            <a:endParaRPr lang="en-US" sz="1500" dirty="0"/>
          </a:p>
        </p:txBody>
      </p:sp>
      <p:sp>
        <p:nvSpPr>
          <p:cNvPr id="5" name="Text 3"/>
          <p:cNvSpPr txBox="1"/>
          <p:nvPr/>
        </p:nvSpPr>
        <p:spPr>
          <a:xfrm>
            <a:off x="822960" y="1938528"/>
            <a:ext cx="2743200" cy="12801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IRA &amp; TOD outdated, dead and prospect beneficiaries: six new columns on the client beneficiary profile, SQL logic given in the ticket</a:t>
            </a:r>
            <a:endParaRPr lang="en-US" sz="1100" dirty="0"/>
          </a:p>
        </p:txBody>
      </p:sp>
      <p:sp>
        <p:nvSpPr>
          <p:cNvPr id="6" name="Shape 4"/>
          <p:cNvSpPr/>
          <p:nvPr/>
        </p:nvSpPr>
        <p:spPr>
          <a:xfrm>
            <a:off x="3794760" y="2331720"/>
            <a:ext cx="548640" cy="9144"/>
          </a:xfrm>
          <a:prstGeom prst="line">
            <a:avLst/>
          </a:prstGeom>
          <a:noFill/>
          <a:ln w="19050">
            <a:solidFill>
              <a:srgbClr val="9AA0BF"/>
            </a:solidFill>
            <a:prstDash val="solid"/>
            <a:tailEnd type="triangle"/>
          </a:ln>
        </p:spPr>
      </p:sp>
      <p:sp>
        <p:nvSpPr>
          <p:cNvPr id="7" name="Shape 5"/>
          <p:cNvSpPr/>
          <p:nvPr/>
        </p:nvSpPr>
        <p:spPr>
          <a:xfrm>
            <a:off x="4389120" y="1371600"/>
            <a:ext cx="3383280" cy="1920240"/>
          </a:xfrm>
          <a:prstGeom prst="roundRect">
            <a:avLst>
              <a:gd name="adj" fmla="val 5714"/>
            </a:avLst>
          </a:prstGeom>
          <a:solidFill>
            <a:srgbClr val="D94C4C"/>
          </a:solidFill>
          <a:ln w="12700">
            <a:solidFill>
              <a:srgbClr val="D94C4C"/>
            </a:solidFill>
            <a:prstDash val="solid"/>
          </a:ln>
        </p:spPr>
      </p:sp>
      <p:sp>
        <p:nvSpPr>
          <p:cNvPr id="8" name="Text 6"/>
          <p:cNvSpPr txBox="1"/>
          <p:nvPr/>
        </p:nvSpPr>
        <p:spPr>
          <a:xfrm>
            <a:off x="4572000" y="1508760"/>
            <a:ext cx="3017520" cy="411480"/>
          </a:xfrm>
          <a:prstGeom prst="rect">
            <a:avLst/>
          </a:prstGeom>
          <a:noFill/>
          <a:ln/>
        </p:spPr>
        <p:txBody>
          <a:bodyPr wrap="square" lIns="0" tIns="0" rIns="0" bIns="0" rtlCol="0" anchor="ctr"/>
          <a:lstStyle/>
          <a:p>
            <a:pPr indent="0" marL="0">
              <a:buNone/>
            </a:pPr>
            <a:r>
              <a:rPr lang="en-US" sz="1500" b="1" dirty="0">
                <a:solidFill>
                  <a:srgbClr val="FFFFFF"/>
                </a:solidFill>
              </a:rPr>
              <a:t>What a plain LLM changes</a:t>
            </a:r>
            <a:endParaRPr lang="en-US" sz="1500" dirty="0"/>
          </a:p>
        </p:txBody>
      </p:sp>
      <p:sp>
        <p:nvSpPr>
          <p:cNvPr id="9" name="Text 7"/>
          <p:cNvSpPr txBox="1"/>
          <p:nvPr/>
        </p:nvSpPr>
        <p:spPr>
          <a:xfrm>
            <a:off x="4572000" y="1938528"/>
            <a:ext cx="3017520" cy="1280160"/>
          </a:xfrm>
          <a:prstGeom prst="rect">
            <a:avLst/>
          </a:prstGeom>
          <a:noFill/>
          <a:ln/>
        </p:spPr>
        <p:txBody>
          <a:bodyPr wrap="square" lIns="0" tIns="0" rIns="0" bIns="0" rtlCol="0" anchor="t"/>
          <a:lstStyle/>
          <a:p>
            <a:pPr indent="0" marL="0">
              <a:spcAft>
                <a:spcPts val="300"/>
              </a:spcAft>
              <a:buNone/>
            </a:pPr>
            <a:r>
              <a:rPr lang="en-US" sz="1100" dirty="0">
                <a:solidFill>
                  <a:srgbClr val="FBE9E9"/>
                </a:solidFill>
              </a:rPr>
              <a:t>client_beneficiary_profile_curr_ikg.sql - the only file the story names; all the logic pasted into it</a:t>
            </a:r>
            <a:endParaRPr lang="en-US" sz="1100" dirty="0"/>
          </a:p>
        </p:txBody>
      </p:sp>
      <p:sp>
        <p:nvSpPr>
          <p:cNvPr id="10" name="Shape 8"/>
          <p:cNvSpPr/>
          <p:nvPr/>
        </p:nvSpPr>
        <p:spPr>
          <a:xfrm>
            <a:off x="8229600" y="1371600"/>
            <a:ext cx="3566160" cy="804672"/>
          </a:xfrm>
          <a:prstGeom prst="roundRect">
            <a:avLst>
              <a:gd name="adj" fmla="val 11364"/>
            </a:avLst>
          </a:prstGeom>
          <a:solidFill>
            <a:srgbClr val="FFFFFF"/>
          </a:solidFill>
          <a:ln w="19050">
            <a:solidFill>
              <a:srgbClr val="2E9E6B"/>
            </a:solidFill>
            <a:prstDash val="solid"/>
          </a:ln>
        </p:spPr>
      </p:sp>
      <p:sp>
        <p:nvSpPr>
          <p:cNvPr id="11" name="Text 9"/>
          <p:cNvSpPr txBox="1"/>
          <p:nvPr/>
        </p:nvSpPr>
        <p:spPr>
          <a:xfrm>
            <a:off x="8366760" y="1426464"/>
            <a:ext cx="3383280" cy="274320"/>
          </a:xfrm>
          <a:prstGeom prst="rect">
            <a:avLst/>
          </a:prstGeom>
          <a:noFill/>
          <a:ln/>
        </p:spPr>
        <p:txBody>
          <a:bodyPr wrap="square" lIns="0" tIns="0" rIns="0" bIns="0" rtlCol="0" anchor="t"/>
          <a:lstStyle/>
          <a:p>
            <a:pPr indent="0" marL="0">
              <a:buNone/>
            </a:pPr>
            <a:r>
              <a:rPr lang="en-US" sz="950" b="1" dirty="0">
                <a:solidFill>
                  <a:srgbClr val="1B1F3B"/>
                </a:solidFill>
              </a:rPr>
              <a:t>ikg_beneficiary_outbound/beneficiary_update_flags_ikg.sql</a:t>
            </a:r>
            <a:endParaRPr lang="en-US" sz="950" dirty="0"/>
          </a:p>
        </p:txBody>
      </p:sp>
      <p:sp>
        <p:nvSpPr>
          <p:cNvPr id="12" name="Text 10"/>
          <p:cNvSpPr txBox="1"/>
          <p:nvPr/>
        </p:nvSpPr>
        <p:spPr>
          <a:xfrm>
            <a:off x="8366760" y="1700784"/>
            <a:ext cx="3383280" cy="457200"/>
          </a:xfrm>
          <a:prstGeom prst="rect">
            <a:avLst/>
          </a:prstGeom>
          <a:noFill/>
          <a:ln/>
        </p:spPr>
        <p:txBody>
          <a:bodyPr wrap="square" lIns="0" tIns="0" rIns="0" bIns="0" rtlCol="0" anchor="t"/>
          <a:lstStyle/>
          <a:p>
            <a:pPr indent="0" marL="0">
              <a:buNone/>
            </a:pPr>
            <a:r>
              <a:rPr lang="en-US" sz="950" dirty="0">
                <a:solidFill>
                  <a:srgbClr val="4A4F6B"/>
                </a:solidFill>
              </a:rPr>
              <a:t>NEW intermediate table: the story's SQL, modularised, DISTRIBUTED BY the key</a:t>
            </a:r>
            <a:endParaRPr lang="en-US" sz="950" dirty="0"/>
          </a:p>
        </p:txBody>
      </p:sp>
      <p:sp>
        <p:nvSpPr>
          <p:cNvPr id="13" name="Shape 11"/>
          <p:cNvSpPr/>
          <p:nvPr/>
        </p:nvSpPr>
        <p:spPr>
          <a:xfrm flipV="1">
            <a:off x="7818120" y="1773936"/>
            <a:ext cx="365760" cy="557784"/>
          </a:xfrm>
          <a:prstGeom prst="line">
            <a:avLst/>
          </a:prstGeom>
          <a:noFill/>
          <a:ln w="19050">
            <a:solidFill>
              <a:srgbClr val="2E9E6B"/>
            </a:solidFill>
            <a:prstDash val="solid"/>
            <a:tailEnd type="triangle"/>
          </a:ln>
        </p:spPr>
      </p:sp>
      <p:sp>
        <p:nvSpPr>
          <p:cNvPr id="14" name="Shape 12"/>
          <p:cNvSpPr/>
          <p:nvPr/>
        </p:nvSpPr>
        <p:spPr>
          <a:xfrm>
            <a:off x="8229600" y="2286000"/>
            <a:ext cx="3566160" cy="804672"/>
          </a:xfrm>
          <a:prstGeom prst="roundRect">
            <a:avLst>
              <a:gd name="adj" fmla="val 11364"/>
            </a:avLst>
          </a:prstGeom>
          <a:solidFill>
            <a:srgbClr val="FFFFFF"/>
          </a:solidFill>
          <a:ln w="19050">
            <a:solidFill>
              <a:srgbClr val="6C5CE7"/>
            </a:solidFill>
            <a:prstDash val="solid"/>
          </a:ln>
        </p:spPr>
      </p:sp>
      <p:sp>
        <p:nvSpPr>
          <p:cNvPr id="15" name="Text 13"/>
          <p:cNvSpPr txBox="1"/>
          <p:nvPr/>
        </p:nvSpPr>
        <p:spPr>
          <a:xfrm>
            <a:off x="8366760" y="2340864"/>
            <a:ext cx="3383280" cy="274320"/>
          </a:xfrm>
          <a:prstGeom prst="rect">
            <a:avLst/>
          </a:prstGeom>
          <a:noFill/>
          <a:ln/>
        </p:spPr>
        <p:txBody>
          <a:bodyPr wrap="square" lIns="0" tIns="0" rIns="0" bIns="0" rtlCol="0" anchor="t"/>
          <a:lstStyle/>
          <a:p>
            <a:pPr indent="0" marL="0">
              <a:buNone/>
            </a:pPr>
            <a:r>
              <a:rPr lang="en-US" sz="950" b="1" dirty="0">
                <a:solidFill>
                  <a:srgbClr val="1B1F3B"/>
                </a:solidFill>
              </a:rPr>
              <a:t>ikg_create_profiles/client_beneficiary_profile_curr_ikg.sql</a:t>
            </a:r>
            <a:endParaRPr lang="en-US" sz="950" dirty="0"/>
          </a:p>
        </p:txBody>
      </p:sp>
      <p:sp>
        <p:nvSpPr>
          <p:cNvPr id="16" name="Text 14"/>
          <p:cNvSpPr txBox="1"/>
          <p:nvPr/>
        </p:nvSpPr>
        <p:spPr>
          <a:xfrm>
            <a:off x="8366760" y="2615184"/>
            <a:ext cx="3383280" cy="457200"/>
          </a:xfrm>
          <a:prstGeom prst="rect">
            <a:avLst/>
          </a:prstGeom>
          <a:noFill/>
          <a:ln/>
        </p:spPr>
        <p:txBody>
          <a:bodyPr wrap="square" lIns="0" tIns="0" rIns="0" bIns="0" rtlCol="0" anchor="t"/>
          <a:lstStyle/>
          <a:p>
            <a:pPr indent="0" marL="0">
              <a:buNone/>
            </a:pPr>
            <a:r>
              <a:rPr lang="en-US" sz="950" dirty="0">
                <a:solidFill>
                  <a:srgbClr val="4A4F6B"/>
                </a:solidFill>
              </a:rPr>
              <a:t>MODIFY: only a LEFT JOIN + six columns; rest byte-identical</a:t>
            </a:r>
            <a:endParaRPr lang="en-US" sz="950" dirty="0"/>
          </a:p>
        </p:txBody>
      </p:sp>
      <p:sp>
        <p:nvSpPr>
          <p:cNvPr id="17" name="Shape 15"/>
          <p:cNvSpPr/>
          <p:nvPr/>
        </p:nvSpPr>
        <p:spPr>
          <a:xfrm>
            <a:off x="7818120" y="2331720"/>
            <a:ext cx="365760" cy="356616"/>
          </a:xfrm>
          <a:prstGeom prst="line">
            <a:avLst/>
          </a:prstGeom>
          <a:noFill/>
          <a:ln w="19050">
            <a:solidFill>
              <a:srgbClr val="6C5CE7"/>
            </a:solidFill>
            <a:prstDash val="solid"/>
            <a:tailEnd type="triangle"/>
          </a:ln>
        </p:spPr>
      </p:sp>
      <p:sp>
        <p:nvSpPr>
          <p:cNvPr id="18" name="Shape 16"/>
          <p:cNvSpPr/>
          <p:nvPr/>
        </p:nvSpPr>
        <p:spPr>
          <a:xfrm>
            <a:off x="8229600" y="3200400"/>
            <a:ext cx="3566160" cy="804672"/>
          </a:xfrm>
          <a:prstGeom prst="roundRect">
            <a:avLst>
              <a:gd name="adj" fmla="val 11364"/>
            </a:avLst>
          </a:prstGeom>
          <a:solidFill>
            <a:srgbClr val="FFFFFF"/>
          </a:solidFill>
          <a:ln w="19050">
            <a:solidFill>
              <a:srgbClr val="22B8CF"/>
            </a:solidFill>
            <a:prstDash val="solid"/>
          </a:ln>
        </p:spPr>
      </p:sp>
      <p:sp>
        <p:nvSpPr>
          <p:cNvPr id="19" name="Text 17"/>
          <p:cNvSpPr txBox="1"/>
          <p:nvPr/>
        </p:nvSpPr>
        <p:spPr>
          <a:xfrm>
            <a:off x="8366760" y="3255264"/>
            <a:ext cx="3383280" cy="274320"/>
          </a:xfrm>
          <a:prstGeom prst="rect">
            <a:avLst/>
          </a:prstGeom>
          <a:noFill/>
          <a:ln/>
        </p:spPr>
        <p:txBody>
          <a:bodyPr wrap="square" lIns="0" tIns="0" rIns="0" bIns="0" rtlCol="0" anchor="t"/>
          <a:lstStyle/>
          <a:p>
            <a:pPr indent="0" marL="0">
              <a:buNone/>
            </a:pPr>
            <a:r>
              <a:rPr lang="en-US" sz="950" b="1" dirty="0">
                <a:solidFill>
                  <a:srgbClr val="1B1F3B"/>
                </a:solidFill>
              </a:rPr>
              <a:t>ikg_create_profiles_history/client_beneficiary_profile_ikg.sql</a:t>
            </a:r>
            <a:endParaRPr lang="en-US" sz="950" dirty="0"/>
          </a:p>
        </p:txBody>
      </p:sp>
      <p:sp>
        <p:nvSpPr>
          <p:cNvPr id="20" name="Text 18"/>
          <p:cNvSpPr txBox="1"/>
          <p:nvPr/>
        </p:nvSpPr>
        <p:spPr>
          <a:xfrm>
            <a:off x="8366760" y="3529584"/>
            <a:ext cx="3383280" cy="457200"/>
          </a:xfrm>
          <a:prstGeom prst="rect">
            <a:avLst/>
          </a:prstGeom>
          <a:noFill/>
          <a:ln/>
        </p:spPr>
        <p:txBody>
          <a:bodyPr wrap="square" lIns="0" tIns="0" rIns="0" bIns="0" rtlCol="0" anchor="t"/>
          <a:lstStyle/>
          <a:p>
            <a:pPr indent="0" marL="0">
              <a:buNone/>
            </a:pPr>
            <a:r>
              <a:rPr lang="en-US" sz="950" dirty="0">
                <a:solidFill>
                  <a:srgbClr val="4A4F6B"/>
                </a:solidFill>
              </a:rPr>
              <a:t>sibling: same table, other folder → same six columns</a:t>
            </a:r>
            <a:endParaRPr lang="en-US" sz="950" dirty="0"/>
          </a:p>
        </p:txBody>
      </p:sp>
      <p:sp>
        <p:nvSpPr>
          <p:cNvPr id="21" name="Shape 19"/>
          <p:cNvSpPr/>
          <p:nvPr/>
        </p:nvSpPr>
        <p:spPr>
          <a:xfrm>
            <a:off x="7818120" y="2331720"/>
            <a:ext cx="365760" cy="1271016"/>
          </a:xfrm>
          <a:prstGeom prst="line">
            <a:avLst/>
          </a:prstGeom>
          <a:noFill/>
          <a:ln w="19050">
            <a:solidFill>
              <a:srgbClr val="22B8CF"/>
            </a:solidFill>
            <a:prstDash val="solid"/>
            <a:tailEnd type="triangle"/>
          </a:ln>
        </p:spPr>
      </p:sp>
      <p:sp>
        <p:nvSpPr>
          <p:cNvPr id="22" name="Shape 20"/>
          <p:cNvSpPr/>
          <p:nvPr/>
        </p:nvSpPr>
        <p:spPr>
          <a:xfrm>
            <a:off x="8229600" y="4114800"/>
            <a:ext cx="3566160" cy="804672"/>
          </a:xfrm>
          <a:prstGeom prst="roundRect">
            <a:avLst>
              <a:gd name="adj" fmla="val 11364"/>
            </a:avLst>
          </a:prstGeom>
          <a:solidFill>
            <a:srgbClr val="FFFFFF"/>
          </a:solidFill>
          <a:ln w="19050">
            <a:solidFill>
              <a:srgbClr val="E6A23C"/>
            </a:solidFill>
            <a:prstDash val="solid"/>
          </a:ln>
        </p:spPr>
      </p:sp>
      <p:sp>
        <p:nvSpPr>
          <p:cNvPr id="23" name="Text 21"/>
          <p:cNvSpPr txBox="1"/>
          <p:nvPr/>
        </p:nvSpPr>
        <p:spPr>
          <a:xfrm>
            <a:off x="8366760" y="4169664"/>
            <a:ext cx="3383280" cy="274320"/>
          </a:xfrm>
          <a:prstGeom prst="rect">
            <a:avLst/>
          </a:prstGeom>
          <a:noFill/>
          <a:ln/>
        </p:spPr>
        <p:txBody>
          <a:bodyPr wrap="square" lIns="0" tIns="0" rIns="0" bIns="0" rtlCol="0" anchor="t"/>
          <a:lstStyle/>
          <a:p>
            <a:pPr indent="0" marL="0">
              <a:buNone/>
            </a:pPr>
            <a:r>
              <a:rPr lang="en-US" sz="950" b="1" dirty="0">
                <a:solidFill>
                  <a:srgbClr val="1B1F3B"/>
                </a:solidFill>
              </a:rPr>
              <a:t>dags/ikg_data_refresh.py</a:t>
            </a:r>
            <a:endParaRPr lang="en-US" sz="950" dirty="0"/>
          </a:p>
        </p:txBody>
      </p:sp>
      <p:sp>
        <p:nvSpPr>
          <p:cNvPr id="24" name="Text 22"/>
          <p:cNvSpPr txBox="1"/>
          <p:nvPr/>
        </p:nvSpPr>
        <p:spPr>
          <a:xfrm>
            <a:off x="8366760" y="4443984"/>
            <a:ext cx="3383280" cy="457200"/>
          </a:xfrm>
          <a:prstGeom prst="rect">
            <a:avLst/>
          </a:prstGeom>
          <a:noFill/>
          <a:ln/>
        </p:spPr>
        <p:txBody>
          <a:bodyPr wrap="square" lIns="0" tIns="0" rIns="0" bIns="0" rtlCol="0" anchor="t"/>
          <a:lstStyle/>
          <a:p>
            <a:pPr indent="0" marL="0">
              <a:buNone/>
            </a:pPr>
            <a:r>
              <a:rPr lang="en-US" sz="950" dirty="0">
                <a:solidFill>
                  <a:srgbClr val="4A4F6B"/>
                </a:solidFill>
              </a:rPr>
              <a:t>one operator line + task_map entry, copied from the neighbours</a:t>
            </a:r>
            <a:endParaRPr lang="en-US" sz="950" dirty="0"/>
          </a:p>
        </p:txBody>
      </p:sp>
      <p:sp>
        <p:nvSpPr>
          <p:cNvPr id="25" name="Shape 23"/>
          <p:cNvSpPr/>
          <p:nvPr/>
        </p:nvSpPr>
        <p:spPr>
          <a:xfrm>
            <a:off x="7818120" y="2331720"/>
            <a:ext cx="365760" cy="2185416"/>
          </a:xfrm>
          <a:prstGeom prst="line">
            <a:avLst/>
          </a:prstGeom>
          <a:noFill/>
          <a:ln w="19050">
            <a:solidFill>
              <a:srgbClr val="E6A23C"/>
            </a:solidFill>
            <a:prstDash val="solid"/>
            <a:tailEnd type="triangle"/>
          </a:ln>
        </p:spPr>
      </p:sp>
      <p:sp>
        <p:nvSpPr>
          <p:cNvPr id="26" name="Shape 24"/>
          <p:cNvSpPr/>
          <p:nvPr/>
        </p:nvSpPr>
        <p:spPr>
          <a:xfrm>
            <a:off x="8229600" y="5029200"/>
            <a:ext cx="3566160" cy="804672"/>
          </a:xfrm>
          <a:prstGeom prst="roundRect">
            <a:avLst>
              <a:gd name="adj" fmla="val 11364"/>
            </a:avLst>
          </a:prstGeom>
          <a:solidFill>
            <a:srgbClr val="FFFFFF"/>
          </a:solidFill>
          <a:ln w="19050">
            <a:solidFill>
              <a:srgbClr val="9AA0BF"/>
            </a:solidFill>
            <a:prstDash val="solid"/>
          </a:ln>
        </p:spPr>
      </p:sp>
      <p:sp>
        <p:nvSpPr>
          <p:cNvPr id="27" name="Text 25"/>
          <p:cNvSpPr txBox="1"/>
          <p:nvPr/>
        </p:nvSpPr>
        <p:spPr>
          <a:xfrm>
            <a:off x="8366760" y="5084064"/>
            <a:ext cx="3383280" cy="274320"/>
          </a:xfrm>
          <a:prstGeom prst="rect">
            <a:avLst/>
          </a:prstGeom>
          <a:noFill/>
          <a:ln/>
        </p:spPr>
        <p:txBody>
          <a:bodyPr wrap="square" lIns="0" tIns="0" rIns="0" bIns="0" rtlCol="0" anchor="t"/>
          <a:lstStyle/>
          <a:p>
            <a:pPr indent="0" marL="0">
              <a:buNone/>
            </a:pPr>
            <a:r>
              <a:rPr lang="en-US" sz="950" b="1" dirty="0">
                <a:solidFill>
                  <a:srgbClr val="1B1F3B"/>
                </a:solidFill>
              </a:rPr>
              <a:t>notebooks/validate_2547.ipynb</a:t>
            </a:r>
            <a:endParaRPr lang="en-US" sz="950" dirty="0"/>
          </a:p>
        </p:txBody>
      </p:sp>
      <p:sp>
        <p:nvSpPr>
          <p:cNvPr id="28" name="Text 26"/>
          <p:cNvSpPr txBox="1"/>
          <p:nvPr/>
        </p:nvSpPr>
        <p:spPr>
          <a:xfrm>
            <a:off x="8366760" y="5358384"/>
            <a:ext cx="3383280" cy="457200"/>
          </a:xfrm>
          <a:prstGeom prst="rect">
            <a:avLst/>
          </a:prstGeom>
          <a:noFill/>
          <a:ln/>
        </p:spPr>
        <p:txBody>
          <a:bodyPr wrap="square" lIns="0" tIns="0" rIns="0" bIns="0" rtlCol="0" anchor="t"/>
          <a:lstStyle/>
          <a:p>
            <a:pPr indent="0" marL="0">
              <a:buNone/>
            </a:pPr>
            <a:r>
              <a:rPr lang="en-US" sz="950" dirty="0">
                <a:solidFill>
                  <a:srgbClr val="4A4F6B"/>
                </a:solidFill>
              </a:rPr>
              <a:t>row counts, 0/1 flags, null shares - from the acceptance criteria</a:t>
            </a:r>
            <a:endParaRPr lang="en-US" sz="950" dirty="0"/>
          </a:p>
        </p:txBody>
      </p:sp>
      <p:sp>
        <p:nvSpPr>
          <p:cNvPr id="29" name="Shape 27"/>
          <p:cNvSpPr/>
          <p:nvPr/>
        </p:nvSpPr>
        <p:spPr>
          <a:xfrm>
            <a:off x="7818120" y="2331720"/>
            <a:ext cx="365760" cy="3099816"/>
          </a:xfrm>
          <a:prstGeom prst="line">
            <a:avLst/>
          </a:prstGeom>
          <a:noFill/>
          <a:ln w="19050">
            <a:solidFill>
              <a:srgbClr val="9AA0BF"/>
            </a:solidFill>
            <a:prstDash val="solid"/>
            <a:tailEnd type="triangle"/>
          </a:ln>
        </p:spPr>
      </p:sp>
      <p:sp>
        <p:nvSpPr>
          <p:cNvPr id="30" name="Shape 28"/>
          <p:cNvSpPr/>
          <p:nvPr/>
        </p:nvSpPr>
        <p:spPr>
          <a:xfrm>
            <a:off x="640080" y="3566160"/>
            <a:ext cx="7132320" cy="2377440"/>
          </a:xfrm>
          <a:prstGeom prst="roundRect">
            <a:avLst>
              <a:gd name="adj" fmla="val 4615"/>
            </a:avLst>
          </a:prstGeom>
          <a:solidFill>
            <a:srgbClr val="F1F2F8"/>
          </a:solidFill>
          <a:ln w="12700">
            <a:solidFill>
              <a:srgbClr val="F1F2F8"/>
            </a:solidFill>
            <a:prstDash val="solid"/>
          </a:ln>
        </p:spPr>
      </p:sp>
      <p:sp>
        <p:nvSpPr>
          <p:cNvPr id="31" name="Text 29"/>
          <p:cNvSpPr txBox="1"/>
          <p:nvPr/>
        </p:nvSpPr>
        <p:spPr>
          <a:xfrm>
            <a:off x="822960" y="3703320"/>
            <a:ext cx="6766560" cy="411480"/>
          </a:xfrm>
          <a:prstGeom prst="rect">
            <a:avLst/>
          </a:prstGeom>
          <a:noFill/>
          <a:ln/>
        </p:spPr>
        <p:txBody>
          <a:bodyPr wrap="square" lIns="0" tIns="0" rIns="0" bIns="0" rtlCol="0" anchor="ctr"/>
          <a:lstStyle/>
          <a:p>
            <a:pPr indent="0" marL="0">
              <a:buNone/>
            </a:pPr>
            <a:r>
              <a:rPr lang="en-US" sz="1500" b="1" dirty="0">
                <a:solidFill>
                  <a:srgbClr val="1B1F3B"/>
                </a:solidFill>
              </a:rPr>
              <a:t>Why four more files appear - no IKG rule hard-coded</a:t>
            </a:r>
            <a:endParaRPr lang="en-US" sz="1500" dirty="0"/>
          </a:p>
        </p:txBody>
      </p:sp>
      <p:sp>
        <p:nvSpPr>
          <p:cNvPr id="32" name="Text 30"/>
          <p:cNvSpPr txBox="1"/>
          <p:nvPr/>
        </p:nvSpPr>
        <p:spPr>
          <a:xfrm>
            <a:off x="822960" y="4133088"/>
            <a:ext cx="6766560" cy="173736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4A4F6B"/>
                </a:solidFill>
              </a:rPr>
              <a:t>companion_files finds the history script (same stem minus _curr) and the configs that mention the table</a:t>
            </a:r>
            <a:endParaRPr lang="en-US" sz="1100" dirty="0"/>
          </a:p>
          <a:p>
            <a:pPr marL="342900" indent="-342900">
              <a:spcAft>
                <a:spcPts val="300"/>
              </a:spcAft>
              <a:buSzPct val="100000"/>
              <a:buChar char="•"/>
            </a:pPr>
            <a:r>
              <a:rPr lang="en-US" sz="1100" dirty="0">
                <a:solidFill>
                  <a:srgbClr val="4A4F6B"/>
                </a:solidFill>
              </a:rPr>
              <a:t>registration_points finds the DAG that names the folder and lists its scripts - even for a single-script folder</a:t>
            </a:r>
            <a:endParaRPr lang="en-US" sz="1100" dirty="0"/>
          </a:p>
          <a:p>
            <a:pPr marL="342900" indent="-342900">
              <a:spcAft>
                <a:spcPts val="300"/>
              </a:spcAft>
              <a:buSzPct val="100000"/>
              <a:buChar char="•"/>
            </a:pPr>
            <a:r>
              <a:rPr lang="en-US" sz="1100" dirty="0">
                <a:solidFill>
                  <a:srgbClr val="4A4F6B"/>
                </a:solidFill>
              </a:rPr>
              <a:t>the knowledge agent extracted the convention 'logic lives in intermediate tables; profile scripts only join'</a:t>
            </a:r>
            <a:endParaRPr lang="en-US" sz="1100" dirty="0"/>
          </a:p>
          <a:p>
            <a:pPr marL="342900" indent="-342900">
              <a:spcAft>
                <a:spcPts val="300"/>
              </a:spcAft>
              <a:buSzPct val="100000"/>
              <a:buChar char="•"/>
            </a:pPr>
            <a:r>
              <a:rPr lang="en-US" sz="1100" dirty="0">
                <a:solidFill>
                  <a:srgbClr val="4A4F6B"/>
                </a:solidFill>
              </a:rPr>
              <a:t>planner grounding rejects a plan that pushes joins / CASE logic into the existing profile file</a:t>
            </a:r>
            <a:endParaRPr lang="en-US" sz="1100" dirty="0"/>
          </a:p>
          <a:p>
            <a:pPr marL="342900" indent="-342900">
              <a:spcAft>
                <a:spcPts val="300"/>
              </a:spcAft>
              <a:buSzPct val="100000"/>
              <a:buChar char="•"/>
            </a:pPr>
            <a:r>
              <a:rPr lang="en-US" sz="1100" dirty="0">
                <a:solidFill>
                  <a:srgbClr val="4A4F6B"/>
                </a:solidFill>
              </a:rPr>
              <a:t>the test plan comes from the acceptance criteria of the story</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Code is checked three times before the developer sees it</a:t>
            </a:r>
            <a:endParaRPr lang="en-US" sz="3000" dirty="0"/>
          </a:p>
        </p:txBody>
      </p:sp>
      <p:sp>
        <p:nvSpPr>
          <p:cNvPr id="3" name="Shape 1"/>
          <p:cNvSpPr/>
          <p:nvPr/>
        </p:nvSpPr>
        <p:spPr>
          <a:xfrm>
            <a:off x="640080" y="1463040"/>
            <a:ext cx="2560320" cy="2377440"/>
          </a:xfrm>
          <a:prstGeom prst="roundRect">
            <a:avLst>
              <a:gd name="adj" fmla="val 4615"/>
            </a:avLst>
          </a:prstGeom>
          <a:solidFill>
            <a:srgbClr val="FFFFFF"/>
          </a:solidFill>
          <a:ln w="19050">
            <a:solidFill>
              <a:srgbClr val="6C5CE7"/>
            </a:solidFill>
            <a:prstDash val="solid"/>
          </a:ln>
        </p:spPr>
      </p:sp>
      <p:sp>
        <p:nvSpPr>
          <p:cNvPr id="4" name="Text 2"/>
          <p:cNvSpPr txBox="1"/>
          <p:nvPr/>
        </p:nvSpPr>
        <p:spPr>
          <a:xfrm>
            <a:off x="822960" y="1600200"/>
            <a:ext cx="2194560" cy="411480"/>
          </a:xfrm>
          <a:prstGeom prst="rect">
            <a:avLst/>
          </a:prstGeom>
          <a:noFill/>
          <a:ln/>
        </p:spPr>
        <p:txBody>
          <a:bodyPr wrap="square" lIns="0" tIns="0" rIns="0" bIns="0" rtlCol="0" anchor="ctr"/>
          <a:lstStyle/>
          <a:p>
            <a:pPr indent="0" marL="0">
              <a:buNone/>
            </a:pPr>
            <a:r>
              <a:rPr lang="en-US" sz="1500" b="1" dirty="0">
                <a:solidFill>
                  <a:srgbClr val="1B1F3B"/>
                </a:solidFill>
              </a:rPr>
              <a:t>1 · Coder writes</a:t>
            </a:r>
            <a:endParaRPr lang="en-US" sz="1500" dirty="0"/>
          </a:p>
        </p:txBody>
      </p:sp>
      <p:sp>
        <p:nvSpPr>
          <p:cNvPr id="5" name="Text 3"/>
          <p:cNvSpPr txBox="1"/>
          <p:nvPr/>
        </p:nvSpPr>
        <p:spPr>
          <a:xfrm>
            <a:off x="822960" y="2029968"/>
            <a:ext cx="2194560" cy="17373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complete file, or verbatim-anchored edits for large files; follows the design and the repository patterns; story SQL kept as the specification; self-confidence 0-100</a:t>
            </a:r>
            <a:endParaRPr lang="en-US" sz="1100" dirty="0"/>
          </a:p>
        </p:txBody>
      </p:sp>
      <p:sp>
        <p:nvSpPr>
          <p:cNvPr id="6" name="Shape 4"/>
          <p:cNvSpPr/>
          <p:nvPr/>
        </p:nvSpPr>
        <p:spPr>
          <a:xfrm>
            <a:off x="3657600" y="1463040"/>
            <a:ext cx="2560320" cy="2377440"/>
          </a:xfrm>
          <a:prstGeom prst="roundRect">
            <a:avLst>
              <a:gd name="adj" fmla="val 4615"/>
            </a:avLst>
          </a:prstGeom>
          <a:solidFill>
            <a:srgbClr val="FFFFFF"/>
          </a:solidFill>
          <a:ln w="19050">
            <a:solidFill>
              <a:srgbClr val="22B8CF"/>
            </a:solidFill>
            <a:prstDash val="solid"/>
          </a:ln>
        </p:spPr>
      </p:sp>
      <p:sp>
        <p:nvSpPr>
          <p:cNvPr id="7" name="Text 5"/>
          <p:cNvSpPr txBox="1"/>
          <p:nvPr/>
        </p:nvSpPr>
        <p:spPr>
          <a:xfrm>
            <a:off x="3840480" y="1600200"/>
            <a:ext cx="2194560" cy="411480"/>
          </a:xfrm>
          <a:prstGeom prst="rect">
            <a:avLst/>
          </a:prstGeom>
          <a:noFill/>
          <a:ln/>
        </p:spPr>
        <p:txBody>
          <a:bodyPr wrap="square" lIns="0" tIns="0" rIns="0" bIns="0" rtlCol="0" anchor="ctr"/>
          <a:lstStyle/>
          <a:p>
            <a:pPr indent="0" marL="0">
              <a:buNone/>
            </a:pPr>
            <a:r>
              <a:rPr lang="en-US" sz="1500" b="1" dirty="0">
                <a:solidFill>
                  <a:srgbClr val="1B1F3B"/>
                </a:solidFill>
              </a:rPr>
              <a:t>2 · Validator (code, no LLM)</a:t>
            </a:r>
            <a:endParaRPr lang="en-US" sz="1500" dirty="0"/>
          </a:p>
        </p:txBody>
      </p:sp>
      <p:sp>
        <p:nvSpPr>
          <p:cNvPr id="8" name="Text 6"/>
          <p:cNvSpPr txBox="1"/>
          <p:nvPr/>
        </p:nvSpPr>
        <p:spPr>
          <a:xfrm>
            <a:off x="3840480" y="2029968"/>
            <a:ext cx="2194560" cy="17373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python ast + pyflakes · Airflow DAG checks · SQL parsed with Jinja params substituted; Greenplum clauses understood; unchanged repository statements trusted · team regex rules with scopes and exceptions</a:t>
            </a:r>
            <a:endParaRPr lang="en-US" sz="1100" dirty="0"/>
          </a:p>
        </p:txBody>
      </p:sp>
      <p:sp>
        <p:nvSpPr>
          <p:cNvPr id="9" name="Shape 7"/>
          <p:cNvSpPr/>
          <p:nvPr/>
        </p:nvSpPr>
        <p:spPr>
          <a:xfrm>
            <a:off x="6675120" y="1463040"/>
            <a:ext cx="2560320" cy="2377440"/>
          </a:xfrm>
          <a:prstGeom prst="roundRect">
            <a:avLst>
              <a:gd name="adj" fmla="val 4615"/>
            </a:avLst>
          </a:prstGeom>
          <a:solidFill>
            <a:srgbClr val="FFFFFF"/>
          </a:solidFill>
          <a:ln w="19050">
            <a:solidFill>
              <a:srgbClr val="E6A23C"/>
            </a:solidFill>
            <a:prstDash val="solid"/>
          </a:ln>
        </p:spPr>
      </p:sp>
      <p:sp>
        <p:nvSpPr>
          <p:cNvPr id="10" name="Text 8"/>
          <p:cNvSpPr txBox="1"/>
          <p:nvPr/>
        </p:nvSpPr>
        <p:spPr>
          <a:xfrm>
            <a:off x="6858000" y="1600200"/>
            <a:ext cx="2194560" cy="411480"/>
          </a:xfrm>
          <a:prstGeom prst="rect">
            <a:avLst/>
          </a:prstGeom>
          <a:noFill/>
          <a:ln/>
        </p:spPr>
        <p:txBody>
          <a:bodyPr wrap="square" lIns="0" tIns="0" rIns="0" bIns="0" rtlCol="0" anchor="ctr"/>
          <a:lstStyle/>
          <a:p>
            <a:pPr indent="0" marL="0">
              <a:buNone/>
            </a:pPr>
            <a:r>
              <a:rPr lang="en-US" sz="1500" b="1" dirty="0">
                <a:solidFill>
                  <a:srgbClr val="1B1F3B"/>
                </a:solidFill>
              </a:rPr>
              <a:t>3 · Reviewer agent (independent)</a:t>
            </a:r>
            <a:endParaRPr lang="en-US" sz="1500" dirty="0"/>
          </a:p>
        </p:txBody>
      </p:sp>
      <p:sp>
        <p:nvSpPr>
          <p:cNvPr id="11" name="Text 9"/>
          <p:cNvSpPr txBox="1"/>
          <p:nvPr/>
        </p:nvSpPr>
        <p:spPr>
          <a:xfrm>
            <a:off x="6858000" y="2029968"/>
            <a:ext cx="2194560" cy="17373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requirement coverage, one row each · story SQL respected? · every new script registered, every companion changed? · impact on consumers · performance · standards → findings with file + line, score 0-100, verdict approve / fix_required / reject</a:t>
            </a:r>
            <a:endParaRPr lang="en-US" sz="1100" dirty="0"/>
          </a:p>
        </p:txBody>
      </p:sp>
      <p:sp>
        <p:nvSpPr>
          <p:cNvPr id="12" name="Shape 10"/>
          <p:cNvSpPr/>
          <p:nvPr/>
        </p:nvSpPr>
        <p:spPr>
          <a:xfrm>
            <a:off x="9692640" y="1463040"/>
            <a:ext cx="2560320" cy="2377440"/>
          </a:xfrm>
          <a:prstGeom prst="roundRect">
            <a:avLst>
              <a:gd name="adj" fmla="val 4615"/>
            </a:avLst>
          </a:prstGeom>
          <a:solidFill>
            <a:srgbClr val="2E9E6B"/>
          </a:solidFill>
          <a:ln w="12700">
            <a:solidFill>
              <a:srgbClr val="2E9E6B"/>
            </a:solidFill>
            <a:prstDash val="solid"/>
          </a:ln>
        </p:spPr>
      </p:sp>
      <p:sp>
        <p:nvSpPr>
          <p:cNvPr id="13" name="Text 11"/>
          <p:cNvSpPr txBox="1"/>
          <p:nvPr/>
        </p:nvSpPr>
        <p:spPr>
          <a:xfrm>
            <a:off x="9875520" y="1600200"/>
            <a:ext cx="2194560" cy="411480"/>
          </a:xfrm>
          <a:prstGeom prst="rect">
            <a:avLst/>
          </a:prstGeom>
          <a:noFill/>
          <a:ln/>
        </p:spPr>
        <p:txBody>
          <a:bodyPr wrap="square" lIns="0" tIns="0" rIns="0" bIns="0" rtlCol="0" anchor="ctr"/>
          <a:lstStyle/>
          <a:p>
            <a:pPr indent="0" marL="0">
              <a:buNone/>
            </a:pPr>
            <a:r>
              <a:rPr lang="en-US" sz="1500" b="1" dirty="0">
                <a:solidFill>
                  <a:srgbClr val="FFFFFF"/>
                </a:solidFill>
              </a:rPr>
              <a:t>4 · Developer</a:t>
            </a:r>
            <a:endParaRPr lang="en-US" sz="1500" dirty="0"/>
          </a:p>
        </p:txBody>
      </p:sp>
      <p:sp>
        <p:nvSpPr>
          <p:cNvPr id="14" name="Text 12"/>
          <p:cNvSpPr txBox="1"/>
          <p:nvPr/>
        </p:nvSpPr>
        <p:spPr>
          <a:xfrm>
            <a:off x="9875520" y="2029968"/>
            <a:ext cx="2194560" cy="1737360"/>
          </a:xfrm>
          <a:prstGeom prst="rect">
            <a:avLst/>
          </a:prstGeom>
          <a:noFill/>
          <a:ln/>
        </p:spPr>
        <p:txBody>
          <a:bodyPr wrap="square" lIns="0" tIns="0" rIns="0" bIns="0" rtlCol="0" anchor="t"/>
          <a:lstStyle/>
          <a:p>
            <a:pPr indent="0" marL="0">
              <a:spcAft>
                <a:spcPts val="300"/>
              </a:spcAft>
              <a:buNone/>
            </a:pPr>
            <a:r>
              <a:rPr lang="en-US" sz="1100" dirty="0">
                <a:solidFill>
                  <a:srgbClr val="E8F7EE"/>
                </a:solidFill>
              </a:rPr>
              <a:t>reads plan, diff and review; edits inline or asks for changes in chat; pushes with own token - stays the author and the final reviewer; merge request + CI unchanged</a:t>
            </a:r>
            <a:endParaRPr lang="en-US" sz="1100" dirty="0"/>
          </a:p>
        </p:txBody>
      </p:sp>
      <p:sp>
        <p:nvSpPr>
          <p:cNvPr id="15" name="Shape 13"/>
          <p:cNvSpPr/>
          <p:nvPr/>
        </p:nvSpPr>
        <p:spPr>
          <a:xfrm>
            <a:off x="3200400" y="2651760"/>
            <a:ext cx="457200" cy="9144"/>
          </a:xfrm>
          <a:prstGeom prst="line">
            <a:avLst/>
          </a:prstGeom>
          <a:noFill/>
          <a:ln w="19050">
            <a:solidFill>
              <a:srgbClr val="9AA0BF"/>
            </a:solidFill>
            <a:prstDash val="solid"/>
            <a:tailEnd type="triangle"/>
          </a:ln>
        </p:spPr>
      </p:sp>
      <p:sp>
        <p:nvSpPr>
          <p:cNvPr id="16" name="Shape 14"/>
          <p:cNvSpPr/>
          <p:nvPr/>
        </p:nvSpPr>
        <p:spPr>
          <a:xfrm>
            <a:off x="6217920" y="2651760"/>
            <a:ext cx="457200" cy="9144"/>
          </a:xfrm>
          <a:prstGeom prst="line">
            <a:avLst/>
          </a:prstGeom>
          <a:noFill/>
          <a:ln w="19050">
            <a:solidFill>
              <a:srgbClr val="9AA0BF"/>
            </a:solidFill>
            <a:prstDash val="solid"/>
            <a:tailEnd type="triangle"/>
          </a:ln>
        </p:spPr>
      </p:sp>
      <p:sp>
        <p:nvSpPr>
          <p:cNvPr id="17" name="Shape 15"/>
          <p:cNvSpPr/>
          <p:nvPr/>
        </p:nvSpPr>
        <p:spPr>
          <a:xfrm>
            <a:off x="9235440" y="2651760"/>
            <a:ext cx="457200" cy="9144"/>
          </a:xfrm>
          <a:prstGeom prst="line">
            <a:avLst/>
          </a:prstGeom>
          <a:noFill/>
          <a:ln w="19050">
            <a:solidFill>
              <a:srgbClr val="9AA0BF"/>
            </a:solidFill>
            <a:prstDash val="solid"/>
            <a:tailEnd type="triangle"/>
          </a:ln>
        </p:spPr>
      </p:sp>
      <p:sp>
        <p:nvSpPr>
          <p:cNvPr id="18" name="Shape 16"/>
          <p:cNvSpPr/>
          <p:nvPr/>
        </p:nvSpPr>
        <p:spPr>
          <a:xfrm>
            <a:off x="1920240" y="4206240"/>
            <a:ext cx="6035040" cy="9144"/>
          </a:xfrm>
          <a:prstGeom prst="line">
            <a:avLst/>
          </a:prstGeom>
          <a:noFill/>
          <a:ln w="19050">
            <a:solidFill>
              <a:srgbClr val="E6A23C"/>
            </a:solidFill>
            <a:prstDash val="dash"/>
          </a:ln>
        </p:spPr>
      </p:sp>
      <p:sp>
        <p:nvSpPr>
          <p:cNvPr id="19" name="Shape 17"/>
          <p:cNvSpPr/>
          <p:nvPr/>
        </p:nvSpPr>
        <p:spPr>
          <a:xfrm>
            <a:off x="7955280" y="3840480"/>
            <a:ext cx="9144" cy="365760"/>
          </a:xfrm>
          <a:prstGeom prst="line">
            <a:avLst/>
          </a:prstGeom>
          <a:noFill/>
          <a:ln w="19050">
            <a:solidFill>
              <a:srgbClr val="E6A23C"/>
            </a:solidFill>
            <a:prstDash val="dash"/>
          </a:ln>
        </p:spPr>
      </p:sp>
      <p:sp>
        <p:nvSpPr>
          <p:cNvPr id="20" name="Shape 18"/>
          <p:cNvSpPr/>
          <p:nvPr/>
        </p:nvSpPr>
        <p:spPr>
          <a:xfrm>
            <a:off x="4937760" y="3840480"/>
            <a:ext cx="9144" cy="365760"/>
          </a:xfrm>
          <a:prstGeom prst="line">
            <a:avLst/>
          </a:prstGeom>
          <a:noFill/>
          <a:ln w="19050">
            <a:solidFill>
              <a:srgbClr val="E6A23C"/>
            </a:solidFill>
            <a:prstDash val="dash"/>
          </a:ln>
        </p:spPr>
      </p:sp>
      <p:sp>
        <p:nvSpPr>
          <p:cNvPr id="21" name="Shape 19"/>
          <p:cNvSpPr/>
          <p:nvPr/>
        </p:nvSpPr>
        <p:spPr>
          <a:xfrm flipV="1">
            <a:off x="1920240" y="3858768"/>
            <a:ext cx="9144" cy="347472"/>
          </a:xfrm>
          <a:prstGeom prst="line">
            <a:avLst/>
          </a:prstGeom>
          <a:noFill/>
          <a:ln w="19050">
            <a:solidFill>
              <a:srgbClr val="E6A23C"/>
            </a:solidFill>
            <a:prstDash val="dash"/>
            <a:tailEnd type="triangle"/>
          </a:ln>
        </p:spPr>
      </p:sp>
      <p:sp>
        <p:nvSpPr>
          <p:cNvPr id="22" name="Text 20"/>
          <p:cNvSpPr txBox="1"/>
          <p:nvPr/>
        </p:nvSpPr>
        <p:spPr>
          <a:xfrm>
            <a:off x="2103120" y="4297680"/>
            <a:ext cx="8686800" cy="320040"/>
          </a:xfrm>
          <a:prstGeom prst="rect">
            <a:avLst/>
          </a:prstGeom>
          <a:noFill/>
          <a:ln/>
        </p:spPr>
        <p:txBody>
          <a:bodyPr wrap="square" lIns="0" tIns="0" rIns="0" bIns="0" rtlCol="0" anchor="t"/>
          <a:lstStyle/>
          <a:p>
            <a:pPr indent="0" marL="0">
              <a:buNone/>
            </a:pPr>
            <a:r>
              <a:rPr lang="en-US" sz="1100" dirty="0">
                <a:solidFill>
                  <a:srgbClr val="E6A23C"/>
                </a:solidFill>
              </a:rPr>
              <a:t>blocking findings go back to the coder in fix mode - validator up to 2 rounds, review 1 round, inside the time budget; the review always runs (4 minutes reserved)</a:t>
            </a:r>
            <a:endParaRPr lang="en-US" sz="1100" dirty="0"/>
          </a:p>
        </p:txBody>
      </p:sp>
      <p:sp>
        <p:nvSpPr>
          <p:cNvPr id="23" name="Text 21"/>
          <p:cNvSpPr txBox="1"/>
          <p:nvPr/>
        </p:nvSpPr>
        <p:spPr>
          <a:xfrm>
            <a:off x="640080" y="4754880"/>
            <a:ext cx="3291840" cy="822960"/>
          </a:xfrm>
          <a:prstGeom prst="rect">
            <a:avLst/>
          </a:prstGeom>
          <a:noFill/>
          <a:ln/>
        </p:spPr>
        <p:txBody>
          <a:bodyPr wrap="square" lIns="0" tIns="0" rIns="0" bIns="0" rtlCol="0" anchor="t"/>
          <a:lstStyle/>
          <a:p>
            <a:pPr indent="0" marL="0">
              <a:buNone/>
            </a:pPr>
            <a:r>
              <a:rPr lang="en-US" sz="4400" b="1" dirty="0">
                <a:solidFill>
                  <a:srgbClr val="22B8CF"/>
                </a:solidFill>
                <a:latin typeface="Cambria" pitchFamily="34" charset="0"/>
                <a:ea typeface="Cambria" pitchFamily="34" charset="-122"/>
                <a:cs typeface="Cambria" pitchFamily="34" charset="-120"/>
              </a:rPr>
              <a:t>fast</a:t>
            </a:r>
            <a:endParaRPr lang="en-US" sz="4400" dirty="0"/>
          </a:p>
        </p:txBody>
      </p:sp>
      <p:sp>
        <p:nvSpPr>
          <p:cNvPr id="24" name="Text 22"/>
          <p:cNvSpPr txBox="1"/>
          <p:nvPr/>
        </p:nvSpPr>
        <p:spPr>
          <a:xfrm>
            <a:off x="640080" y="5623560"/>
            <a:ext cx="3291840" cy="640080"/>
          </a:xfrm>
          <a:prstGeom prst="rect">
            <a:avLst/>
          </a:prstGeom>
          <a:noFill/>
          <a:ln/>
        </p:spPr>
        <p:txBody>
          <a:bodyPr wrap="square" lIns="0" tIns="0" rIns="0" bIns="0" rtlCol="0" anchor="t"/>
          <a:lstStyle/>
          <a:p>
            <a:pPr indent="0" marL="0">
              <a:buNone/>
            </a:pPr>
            <a:r>
              <a:rPr lang="en-US" sz="1300" dirty="0">
                <a:solidFill>
                  <a:srgbClr val="4A4F6B"/>
                </a:solidFill>
              </a:rPr>
              <a:t>the validator is ordinary code: no cost, no hallucination</a:t>
            </a:r>
            <a:endParaRPr lang="en-US" sz="1300" dirty="0"/>
          </a:p>
        </p:txBody>
      </p:sp>
      <p:sp>
        <p:nvSpPr>
          <p:cNvPr id="25" name="Text 23"/>
          <p:cNvSpPr txBox="1"/>
          <p:nvPr/>
        </p:nvSpPr>
        <p:spPr>
          <a:xfrm>
            <a:off x="4206240" y="4754880"/>
            <a:ext cx="3840480" cy="822960"/>
          </a:xfrm>
          <a:prstGeom prst="rect">
            <a:avLst/>
          </a:prstGeom>
          <a:noFill/>
          <a:ln/>
        </p:spPr>
        <p:txBody>
          <a:bodyPr wrap="square" lIns="0" tIns="0" rIns="0" bIns="0" rtlCol="0" anchor="t"/>
          <a:lstStyle/>
          <a:p>
            <a:pPr indent="0" marL="0">
              <a:buNone/>
            </a:pPr>
            <a:r>
              <a:rPr lang="en-US" sz="4400" b="1" dirty="0">
                <a:solidFill>
                  <a:srgbClr val="E6A23C"/>
                </a:solidFill>
                <a:latin typeface="Cambria" pitchFamily="34" charset="0"/>
                <a:ea typeface="Cambria" pitchFamily="34" charset="-122"/>
                <a:cs typeface="Cambria" pitchFamily="34" charset="-120"/>
              </a:rPr>
              <a:t>independent</a:t>
            </a:r>
            <a:endParaRPr lang="en-US" sz="4400" dirty="0"/>
          </a:p>
        </p:txBody>
      </p:sp>
      <p:sp>
        <p:nvSpPr>
          <p:cNvPr id="26" name="Text 24"/>
          <p:cNvSpPr txBox="1"/>
          <p:nvPr/>
        </p:nvSpPr>
        <p:spPr>
          <a:xfrm>
            <a:off x="4206240" y="5623560"/>
            <a:ext cx="3840480" cy="640080"/>
          </a:xfrm>
          <a:prstGeom prst="rect">
            <a:avLst/>
          </a:prstGeom>
          <a:noFill/>
          <a:ln/>
        </p:spPr>
        <p:txBody>
          <a:bodyPr wrap="square" lIns="0" tIns="0" rIns="0" bIns="0" rtlCol="0" anchor="t"/>
          <a:lstStyle/>
          <a:p>
            <a:pPr indent="0" marL="0">
              <a:buNone/>
            </a:pPr>
            <a:r>
              <a:rPr lang="en-US" sz="1300" dirty="0">
                <a:solidFill>
                  <a:srgbClr val="4A4F6B"/>
                </a:solidFill>
              </a:rPr>
              <a:t>the reviewer never saw the coder's conversation</a:t>
            </a:r>
            <a:endParaRPr lang="en-US" sz="1300" dirty="0"/>
          </a:p>
        </p:txBody>
      </p:sp>
      <p:sp>
        <p:nvSpPr>
          <p:cNvPr id="27" name="Text 25"/>
          <p:cNvSpPr txBox="1"/>
          <p:nvPr/>
        </p:nvSpPr>
        <p:spPr>
          <a:xfrm>
            <a:off x="8412480" y="4754880"/>
            <a:ext cx="3291840" cy="822960"/>
          </a:xfrm>
          <a:prstGeom prst="rect">
            <a:avLst/>
          </a:prstGeom>
          <a:noFill/>
          <a:ln/>
        </p:spPr>
        <p:txBody>
          <a:bodyPr wrap="square" lIns="0" tIns="0" rIns="0" bIns="0" rtlCol="0" anchor="t"/>
          <a:lstStyle/>
          <a:p>
            <a:pPr indent="0" marL="0">
              <a:buNone/>
            </a:pPr>
            <a:r>
              <a:rPr lang="en-US" sz="4400" b="1" dirty="0">
                <a:solidFill>
                  <a:srgbClr val="2E9E6B"/>
                </a:solidFill>
                <a:latin typeface="Cambria" pitchFamily="34" charset="0"/>
                <a:ea typeface="Cambria" pitchFamily="34" charset="-122"/>
                <a:cs typeface="Cambria" pitchFamily="34" charset="-120"/>
              </a:rPr>
              <a:t>human</a:t>
            </a:r>
            <a:endParaRPr lang="en-US" sz="4400" dirty="0"/>
          </a:p>
        </p:txBody>
      </p:sp>
      <p:sp>
        <p:nvSpPr>
          <p:cNvPr id="28" name="Text 26"/>
          <p:cNvSpPr txBox="1"/>
          <p:nvPr/>
        </p:nvSpPr>
        <p:spPr>
          <a:xfrm>
            <a:off x="8412480" y="5623560"/>
            <a:ext cx="3291840" cy="640080"/>
          </a:xfrm>
          <a:prstGeom prst="rect">
            <a:avLst/>
          </a:prstGeom>
          <a:noFill/>
          <a:ln/>
        </p:spPr>
        <p:txBody>
          <a:bodyPr wrap="square" lIns="0" tIns="0" rIns="0" bIns="0" rtlCol="0" anchor="t"/>
          <a:lstStyle/>
          <a:p>
            <a:pPr indent="0" marL="0">
              <a:buNone/>
            </a:pPr>
            <a:r>
              <a:rPr lang="en-US" sz="1300" dirty="0">
                <a:solidFill>
                  <a:srgbClr val="4A4F6B"/>
                </a:solidFill>
              </a:rPr>
              <a:t>nothing reaches production without the existing gate</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The confidence score: one number a developer can act on</a:t>
            </a:r>
            <a:endParaRPr lang="en-US" sz="3000" dirty="0"/>
          </a:p>
        </p:txBody>
      </p:sp>
      <p:sp>
        <p:nvSpPr>
          <p:cNvPr id="3" name="Shape 1"/>
          <p:cNvSpPr/>
          <p:nvPr/>
        </p:nvSpPr>
        <p:spPr>
          <a:xfrm>
            <a:off x="640080" y="1371600"/>
            <a:ext cx="2331720" cy="2011680"/>
          </a:xfrm>
          <a:prstGeom prst="roundRect">
            <a:avLst>
              <a:gd name="adj" fmla="val 5455"/>
            </a:avLst>
          </a:prstGeom>
          <a:solidFill>
            <a:srgbClr val="22B8CF"/>
          </a:solidFill>
          <a:ln w="12700">
            <a:solidFill>
              <a:srgbClr val="22B8CF"/>
            </a:solidFill>
            <a:prstDash val="solid"/>
          </a:ln>
        </p:spPr>
      </p:sp>
      <p:sp>
        <p:nvSpPr>
          <p:cNvPr id="4" name="Text 2"/>
          <p:cNvSpPr txBox="1"/>
          <p:nvPr/>
        </p:nvSpPr>
        <p:spPr>
          <a:xfrm>
            <a:off x="640080" y="1463040"/>
            <a:ext cx="2331720" cy="731520"/>
          </a:xfrm>
          <a:prstGeom prst="rect">
            <a:avLst/>
          </a:prstGeom>
          <a:noFill/>
          <a:ln/>
        </p:spPr>
        <p:txBody>
          <a:bodyPr wrap="square" lIns="0" tIns="0" rIns="0" bIns="0" rtlCol="0" anchor="t"/>
          <a:lstStyle/>
          <a:p>
            <a:pPr algn="ctr" indent="0" marL="0">
              <a:buNone/>
            </a:pPr>
            <a:r>
              <a:rPr lang="en-US" sz="3600" b="1" dirty="0">
                <a:solidFill>
                  <a:srgbClr val="FFFFFF"/>
                </a:solidFill>
                <a:latin typeface="Cambria" pitchFamily="34" charset="0"/>
                <a:ea typeface="Cambria" pitchFamily="34" charset="-122"/>
                <a:cs typeface="Cambria" pitchFamily="34" charset="-120"/>
              </a:rPr>
              <a:t>40%</a:t>
            </a:r>
            <a:endParaRPr lang="en-US" sz="3600" dirty="0"/>
          </a:p>
        </p:txBody>
      </p:sp>
      <p:sp>
        <p:nvSpPr>
          <p:cNvPr id="5" name="Text 3"/>
          <p:cNvSpPr txBox="1"/>
          <p:nvPr/>
        </p:nvSpPr>
        <p:spPr>
          <a:xfrm>
            <a:off x="640080" y="2194560"/>
            <a:ext cx="2331720" cy="365760"/>
          </a:xfrm>
          <a:prstGeom prst="rect">
            <a:avLst/>
          </a:prstGeom>
          <a:noFill/>
          <a:ln/>
        </p:spPr>
        <p:txBody>
          <a:bodyPr wrap="square" lIns="0" tIns="0" rIns="0" bIns="0" rtlCol="0" anchor="t"/>
          <a:lstStyle/>
          <a:p>
            <a:pPr algn="ctr" indent="0" marL="0">
              <a:buNone/>
            </a:pPr>
            <a:r>
              <a:rPr lang="en-US" sz="1400" b="1" dirty="0">
                <a:solidFill>
                  <a:srgbClr val="FFFFFF"/>
                </a:solidFill>
              </a:rPr>
              <a:t>validator quality</a:t>
            </a:r>
            <a:endParaRPr lang="en-US" sz="1400" dirty="0"/>
          </a:p>
        </p:txBody>
      </p:sp>
      <p:sp>
        <p:nvSpPr>
          <p:cNvPr id="6" name="Text 4"/>
          <p:cNvSpPr txBox="1"/>
          <p:nvPr/>
        </p:nvSpPr>
        <p:spPr>
          <a:xfrm>
            <a:off x="777240" y="2560320"/>
            <a:ext cx="2057400" cy="777240"/>
          </a:xfrm>
          <a:prstGeom prst="rect">
            <a:avLst/>
          </a:prstGeom>
          <a:noFill/>
          <a:ln/>
        </p:spPr>
        <p:txBody>
          <a:bodyPr wrap="square" lIns="0" tIns="0" rIns="0" bIns="0" rtlCol="0" anchor="t"/>
          <a:lstStyle/>
          <a:p>
            <a:pPr algn="ctr" indent="0" marL="0">
              <a:buNone/>
            </a:pPr>
            <a:r>
              <a:rPr lang="en-US" sz="1050" dirty="0">
                <a:solidFill>
                  <a:srgbClr val="FFFFFF"/>
                </a:solidFill>
              </a:rPr>
              <a:t>100 minus penalties per finding: critical 40, high 15, medium 5, low 1</a:t>
            </a:r>
            <a:endParaRPr lang="en-US" sz="1050" dirty="0"/>
          </a:p>
        </p:txBody>
      </p:sp>
      <p:sp>
        <p:nvSpPr>
          <p:cNvPr id="7" name="Text 5"/>
          <p:cNvSpPr txBox="1"/>
          <p:nvPr/>
        </p:nvSpPr>
        <p:spPr>
          <a:xfrm>
            <a:off x="2926080" y="2011680"/>
            <a:ext cx="274320" cy="548640"/>
          </a:xfrm>
          <a:prstGeom prst="rect">
            <a:avLst/>
          </a:prstGeom>
          <a:noFill/>
          <a:ln/>
        </p:spPr>
        <p:txBody>
          <a:bodyPr wrap="square" lIns="0" tIns="0" rIns="0" bIns="0" rtlCol="0" anchor="t"/>
          <a:lstStyle/>
          <a:p>
            <a:pPr algn="ctr" indent="0" marL="0">
              <a:buNone/>
            </a:pPr>
            <a:r>
              <a:rPr lang="en-US" sz="2600" b="1" dirty="0">
                <a:solidFill>
                  <a:srgbClr val="4A4F6B"/>
                </a:solidFill>
              </a:rPr>
              <a:t>+</a:t>
            </a:r>
            <a:endParaRPr lang="en-US" sz="2600" dirty="0"/>
          </a:p>
        </p:txBody>
      </p:sp>
      <p:sp>
        <p:nvSpPr>
          <p:cNvPr id="8" name="Shape 6"/>
          <p:cNvSpPr/>
          <p:nvPr/>
        </p:nvSpPr>
        <p:spPr>
          <a:xfrm>
            <a:off x="3154680" y="1371600"/>
            <a:ext cx="2331720" cy="2011680"/>
          </a:xfrm>
          <a:prstGeom prst="roundRect">
            <a:avLst>
              <a:gd name="adj" fmla="val 5455"/>
            </a:avLst>
          </a:prstGeom>
          <a:solidFill>
            <a:srgbClr val="E6A23C"/>
          </a:solidFill>
          <a:ln w="12700">
            <a:solidFill>
              <a:srgbClr val="E6A23C"/>
            </a:solidFill>
            <a:prstDash val="solid"/>
          </a:ln>
        </p:spPr>
      </p:sp>
      <p:sp>
        <p:nvSpPr>
          <p:cNvPr id="9" name="Text 7"/>
          <p:cNvSpPr txBox="1"/>
          <p:nvPr/>
        </p:nvSpPr>
        <p:spPr>
          <a:xfrm>
            <a:off x="3154680" y="1463040"/>
            <a:ext cx="2331720" cy="731520"/>
          </a:xfrm>
          <a:prstGeom prst="rect">
            <a:avLst/>
          </a:prstGeom>
          <a:noFill/>
          <a:ln/>
        </p:spPr>
        <p:txBody>
          <a:bodyPr wrap="square" lIns="0" tIns="0" rIns="0" bIns="0" rtlCol="0" anchor="t"/>
          <a:lstStyle/>
          <a:p>
            <a:pPr algn="ctr" indent="0" marL="0">
              <a:buNone/>
            </a:pPr>
            <a:r>
              <a:rPr lang="en-US" sz="3600" b="1" dirty="0">
                <a:solidFill>
                  <a:srgbClr val="FFFFFF"/>
                </a:solidFill>
                <a:latin typeface="Cambria" pitchFamily="34" charset="0"/>
                <a:ea typeface="Cambria" pitchFamily="34" charset="-122"/>
                <a:cs typeface="Cambria" pitchFamily="34" charset="-120"/>
              </a:rPr>
              <a:t>35%</a:t>
            </a:r>
            <a:endParaRPr lang="en-US" sz="3600" dirty="0"/>
          </a:p>
        </p:txBody>
      </p:sp>
      <p:sp>
        <p:nvSpPr>
          <p:cNvPr id="10" name="Text 8"/>
          <p:cNvSpPr txBox="1"/>
          <p:nvPr/>
        </p:nvSpPr>
        <p:spPr>
          <a:xfrm>
            <a:off x="3154680" y="2194560"/>
            <a:ext cx="2331720" cy="365760"/>
          </a:xfrm>
          <a:prstGeom prst="rect">
            <a:avLst/>
          </a:prstGeom>
          <a:noFill/>
          <a:ln/>
        </p:spPr>
        <p:txBody>
          <a:bodyPr wrap="square" lIns="0" tIns="0" rIns="0" bIns="0" rtlCol="0" anchor="t"/>
          <a:lstStyle/>
          <a:p>
            <a:pPr algn="ctr" indent="0" marL="0">
              <a:buNone/>
            </a:pPr>
            <a:r>
              <a:rPr lang="en-US" sz="1400" b="1" dirty="0">
                <a:solidFill>
                  <a:srgbClr val="FFFFFF"/>
                </a:solidFill>
              </a:rPr>
              <a:t>reviewer score</a:t>
            </a:r>
            <a:endParaRPr lang="en-US" sz="1400" dirty="0"/>
          </a:p>
        </p:txBody>
      </p:sp>
      <p:sp>
        <p:nvSpPr>
          <p:cNvPr id="11" name="Text 9"/>
          <p:cNvSpPr txBox="1"/>
          <p:nvPr/>
        </p:nvSpPr>
        <p:spPr>
          <a:xfrm>
            <a:off x="3291840" y="2560320"/>
            <a:ext cx="2057400" cy="777240"/>
          </a:xfrm>
          <a:prstGeom prst="rect">
            <a:avLst/>
          </a:prstGeom>
          <a:noFill/>
          <a:ln/>
        </p:spPr>
        <p:txBody>
          <a:bodyPr wrap="square" lIns="0" tIns="0" rIns="0" bIns="0" rtlCol="0" anchor="t"/>
          <a:lstStyle/>
          <a:p>
            <a:pPr algn="ctr" indent="0" marL="0">
              <a:buNone/>
            </a:pPr>
            <a:r>
              <a:rPr lang="en-US" sz="1050" dirty="0">
                <a:solidFill>
                  <a:srgbClr val="FFFFFF"/>
                </a:solidFill>
              </a:rPr>
              <a:t>the independent reviewer's 0-100</a:t>
            </a:r>
            <a:endParaRPr lang="en-US" sz="1050" dirty="0"/>
          </a:p>
        </p:txBody>
      </p:sp>
      <p:sp>
        <p:nvSpPr>
          <p:cNvPr id="12" name="Text 10"/>
          <p:cNvSpPr txBox="1"/>
          <p:nvPr/>
        </p:nvSpPr>
        <p:spPr>
          <a:xfrm>
            <a:off x="5440680" y="2011680"/>
            <a:ext cx="274320" cy="548640"/>
          </a:xfrm>
          <a:prstGeom prst="rect">
            <a:avLst/>
          </a:prstGeom>
          <a:noFill/>
          <a:ln/>
        </p:spPr>
        <p:txBody>
          <a:bodyPr wrap="square" lIns="0" tIns="0" rIns="0" bIns="0" rtlCol="0" anchor="t"/>
          <a:lstStyle/>
          <a:p>
            <a:pPr algn="ctr" indent="0" marL="0">
              <a:buNone/>
            </a:pPr>
            <a:r>
              <a:rPr lang="en-US" sz="2600" b="1" dirty="0">
                <a:solidFill>
                  <a:srgbClr val="4A4F6B"/>
                </a:solidFill>
              </a:rPr>
              <a:t>+</a:t>
            </a:r>
            <a:endParaRPr lang="en-US" sz="2600" dirty="0"/>
          </a:p>
        </p:txBody>
      </p:sp>
      <p:sp>
        <p:nvSpPr>
          <p:cNvPr id="13" name="Shape 11"/>
          <p:cNvSpPr/>
          <p:nvPr/>
        </p:nvSpPr>
        <p:spPr>
          <a:xfrm>
            <a:off x="5669280" y="1371600"/>
            <a:ext cx="2331720" cy="2011680"/>
          </a:xfrm>
          <a:prstGeom prst="roundRect">
            <a:avLst>
              <a:gd name="adj" fmla="val 5455"/>
            </a:avLst>
          </a:prstGeom>
          <a:solidFill>
            <a:srgbClr val="6C5CE7"/>
          </a:solidFill>
          <a:ln w="12700">
            <a:solidFill>
              <a:srgbClr val="6C5CE7"/>
            </a:solidFill>
            <a:prstDash val="solid"/>
          </a:ln>
        </p:spPr>
      </p:sp>
      <p:sp>
        <p:nvSpPr>
          <p:cNvPr id="14" name="Text 12"/>
          <p:cNvSpPr txBox="1"/>
          <p:nvPr/>
        </p:nvSpPr>
        <p:spPr>
          <a:xfrm>
            <a:off x="5669280" y="1463040"/>
            <a:ext cx="2331720" cy="731520"/>
          </a:xfrm>
          <a:prstGeom prst="rect">
            <a:avLst/>
          </a:prstGeom>
          <a:noFill/>
          <a:ln/>
        </p:spPr>
        <p:txBody>
          <a:bodyPr wrap="square" lIns="0" tIns="0" rIns="0" bIns="0" rtlCol="0" anchor="t"/>
          <a:lstStyle/>
          <a:p>
            <a:pPr algn="ctr" indent="0" marL="0">
              <a:buNone/>
            </a:pPr>
            <a:r>
              <a:rPr lang="en-US" sz="3600" b="1" dirty="0">
                <a:solidFill>
                  <a:srgbClr val="FFFFFF"/>
                </a:solidFill>
                <a:latin typeface="Cambria" pitchFamily="34" charset="0"/>
                <a:ea typeface="Cambria" pitchFamily="34" charset="-122"/>
                <a:cs typeface="Cambria" pitchFamily="34" charset="-120"/>
              </a:rPr>
              <a:t>25%</a:t>
            </a:r>
            <a:endParaRPr lang="en-US" sz="3600" dirty="0"/>
          </a:p>
        </p:txBody>
      </p:sp>
      <p:sp>
        <p:nvSpPr>
          <p:cNvPr id="15" name="Text 13"/>
          <p:cNvSpPr txBox="1"/>
          <p:nvPr/>
        </p:nvSpPr>
        <p:spPr>
          <a:xfrm>
            <a:off x="5669280" y="2194560"/>
            <a:ext cx="2331720" cy="365760"/>
          </a:xfrm>
          <a:prstGeom prst="rect">
            <a:avLst/>
          </a:prstGeom>
          <a:noFill/>
          <a:ln/>
        </p:spPr>
        <p:txBody>
          <a:bodyPr wrap="square" lIns="0" tIns="0" rIns="0" bIns="0" rtlCol="0" anchor="t"/>
          <a:lstStyle/>
          <a:p>
            <a:pPr algn="ctr" indent="0" marL="0">
              <a:buNone/>
            </a:pPr>
            <a:r>
              <a:rPr lang="en-US" sz="1400" b="1" dirty="0">
                <a:solidFill>
                  <a:srgbClr val="FFFFFF"/>
                </a:solidFill>
              </a:rPr>
              <a:t>coder confidence</a:t>
            </a:r>
            <a:endParaRPr lang="en-US" sz="1400" dirty="0"/>
          </a:p>
        </p:txBody>
      </p:sp>
      <p:sp>
        <p:nvSpPr>
          <p:cNvPr id="16" name="Text 14"/>
          <p:cNvSpPr txBox="1"/>
          <p:nvPr/>
        </p:nvSpPr>
        <p:spPr>
          <a:xfrm>
            <a:off x="5806440" y="2560320"/>
            <a:ext cx="2057400" cy="777240"/>
          </a:xfrm>
          <a:prstGeom prst="rect">
            <a:avLst/>
          </a:prstGeom>
          <a:noFill/>
          <a:ln/>
        </p:spPr>
        <p:txBody>
          <a:bodyPr wrap="square" lIns="0" tIns="0" rIns="0" bIns="0" rtlCol="0" anchor="t"/>
          <a:lstStyle/>
          <a:p>
            <a:pPr algn="ctr" indent="0" marL="0">
              <a:buNone/>
            </a:pPr>
            <a:r>
              <a:rPr lang="en-US" sz="1050" dirty="0">
                <a:solidFill>
                  <a:srgbClr val="FFFFFF"/>
                </a:solidFill>
              </a:rPr>
              <a:t>the coder's own 0-100, averaged over the files</a:t>
            </a:r>
            <a:endParaRPr lang="en-US" sz="1050" dirty="0"/>
          </a:p>
        </p:txBody>
      </p:sp>
      <p:sp>
        <p:nvSpPr>
          <p:cNvPr id="17" name="Text 15"/>
          <p:cNvSpPr txBox="1"/>
          <p:nvPr/>
        </p:nvSpPr>
        <p:spPr>
          <a:xfrm>
            <a:off x="8138160" y="2011680"/>
            <a:ext cx="365760" cy="548640"/>
          </a:xfrm>
          <a:prstGeom prst="rect">
            <a:avLst/>
          </a:prstGeom>
          <a:noFill/>
          <a:ln/>
        </p:spPr>
        <p:txBody>
          <a:bodyPr wrap="square" lIns="0" tIns="0" rIns="0" bIns="0" rtlCol="0" anchor="t"/>
          <a:lstStyle/>
          <a:p>
            <a:pPr algn="ctr" indent="0" marL="0">
              <a:buNone/>
            </a:pPr>
            <a:r>
              <a:rPr lang="en-US" sz="2600" b="1" dirty="0">
                <a:solidFill>
                  <a:srgbClr val="4A4F6B"/>
                </a:solidFill>
              </a:rPr>
              <a:t>=</a:t>
            </a:r>
            <a:endParaRPr lang="en-US" sz="2600" dirty="0"/>
          </a:p>
        </p:txBody>
      </p:sp>
      <p:sp>
        <p:nvSpPr>
          <p:cNvPr id="18" name="Shape 16"/>
          <p:cNvSpPr/>
          <p:nvPr/>
        </p:nvSpPr>
        <p:spPr>
          <a:xfrm>
            <a:off x="8595360" y="1371600"/>
            <a:ext cx="3200400" cy="2011680"/>
          </a:xfrm>
          <a:prstGeom prst="roundRect">
            <a:avLst>
              <a:gd name="adj" fmla="val 5455"/>
            </a:avLst>
          </a:prstGeom>
          <a:solidFill>
            <a:srgbClr val="F1F2F8"/>
          </a:solidFill>
          <a:ln w="12700">
            <a:solidFill>
              <a:srgbClr val="F1F2F8"/>
            </a:solidFill>
            <a:prstDash val="solid"/>
          </a:ln>
        </p:spPr>
      </p:sp>
      <p:sp>
        <p:nvSpPr>
          <p:cNvPr id="19" name="Text 17"/>
          <p:cNvSpPr txBox="1"/>
          <p:nvPr/>
        </p:nvSpPr>
        <p:spPr>
          <a:xfrm>
            <a:off x="8732520" y="1463040"/>
            <a:ext cx="2926080" cy="320040"/>
          </a:xfrm>
          <a:prstGeom prst="rect">
            <a:avLst/>
          </a:prstGeom>
          <a:noFill/>
          <a:ln/>
        </p:spPr>
        <p:txBody>
          <a:bodyPr wrap="square" lIns="0" tIns="0" rIns="0" bIns="0" rtlCol="0" anchor="t"/>
          <a:lstStyle/>
          <a:p>
            <a:pPr indent="0" marL="0">
              <a:buNone/>
            </a:pPr>
            <a:r>
              <a:rPr lang="en-US" sz="1200" b="1" dirty="0">
                <a:solidFill>
                  <a:srgbClr val="1B1F3B"/>
                </a:solidFill>
              </a:rPr>
              <a:t>then capped by what is still open</a:t>
            </a:r>
            <a:endParaRPr lang="en-US" sz="1200" dirty="0"/>
          </a:p>
        </p:txBody>
      </p:sp>
      <p:sp>
        <p:nvSpPr>
          <p:cNvPr id="20" name="Text 18"/>
          <p:cNvSpPr txBox="1"/>
          <p:nvPr/>
        </p:nvSpPr>
        <p:spPr>
          <a:xfrm>
            <a:off x="8732520" y="1783080"/>
            <a:ext cx="3017520" cy="1554480"/>
          </a:xfrm>
          <a:prstGeom prst="rect">
            <a:avLst/>
          </a:prstGeom>
          <a:noFill/>
          <a:ln/>
        </p:spPr>
        <p:txBody>
          <a:bodyPr wrap="square" lIns="0" tIns="0" rIns="0" bIns="0" rtlCol="0" anchor="t"/>
          <a:lstStyle/>
          <a:p>
            <a:pPr indent="0" marL="0">
              <a:buNone/>
            </a:pPr>
            <a:r>
              <a:rPr lang="en-US" sz="1100" dirty="0">
                <a:solidFill>
                  <a:srgbClr val="4A4F6B"/>
                </a:solidFill>
              </a:rPr>
              <a:t>review did not run → max 70</a:t>
            </a:r>
            <a:endParaRPr lang="en-US" sz="1100" dirty="0"/>
          </a:p>
          <a:p>
            <a:pPr indent="0" marL="0">
              <a:buNone/>
            </a:pPr>
            <a:r>
              <a:rPr lang="en-US" sz="1100" dirty="0">
                <a:solidFill>
                  <a:srgbClr val="4A4F6B"/>
                </a:solidFill>
              </a:rPr>
              <a:t>open critical finding → max 50</a:t>
            </a:r>
            <a:endParaRPr lang="en-US" sz="1100" dirty="0"/>
          </a:p>
          <a:p>
            <a:pPr indent="0" marL="0">
              <a:buNone/>
            </a:pPr>
            <a:r>
              <a:rPr lang="en-US" sz="1100" dirty="0">
                <a:solidFill>
                  <a:srgbClr val="4A4F6B"/>
                </a:solidFill>
              </a:rPr>
              <a:t>open high finding → max 75</a:t>
            </a:r>
            <a:endParaRPr lang="en-US" sz="1100" dirty="0"/>
          </a:p>
          <a:p>
            <a:pPr indent="0" marL="0">
              <a:buNone/>
            </a:pPr>
            <a:r>
              <a:rPr lang="en-US" sz="1100" dirty="0">
                <a:solidFill>
                  <a:srgbClr val="4A4F6B"/>
                </a:solidFill>
              </a:rPr>
              <a:t>a file with coder confidence &lt; 60 → max 80</a:t>
            </a:r>
            <a:endParaRPr lang="en-US" sz="1100" dirty="0"/>
          </a:p>
          <a:p>
            <a:pPr indent="0" marL="0">
              <a:buNone/>
            </a:pPr>
            <a:r>
              <a:rPr lang="en-US" sz="1100" dirty="0">
                <a:solidFill>
                  <a:srgbClr val="4A4F6B"/>
                </a:solidFill>
              </a:rPr>
              <a:t>−2 per open plan question (max −10)</a:t>
            </a:r>
            <a:endParaRPr lang="en-US" sz="1100" dirty="0"/>
          </a:p>
        </p:txBody>
      </p:sp>
      <p:sp>
        <p:nvSpPr>
          <p:cNvPr id="21" name="Shape 19"/>
          <p:cNvSpPr/>
          <p:nvPr/>
        </p:nvSpPr>
        <p:spPr>
          <a:xfrm>
            <a:off x="640080" y="3749040"/>
            <a:ext cx="3566160" cy="1188720"/>
          </a:xfrm>
          <a:prstGeom prst="roundRect">
            <a:avLst>
              <a:gd name="adj" fmla="val 9231"/>
            </a:avLst>
          </a:prstGeom>
          <a:solidFill>
            <a:srgbClr val="FFFFFF"/>
          </a:solidFill>
          <a:ln w="25400">
            <a:solidFill>
              <a:srgbClr val="2E9E6B"/>
            </a:solidFill>
            <a:prstDash val="solid"/>
          </a:ln>
        </p:spPr>
      </p:sp>
      <p:sp>
        <p:nvSpPr>
          <p:cNvPr id="22" name="Text 20"/>
          <p:cNvSpPr txBox="1"/>
          <p:nvPr/>
        </p:nvSpPr>
        <p:spPr>
          <a:xfrm>
            <a:off x="822960" y="3840480"/>
            <a:ext cx="1188720" cy="548640"/>
          </a:xfrm>
          <a:prstGeom prst="rect">
            <a:avLst/>
          </a:prstGeom>
          <a:noFill/>
          <a:ln/>
        </p:spPr>
        <p:txBody>
          <a:bodyPr wrap="square" lIns="0" tIns="0" rIns="0" bIns="0" rtlCol="0" anchor="t"/>
          <a:lstStyle/>
          <a:p>
            <a:pPr indent="0" marL="0">
              <a:buNone/>
            </a:pPr>
            <a:r>
              <a:rPr lang="en-US" sz="2600" b="1" dirty="0">
                <a:solidFill>
                  <a:srgbClr val="2E9E6B"/>
                </a:solidFill>
                <a:latin typeface="Cambria" pitchFamily="34" charset="0"/>
                <a:ea typeface="Cambria" pitchFamily="34" charset="-122"/>
                <a:cs typeface="Cambria" pitchFamily="34" charset="-120"/>
              </a:rPr>
              <a:t>≥ 85</a:t>
            </a:r>
            <a:endParaRPr lang="en-US" sz="2600" dirty="0"/>
          </a:p>
        </p:txBody>
      </p:sp>
      <p:sp>
        <p:nvSpPr>
          <p:cNvPr id="23" name="Text 21"/>
          <p:cNvSpPr txBox="1"/>
          <p:nvPr/>
        </p:nvSpPr>
        <p:spPr>
          <a:xfrm>
            <a:off x="2011680" y="3886200"/>
            <a:ext cx="2011680" cy="365760"/>
          </a:xfrm>
          <a:prstGeom prst="rect">
            <a:avLst/>
          </a:prstGeom>
          <a:noFill/>
          <a:ln/>
        </p:spPr>
        <p:txBody>
          <a:bodyPr wrap="square" lIns="0" tIns="0" rIns="0" bIns="0" rtlCol="0" anchor="t"/>
          <a:lstStyle/>
          <a:p>
            <a:pPr indent="0" marL="0">
              <a:buNone/>
            </a:pPr>
            <a:r>
              <a:rPr lang="en-US" sz="1600" b="1" dirty="0">
                <a:solidFill>
                  <a:srgbClr val="1B1F3B"/>
                </a:solidFill>
              </a:rPr>
              <a:t>High</a:t>
            </a:r>
            <a:endParaRPr lang="en-US" sz="1600" dirty="0"/>
          </a:p>
        </p:txBody>
      </p:sp>
      <p:sp>
        <p:nvSpPr>
          <p:cNvPr id="24" name="Text 22"/>
          <p:cNvSpPr txBox="1"/>
          <p:nvPr/>
        </p:nvSpPr>
        <p:spPr>
          <a:xfrm>
            <a:off x="2011680" y="4251960"/>
            <a:ext cx="2103120" cy="640080"/>
          </a:xfrm>
          <a:prstGeom prst="rect">
            <a:avLst/>
          </a:prstGeom>
          <a:noFill/>
          <a:ln/>
        </p:spPr>
        <p:txBody>
          <a:bodyPr wrap="square" lIns="0" tIns="0" rIns="0" bIns="0" rtlCol="0" anchor="t"/>
          <a:lstStyle/>
          <a:p>
            <a:pPr indent="0" marL="0">
              <a:buNone/>
            </a:pPr>
            <a:r>
              <a:rPr lang="en-US" sz="1100" dirty="0">
                <a:solidFill>
                  <a:srgbClr val="4A4F6B"/>
                </a:solidFill>
              </a:rPr>
              <a:t>read the plan, skim the diff, push</a:t>
            </a:r>
            <a:endParaRPr lang="en-US" sz="1100" dirty="0"/>
          </a:p>
        </p:txBody>
      </p:sp>
      <p:sp>
        <p:nvSpPr>
          <p:cNvPr id="25" name="Shape 23"/>
          <p:cNvSpPr/>
          <p:nvPr/>
        </p:nvSpPr>
        <p:spPr>
          <a:xfrm>
            <a:off x="4389120" y="3749040"/>
            <a:ext cx="3566160" cy="1188720"/>
          </a:xfrm>
          <a:prstGeom prst="roundRect">
            <a:avLst>
              <a:gd name="adj" fmla="val 9231"/>
            </a:avLst>
          </a:prstGeom>
          <a:solidFill>
            <a:srgbClr val="FFFFFF"/>
          </a:solidFill>
          <a:ln w="25400">
            <a:solidFill>
              <a:srgbClr val="E6A23C"/>
            </a:solidFill>
            <a:prstDash val="solid"/>
          </a:ln>
        </p:spPr>
      </p:sp>
      <p:sp>
        <p:nvSpPr>
          <p:cNvPr id="26" name="Text 24"/>
          <p:cNvSpPr txBox="1"/>
          <p:nvPr/>
        </p:nvSpPr>
        <p:spPr>
          <a:xfrm>
            <a:off x="4572000" y="3840480"/>
            <a:ext cx="1188720" cy="548640"/>
          </a:xfrm>
          <a:prstGeom prst="rect">
            <a:avLst/>
          </a:prstGeom>
          <a:noFill/>
          <a:ln/>
        </p:spPr>
        <p:txBody>
          <a:bodyPr wrap="square" lIns="0" tIns="0" rIns="0" bIns="0" rtlCol="0" anchor="t"/>
          <a:lstStyle/>
          <a:p>
            <a:pPr indent="0" marL="0">
              <a:buNone/>
            </a:pPr>
            <a:r>
              <a:rPr lang="en-US" sz="2600" b="1" dirty="0">
                <a:solidFill>
                  <a:srgbClr val="E6A23C"/>
                </a:solidFill>
                <a:latin typeface="Cambria" pitchFamily="34" charset="0"/>
                <a:ea typeface="Cambria" pitchFamily="34" charset="-122"/>
                <a:cs typeface="Cambria" pitchFamily="34" charset="-120"/>
              </a:rPr>
              <a:t>70-84</a:t>
            </a:r>
            <a:endParaRPr lang="en-US" sz="2600" dirty="0"/>
          </a:p>
        </p:txBody>
      </p:sp>
      <p:sp>
        <p:nvSpPr>
          <p:cNvPr id="27" name="Text 25"/>
          <p:cNvSpPr txBox="1"/>
          <p:nvPr/>
        </p:nvSpPr>
        <p:spPr>
          <a:xfrm>
            <a:off x="5760720" y="3886200"/>
            <a:ext cx="2011680" cy="365760"/>
          </a:xfrm>
          <a:prstGeom prst="rect">
            <a:avLst/>
          </a:prstGeom>
          <a:noFill/>
          <a:ln/>
        </p:spPr>
        <p:txBody>
          <a:bodyPr wrap="square" lIns="0" tIns="0" rIns="0" bIns="0" rtlCol="0" anchor="t"/>
          <a:lstStyle/>
          <a:p>
            <a:pPr indent="0" marL="0">
              <a:buNone/>
            </a:pPr>
            <a:r>
              <a:rPr lang="en-US" sz="1600" b="1" dirty="0">
                <a:solidFill>
                  <a:srgbClr val="1B1F3B"/>
                </a:solidFill>
              </a:rPr>
              <a:t>Medium</a:t>
            </a:r>
            <a:endParaRPr lang="en-US" sz="1600" dirty="0"/>
          </a:p>
        </p:txBody>
      </p:sp>
      <p:sp>
        <p:nvSpPr>
          <p:cNvPr id="28" name="Text 26"/>
          <p:cNvSpPr txBox="1"/>
          <p:nvPr/>
        </p:nvSpPr>
        <p:spPr>
          <a:xfrm>
            <a:off x="5760720" y="4251960"/>
            <a:ext cx="2103120" cy="640080"/>
          </a:xfrm>
          <a:prstGeom prst="rect">
            <a:avLst/>
          </a:prstGeom>
          <a:noFill/>
          <a:ln/>
        </p:spPr>
        <p:txBody>
          <a:bodyPr wrap="square" lIns="0" tIns="0" rIns="0" bIns="0" rtlCol="0" anchor="t"/>
          <a:lstStyle/>
          <a:p>
            <a:pPr indent="0" marL="0">
              <a:buNone/>
            </a:pPr>
            <a:r>
              <a:rPr lang="en-US" sz="1100" dirty="0">
                <a:solidFill>
                  <a:srgbClr val="4A4F6B"/>
                </a:solidFill>
              </a:rPr>
              <a:t>fix what the Review tab lists first</a:t>
            </a:r>
            <a:endParaRPr lang="en-US" sz="1100" dirty="0"/>
          </a:p>
        </p:txBody>
      </p:sp>
      <p:sp>
        <p:nvSpPr>
          <p:cNvPr id="29" name="Shape 27"/>
          <p:cNvSpPr/>
          <p:nvPr/>
        </p:nvSpPr>
        <p:spPr>
          <a:xfrm>
            <a:off x="8138160" y="3749040"/>
            <a:ext cx="3566160" cy="1188720"/>
          </a:xfrm>
          <a:prstGeom prst="roundRect">
            <a:avLst>
              <a:gd name="adj" fmla="val 9231"/>
            </a:avLst>
          </a:prstGeom>
          <a:solidFill>
            <a:srgbClr val="FFFFFF"/>
          </a:solidFill>
          <a:ln w="25400">
            <a:solidFill>
              <a:srgbClr val="D94C4C"/>
            </a:solidFill>
            <a:prstDash val="solid"/>
          </a:ln>
        </p:spPr>
      </p:sp>
      <p:sp>
        <p:nvSpPr>
          <p:cNvPr id="30" name="Text 28"/>
          <p:cNvSpPr txBox="1"/>
          <p:nvPr/>
        </p:nvSpPr>
        <p:spPr>
          <a:xfrm>
            <a:off x="8321040" y="3840480"/>
            <a:ext cx="1188720" cy="548640"/>
          </a:xfrm>
          <a:prstGeom prst="rect">
            <a:avLst/>
          </a:prstGeom>
          <a:noFill/>
          <a:ln/>
        </p:spPr>
        <p:txBody>
          <a:bodyPr wrap="square" lIns="0" tIns="0" rIns="0" bIns="0" rtlCol="0" anchor="t"/>
          <a:lstStyle/>
          <a:p>
            <a:pPr indent="0" marL="0">
              <a:buNone/>
            </a:pPr>
            <a:r>
              <a:rPr lang="en-US" sz="2600" b="1" dirty="0">
                <a:solidFill>
                  <a:srgbClr val="D94C4C"/>
                </a:solidFill>
                <a:latin typeface="Cambria" pitchFamily="34" charset="0"/>
                <a:ea typeface="Cambria" pitchFamily="34" charset="-122"/>
                <a:cs typeface="Cambria" pitchFamily="34" charset="-120"/>
              </a:rPr>
              <a:t>&lt; 70</a:t>
            </a:r>
            <a:endParaRPr lang="en-US" sz="2600" dirty="0"/>
          </a:p>
        </p:txBody>
      </p:sp>
      <p:sp>
        <p:nvSpPr>
          <p:cNvPr id="31" name="Text 29"/>
          <p:cNvSpPr txBox="1"/>
          <p:nvPr/>
        </p:nvSpPr>
        <p:spPr>
          <a:xfrm>
            <a:off x="9509760" y="3886200"/>
            <a:ext cx="2011680" cy="365760"/>
          </a:xfrm>
          <a:prstGeom prst="rect">
            <a:avLst/>
          </a:prstGeom>
          <a:noFill/>
          <a:ln/>
        </p:spPr>
        <p:txBody>
          <a:bodyPr wrap="square" lIns="0" tIns="0" rIns="0" bIns="0" rtlCol="0" anchor="t"/>
          <a:lstStyle/>
          <a:p>
            <a:pPr indent="0" marL="0">
              <a:buNone/>
            </a:pPr>
            <a:r>
              <a:rPr lang="en-US" sz="1600" b="1" dirty="0">
                <a:solidFill>
                  <a:srgbClr val="1B1F3B"/>
                </a:solidFill>
              </a:rPr>
              <a:t>Low</a:t>
            </a:r>
            <a:endParaRPr lang="en-US" sz="1600" dirty="0"/>
          </a:p>
        </p:txBody>
      </p:sp>
      <p:sp>
        <p:nvSpPr>
          <p:cNvPr id="32" name="Text 30"/>
          <p:cNvSpPr txBox="1"/>
          <p:nvPr/>
        </p:nvSpPr>
        <p:spPr>
          <a:xfrm>
            <a:off x="9509760" y="4251960"/>
            <a:ext cx="2103120" cy="640080"/>
          </a:xfrm>
          <a:prstGeom prst="rect">
            <a:avLst/>
          </a:prstGeom>
          <a:noFill/>
          <a:ln/>
        </p:spPr>
        <p:txBody>
          <a:bodyPr wrap="square" lIns="0" tIns="0" rIns="0" bIns="0" rtlCol="0" anchor="t"/>
          <a:lstStyle/>
          <a:p>
            <a:pPr indent="0" marL="0">
              <a:buNone/>
            </a:pPr>
            <a:r>
              <a:rPr lang="en-US" sz="1100" dirty="0">
                <a:solidFill>
                  <a:srgbClr val="4A4F6B"/>
                </a:solidFill>
              </a:rPr>
              <a:t>the tool is pointing at a problem - read the findings and the open questions</a:t>
            </a:r>
            <a:endParaRPr lang="en-US" sz="1100" dirty="0"/>
          </a:p>
        </p:txBody>
      </p:sp>
      <p:sp>
        <p:nvSpPr>
          <p:cNvPr id="33" name="Text 31"/>
          <p:cNvSpPr txBox="1"/>
          <p:nvPr/>
        </p:nvSpPr>
        <p:spPr>
          <a:xfrm>
            <a:off x="640080" y="5166360"/>
            <a:ext cx="11064240" cy="731520"/>
          </a:xfrm>
          <a:prstGeom prst="rect">
            <a:avLst/>
          </a:prstGeom>
          <a:noFill/>
          <a:ln/>
        </p:spPr>
        <p:txBody>
          <a:bodyPr wrap="square" lIns="0" tIns="0" rIns="0" bIns="0" rtlCol="0" anchor="t"/>
          <a:lstStyle/>
          <a:p>
            <a:pPr indent="0" marL="0">
              <a:buNone/>
            </a:pPr>
            <a:r>
              <a:rPr lang="en-US" sz="1250" i="1" dirty="0">
                <a:solidFill>
                  <a:srgbClr val="6C5CE7"/>
                </a:solidFill>
              </a:rPr>
              <a:t>75% of the score comes from signals independent of the model that wrote the code. The Review tab shows the formula for this run and 'to raise it: ...' - it is a to-do list, not a verdict. Shown as a pill in the header of every chat.</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Confidence score: a worked example</a:t>
            </a:r>
            <a:endParaRPr lang="en-US" sz="3000" dirty="0"/>
          </a:p>
        </p:txBody>
      </p:sp>
      <p:sp>
        <p:nvSpPr>
          <p:cNvPr id="3" name="Shape 1"/>
          <p:cNvSpPr/>
          <p:nvPr/>
        </p:nvSpPr>
        <p:spPr>
          <a:xfrm>
            <a:off x="640080" y="1371600"/>
            <a:ext cx="6949440" cy="777240"/>
          </a:xfrm>
          <a:prstGeom prst="roundRect">
            <a:avLst>
              <a:gd name="adj" fmla="val 11765"/>
            </a:avLst>
          </a:prstGeom>
          <a:solidFill>
            <a:srgbClr val="F1F2F8"/>
          </a:solidFill>
          <a:ln w="12700">
            <a:solidFill>
              <a:srgbClr val="F1F2F8"/>
            </a:solidFill>
            <a:prstDash val="solid"/>
          </a:ln>
        </p:spPr>
      </p:sp>
      <p:sp>
        <p:nvSpPr>
          <p:cNvPr id="4" name="Shape 2"/>
          <p:cNvSpPr/>
          <p:nvPr/>
        </p:nvSpPr>
        <p:spPr>
          <a:xfrm>
            <a:off x="640080" y="1371600"/>
            <a:ext cx="109728" cy="777240"/>
          </a:xfrm>
          <a:prstGeom prst="rect">
            <a:avLst/>
          </a:prstGeom>
          <a:solidFill>
            <a:srgbClr val="22B8CF"/>
          </a:solidFill>
          <a:ln w="12700">
            <a:solidFill>
              <a:srgbClr val="22B8CF"/>
            </a:solidFill>
            <a:prstDash val="solid"/>
          </a:ln>
        </p:spPr>
      </p:sp>
      <p:sp>
        <p:nvSpPr>
          <p:cNvPr id="5" name="Text 3"/>
          <p:cNvSpPr txBox="1"/>
          <p:nvPr/>
        </p:nvSpPr>
        <p:spPr>
          <a:xfrm>
            <a:off x="914400" y="1463040"/>
            <a:ext cx="2194560" cy="320040"/>
          </a:xfrm>
          <a:prstGeom prst="rect">
            <a:avLst/>
          </a:prstGeom>
          <a:noFill/>
          <a:ln/>
        </p:spPr>
        <p:txBody>
          <a:bodyPr wrap="square" lIns="0" tIns="0" rIns="0" bIns="0" rtlCol="0" anchor="t"/>
          <a:lstStyle/>
          <a:p>
            <a:pPr indent="0" marL="0">
              <a:buNone/>
            </a:pPr>
            <a:r>
              <a:rPr lang="en-US" sz="1300" b="1" dirty="0">
                <a:solidFill>
                  <a:srgbClr val="1B1F3B"/>
                </a:solidFill>
              </a:rPr>
              <a:t>Validator quality</a:t>
            </a:r>
            <a:endParaRPr lang="en-US" sz="1300" dirty="0"/>
          </a:p>
        </p:txBody>
      </p:sp>
      <p:sp>
        <p:nvSpPr>
          <p:cNvPr id="6" name="Text 4"/>
          <p:cNvSpPr txBox="1"/>
          <p:nvPr/>
        </p:nvSpPr>
        <p:spPr>
          <a:xfrm>
            <a:off x="914400" y="1783080"/>
            <a:ext cx="3291840" cy="320040"/>
          </a:xfrm>
          <a:prstGeom prst="rect">
            <a:avLst/>
          </a:prstGeom>
          <a:noFill/>
          <a:ln/>
        </p:spPr>
        <p:txBody>
          <a:bodyPr wrap="square" lIns="0" tIns="0" rIns="0" bIns="0" rtlCol="0" anchor="t"/>
          <a:lstStyle/>
          <a:p>
            <a:pPr indent="0" marL="0">
              <a:buNone/>
            </a:pPr>
            <a:r>
              <a:rPr lang="en-US" sz="1100" dirty="0">
                <a:solidFill>
                  <a:srgbClr val="4A4F6B"/>
                </a:solidFill>
              </a:rPr>
              <a:t>1 low finding (−1) → 99</a:t>
            </a:r>
            <a:endParaRPr lang="en-US" sz="1100" dirty="0"/>
          </a:p>
        </p:txBody>
      </p:sp>
      <p:sp>
        <p:nvSpPr>
          <p:cNvPr id="7" name="Text 5"/>
          <p:cNvSpPr txBox="1"/>
          <p:nvPr/>
        </p:nvSpPr>
        <p:spPr>
          <a:xfrm>
            <a:off x="4480560" y="1554480"/>
            <a:ext cx="1097280" cy="411480"/>
          </a:xfrm>
          <a:prstGeom prst="rect">
            <a:avLst/>
          </a:prstGeom>
          <a:noFill/>
          <a:ln/>
        </p:spPr>
        <p:txBody>
          <a:bodyPr wrap="square" lIns="0" tIns="0" rIns="0" bIns="0" rtlCol="0" anchor="t"/>
          <a:lstStyle/>
          <a:p>
            <a:pPr algn="ctr" indent="0" marL="0">
              <a:buNone/>
            </a:pPr>
            <a:r>
              <a:rPr lang="en-US" sz="1600" b="1" dirty="0">
                <a:solidFill>
                  <a:srgbClr val="22B8CF"/>
                </a:solidFill>
              </a:rPr>
              <a:t>× 40%</a:t>
            </a:r>
            <a:endParaRPr lang="en-US" sz="1600" dirty="0"/>
          </a:p>
        </p:txBody>
      </p:sp>
      <p:sp>
        <p:nvSpPr>
          <p:cNvPr id="8" name="Text 6"/>
          <p:cNvSpPr txBox="1"/>
          <p:nvPr/>
        </p:nvSpPr>
        <p:spPr>
          <a:xfrm>
            <a:off x="5760720" y="1554480"/>
            <a:ext cx="1645920" cy="411480"/>
          </a:xfrm>
          <a:prstGeom prst="rect">
            <a:avLst/>
          </a:prstGeom>
          <a:noFill/>
          <a:ln/>
        </p:spPr>
        <p:txBody>
          <a:bodyPr wrap="square" lIns="0" tIns="0" rIns="0" bIns="0" rtlCol="0" anchor="t"/>
          <a:lstStyle/>
          <a:p>
            <a:pPr algn="r" indent="0" marL="0">
              <a:buNone/>
            </a:pPr>
            <a:r>
              <a:rPr lang="en-US" sz="1600" b="1" dirty="0">
                <a:solidFill>
                  <a:srgbClr val="1B1F3B"/>
                </a:solidFill>
                <a:latin typeface="Cambria" pitchFamily="34" charset="0"/>
                <a:ea typeface="Cambria" pitchFamily="34" charset="-122"/>
                <a:cs typeface="Cambria" pitchFamily="34" charset="-120"/>
              </a:rPr>
              <a:t>= 39.6</a:t>
            </a:r>
            <a:endParaRPr lang="en-US" sz="1600" dirty="0"/>
          </a:p>
        </p:txBody>
      </p:sp>
      <p:sp>
        <p:nvSpPr>
          <p:cNvPr id="9" name="Shape 7"/>
          <p:cNvSpPr/>
          <p:nvPr/>
        </p:nvSpPr>
        <p:spPr>
          <a:xfrm>
            <a:off x="640080" y="2286000"/>
            <a:ext cx="6949440" cy="777240"/>
          </a:xfrm>
          <a:prstGeom prst="roundRect">
            <a:avLst>
              <a:gd name="adj" fmla="val 11765"/>
            </a:avLst>
          </a:prstGeom>
          <a:solidFill>
            <a:srgbClr val="F1F2F8"/>
          </a:solidFill>
          <a:ln w="12700">
            <a:solidFill>
              <a:srgbClr val="F1F2F8"/>
            </a:solidFill>
            <a:prstDash val="solid"/>
          </a:ln>
        </p:spPr>
      </p:sp>
      <p:sp>
        <p:nvSpPr>
          <p:cNvPr id="10" name="Shape 8"/>
          <p:cNvSpPr/>
          <p:nvPr/>
        </p:nvSpPr>
        <p:spPr>
          <a:xfrm>
            <a:off x="640080" y="2286000"/>
            <a:ext cx="109728" cy="777240"/>
          </a:xfrm>
          <a:prstGeom prst="rect">
            <a:avLst/>
          </a:prstGeom>
          <a:solidFill>
            <a:srgbClr val="E6A23C"/>
          </a:solidFill>
          <a:ln w="12700">
            <a:solidFill>
              <a:srgbClr val="E6A23C"/>
            </a:solidFill>
            <a:prstDash val="solid"/>
          </a:ln>
        </p:spPr>
      </p:sp>
      <p:sp>
        <p:nvSpPr>
          <p:cNvPr id="11" name="Text 9"/>
          <p:cNvSpPr txBox="1"/>
          <p:nvPr/>
        </p:nvSpPr>
        <p:spPr>
          <a:xfrm>
            <a:off x="914400" y="2377440"/>
            <a:ext cx="2194560" cy="320040"/>
          </a:xfrm>
          <a:prstGeom prst="rect">
            <a:avLst/>
          </a:prstGeom>
          <a:noFill/>
          <a:ln/>
        </p:spPr>
        <p:txBody>
          <a:bodyPr wrap="square" lIns="0" tIns="0" rIns="0" bIns="0" rtlCol="0" anchor="t"/>
          <a:lstStyle/>
          <a:p>
            <a:pPr indent="0" marL="0">
              <a:buNone/>
            </a:pPr>
            <a:r>
              <a:rPr lang="en-US" sz="1300" b="1" dirty="0">
                <a:solidFill>
                  <a:srgbClr val="1B1F3B"/>
                </a:solidFill>
              </a:rPr>
              <a:t>Reviewer score</a:t>
            </a:r>
            <a:endParaRPr lang="en-US" sz="1300" dirty="0"/>
          </a:p>
        </p:txBody>
      </p:sp>
      <p:sp>
        <p:nvSpPr>
          <p:cNvPr id="12" name="Text 10"/>
          <p:cNvSpPr txBox="1"/>
          <p:nvPr/>
        </p:nvSpPr>
        <p:spPr>
          <a:xfrm>
            <a:off x="914400" y="2697480"/>
            <a:ext cx="3291840" cy="320040"/>
          </a:xfrm>
          <a:prstGeom prst="rect">
            <a:avLst/>
          </a:prstGeom>
          <a:noFill/>
          <a:ln/>
        </p:spPr>
        <p:txBody>
          <a:bodyPr wrap="square" lIns="0" tIns="0" rIns="0" bIns="0" rtlCol="0" anchor="t"/>
          <a:lstStyle/>
          <a:p>
            <a:pPr indent="0" marL="0">
              <a:buNone/>
            </a:pPr>
            <a:r>
              <a:rPr lang="en-US" sz="1100" dirty="0">
                <a:solidFill>
                  <a:srgbClr val="4A4F6B"/>
                </a:solidFill>
              </a:rPr>
              <a:t>approve, score 92</a:t>
            </a:r>
            <a:endParaRPr lang="en-US" sz="1100" dirty="0"/>
          </a:p>
        </p:txBody>
      </p:sp>
      <p:sp>
        <p:nvSpPr>
          <p:cNvPr id="13" name="Text 11"/>
          <p:cNvSpPr txBox="1"/>
          <p:nvPr/>
        </p:nvSpPr>
        <p:spPr>
          <a:xfrm>
            <a:off x="4480560" y="2468880"/>
            <a:ext cx="1097280" cy="411480"/>
          </a:xfrm>
          <a:prstGeom prst="rect">
            <a:avLst/>
          </a:prstGeom>
          <a:noFill/>
          <a:ln/>
        </p:spPr>
        <p:txBody>
          <a:bodyPr wrap="square" lIns="0" tIns="0" rIns="0" bIns="0" rtlCol="0" anchor="t"/>
          <a:lstStyle/>
          <a:p>
            <a:pPr algn="ctr" indent="0" marL="0">
              <a:buNone/>
            </a:pPr>
            <a:r>
              <a:rPr lang="en-US" sz="1600" b="1" dirty="0">
                <a:solidFill>
                  <a:srgbClr val="E6A23C"/>
                </a:solidFill>
              </a:rPr>
              <a:t>× 35%</a:t>
            </a:r>
            <a:endParaRPr lang="en-US" sz="1600" dirty="0"/>
          </a:p>
        </p:txBody>
      </p:sp>
      <p:sp>
        <p:nvSpPr>
          <p:cNvPr id="14" name="Text 12"/>
          <p:cNvSpPr txBox="1"/>
          <p:nvPr/>
        </p:nvSpPr>
        <p:spPr>
          <a:xfrm>
            <a:off x="5760720" y="2468880"/>
            <a:ext cx="1645920" cy="411480"/>
          </a:xfrm>
          <a:prstGeom prst="rect">
            <a:avLst/>
          </a:prstGeom>
          <a:noFill/>
          <a:ln/>
        </p:spPr>
        <p:txBody>
          <a:bodyPr wrap="square" lIns="0" tIns="0" rIns="0" bIns="0" rtlCol="0" anchor="t"/>
          <a:lstStyle/>
          <a:p>
            <a:pPr algn="r" indent="0" marL="0">
              <a:buNone/>
            </a:pPr>
            <a:r>
              <a:rPr lang="en-US" sz="1600" b="1" dirty="0">
                <a:solidFill>
                  <a:srgbClr val="1B1F3B"/>
                </a:solidFill>
                <a:latin typeface="Cambria" pitchFamily="34" charset="0"/>
                <a:ea typeface="Cambria" pitchFamily="34" charset="-122"/>
                <a:cs typeface="Cambria" pitchFamily="34" charset="-120"/>
              </a:rPr>
              <a:t>= 32.2</a:t>
            </a:r>
            <a:endParaRPr lang="en-US" sz="1600" dirty="0"/>
          </a:p>
        </p:txBody>
      </p:sp>
      <p:sp>
        <p:nvSpPr>
          <p:cNvPr id="15" name="Shape 13"/>
          <p:cNvSpPr/>
          <p:nvPr/>
        </p:nvSpPr>
        <p:spPr>
          <a:xfrm>
            <a:off x="640080" y="3200400"/>
            <a:ext cx="6949440" cy="777240"/>
          </a:xfrm>
          <a:prstGeom prst="roundRect">
            <a:avLst>
              <a:gd name="adj" fmla="val 11765"/>
            </a:avLst>
          </a:prstGeom>
          <a:solidFill>
            <a:srgbClr val="F1F2F8"/>
          </a:solidFill>
          <a:ln w="12700">
            <a:solidFill>
              <a:srgbClr val="F1F2F8"/>
            </a:solidFill>
            <a:prstDash val="solid"/>
          </a:ln>
        </p:spPr>
      </p:sp>
      <p:sp>
        <p:nvSpPr>
          <p:cNvPr id="16" name="Shape 14"/>
          <p:cNvSpPr/>
          <p:nvPr/>
        </p:nvSpPr>
        <p:spPr>
          <a:xfrm>
            <a:off x="640080" y="3200400"/>
            <a:ext cx="109728" cy="777240"/>
          </a:xfrm>
          <a:prstGeom prst="rect">
            <a:avLst/>
          </a:prstGeom>
          <a:solidFill>
            <a:srgbClr val="6C5CE7"/>
          </a:solidFill>
          <a:ln w="12700">
            <a:solidFill>
              <a:srgbClr val="6C5CE7"/>
            </a:solidFill>
            <a:prstDash val="solid"/>
          </a:ln>
        </p:spPr>
      </p:sp>
      <p:sp>
        <p:nvSpPr>
          <p:cNvPr id="17" name="Text 15"/>
          <p:cNvSpPr txBox="1"/>
          <p:nvPr/>
        </p:nvSpPr>
        <p:spPr>
          <a:xfrm>
            <a:off x="914400" y="3291840"/>
            <a:ext cx="2194560" cy="320040"/>
          </a:xfrm>
          <a:prstGeom prst="rect">
            <a:avLst/>
          </a:prstGeom>
          <a:noFill/>
          <a:ln/>
        </p:spPr>
        <p:txBody>
          <a:bodyPr wrap="square" lIns="0" tIns="0" rIns="0" bIns="0" rtlCol="0" anchor="t"/>
          <a:lstStyle/>
          <a:p>
            <a:pPr indent="0" marL="0">
              <a:buNone/>
            </a:pPr>
            <a:r>
              <a:rPr lang="en-US" sz="1300" b="1" dirty="0">
                <a:solidFill>
                  <a:srgbClr val="1B1F3B"/>
                </a:solidFill>
              </a:rPr>
              <a:t>Coder confidence</a:t>
            </a:r>
            <a:endParaRPr lang="en-US" sz="1300" dirty="0"/>
          </a:p>
        </p:txBody>
      </p:sp>
      <p:sp>
        <p:nvSpPr>
          <p:cNvPr id="18" name="Text 16"/>
          <p:cNvSpPr txBox="1"/>
          <p:nvPr/>
        </p:nvSpPr>
        <p:spPr>
          <a:xfrm>
            <a:off x="914400" y="3611880"/>
            <a:ext cx="3291840" cy="320040"/>
          </a:xfrm>
          <a:prstGeom prst="rect">
            <a:avLst/>
          </a:prstGeom>
          <a:noFill/>
          <a:ln/>
        </p:spPr>
        <p:txBody>
          <a:bodyPr wrap="square" lIns="0" tIns="0" rIns="0" bIns="0" rtlCol="0" anchor="t"/>
          <a:lstStyle/>
          <a:p>
            <a:pPr indent="0" marL="0">
              <a:buNone/>
            </a:pPr>
            <a:r>
              <a:rPr lang="en-US" sz="1100" dirty="0">
                <a:solidFill>
                  <a:srgbClr val="4A4F6B"/>
                </a:solidFill>
              </a:rPr>
              <a:t>files 85 · 96 · 90 · 88 → mean 89.8</a:t>
            </a:r>
            <a:endParaRPr lang="en-US" sz="1100" dirty="0"/>
          </a:p>
        </p:txBody>
      </p:sp>
      <p:sp>
        <p:nvSpPr>
          <p:cNvPr id="19" name="Text 17"/>
          <p:cNvSpPr txBox="1"/>
          <p:nvPr/>
        </p:nvSpPr>
        <p:spPr>
          <a:xfrm>
            <a:off x="4480560" y="3383280"/>
            <a:ext cx="1097280" cy="411480"/>
          </a:xfrm>
          <a:prstGeom prst="rect">
            <a:avLst/>
          </a:prstGeom>
          <a:noFill/>
          <a:ln/>
        </p:spPr>
        <p:txBody>
          <a:bodyPr wrap="square" lIns="0" tIns="0" rIns="0" bIns="0" rtlCol="0" anchor="t"/>
          <a:lstStyle/>
          <a:p>
            <a:pPr algn="ctr" indent="0" marL="0">
              <a:buNone/>
            </a:pPr>
            <a:r>
              <a:rPr lang="en-US" sz="1600" b="1" dirty="0">
                <a:solidFill>
                  <a:srgbClr val="6C5CE7"/>
                </a:solidFill>
              </a:rPr>
              <a:t>× 25%</a:t>
            </a:r>
            <a:endParaRPr lang="en-US" sz="1600" dirty="0"/>
          </a:p>
        </p:txBody>
      </p:sp>
      <p:sp>
        <p:nvSpPr>
          <p:cNvPr id="20" name="Text 18"/>
          <p:cNvSpPr txBox="1"/>
          <p:nvPr/>
        </p:nvSpPr>
        <p:spPr>
          <a:xfrm>
            <a:off x="5760720" y="3383280"/>
            <a:ext cx="1645920" cy="411480"/>
          </a:xfrm>
          <a:prstGeom prst="rect">
            <a:avLst/>
          </a:prstGeom>
          <a:noFill/>
          <a:ln/>
        </p:spPr>
        <p:txBody>
          <a:bodyPr wrap="square" lIns="0" tIns="0" rIns="0" bIns="0" rtlCol="0" anchor="t"/>
          <a:lstStyle/>
          <a:p>
            <a:pPr algn="r" indent="0" marL="0">
              <a:buNone/>
            </a:pPr>
            <a:r>
              <a:rPr lang="en-US" sz="1600" b="1" dirty="0">
                <a:solidFill>
                  <a:srgbClr val="1B1F3B"/>
                </a:solidFill>
                <a:latin typeface="Cambria" pitchFamily="34" charset="0"/>
                <a:ea typeface="Cambria" pitchFamily="34" charset="-122"/>
                <a:cs typeface="Cambria" pitchFamily="34" charset="-120"/>
              </a:rPr>
              <a:t>= 22.4</a:t>
            </a:r>
            <a:endParaRPr lang="en-US" sz="1600" dirty="0"/>
          </a:p>
        </p:txBody>
      </p:sp>
      <p:sp>
        <p:nvSpPr>
          <p:cNvPr id="21" name="Shape 19"/>
          <p:cNvSpPr/>
          <p:nvPr/>
        </p:nvSpPr>
        <p:spPr>
          <a:xfrm>
            <a:off x="5760720" y="4114800"/>
            <a:ext cx="1828800" cy="9144"/>
          </a:xfrm>
          <a:prstGeom prst="line">
            <a:avLst/>
          </a:prstGeom>
          <a:noFill/>
          <a:ln w="19050">
            <a:solidFill>
              <a:srgbClr val="1B1F3B"/>
            </a:solidFill>
            <a:prstDash val="solid"/>
          </a:ln>
        </p:spPr>
      </p:sp>
      <p:sp>
        <p:nvSpPr>
          <p:cNvPr id="22" name="Text 20"/>
          <p:cNvSpPr txBox="1"/>
          <p:nvPr/>
        </p:nvSpPr>
        <p:spPr>
          <a:xfrm>
            <a:off x="4480560" y="4206240"/>
            <a:ext cx="2926080" cy="411480"/>
          </a:xfrm>
          <a:prstGeom prst="rect">
            <a:avLst/>
          </a:prstGeom>
          <a:noFill/>
          <a:ln/>
        </p:spPr>
        <p:txBody>
          <a:bodyPr wrap="square" lIns="0" tIns="0" rIns="0" bIns="0" rtlCol="0" anchor="t"/>
          <a:lstStyle/>
          <a:p>
            <a:pPr algn="r" indent="0" marL="0">
              <a:buNone/>
            </a:pPr>
            <a:r>
              <a:rPr lang="en-US" sz="1800" b="1" dirty="0">
                <a:solidFill>
                  <a:srgbClr val="1B1F3B"/>
                </a:solidFill>
                <a:latin typeface="Cambria" pitchFamily="34" charset="0"/>
                <a:ea typeface="Cambria" pitchFamily="34" charset="-122"/>
                <a:cs typeface="Cambria" pitchFamily="34" charset="-120"/>
              </a:rPr>
              <a:t>sum = 94.2</a:t>
            </a:r>
            <a:endParaRPr lang="en-US" sz="1800" dirty="0"/>
          </a:p>
        </p:txBody>
      </p:sp>
      <p:sp>
        <p:nvSpPr>
          <p:cNvPr id="23" name="Shape 21"/>
          <p:cNvSpPr/>
          <p:nvPr/>
        </p:nvSpPr>
        <p:spPr>
          <a:xfrm>
            <a:off x="640080" y="4754880"/>
            <a:ext cx="6949440" cy="1188720"/>
          </a:xfrm>
          <a:prstGeom prst="roundRect">
            <a:avLst>
              <a:gd name="adj" fmla="val 9231"/>
            </a:avLst>
          </a:prstGeom>
          <a:solidFill>
            <a:srgbClr val="F1F2F8"/>
          </a:solidFill>
          <a:ln w="12700">
            <a:solidFill>
              <a:srgbClr val="F1F2F8"/>
            </a:solidFill>
            <a:prstDash val="solid"/>
          </a:ln>
        </p:spPr>
      </p:sp>
      <p:sp>
        <p:nvSpPr>
          <p:cNvPr id="24" name="Text 22"/>
          <p:cNvSpPr txBox="1"/>
          <p:nvPr/>
        </p:nvSpPr>
        <p:spPr>
          <a:xfrm>
            <a:off x="822960" y="4892040"/>
            <a:ext cx="6583680" cy="411480"/>
          </a:xfrm>
          <a:prstGeom prst="rect">
            <a:avLst/>
          </a:prstGeom>
          <a:noFill/>
          <a:ln/>
        </p:spPr>
        <p:txBody>
          <a:bodyPr wrap="square" lIns="0" tIns="0" rIns="0" bIns="0" rtlCol="0" anchor="ctr"/>
          <a:lstStyle/>
          <a:p>
            <a:pPr indent="0" marL="0">
              <a:buNone/>
            </a:pPr>
            <a:r>
              <a:rPr lang="en-US" sz="1500" b="1" dirty="0">
                <a:solidFill>
                  <a:srgbClr val="1B1F3B"/>
                </a:solidFill>
              </a:rPr>
              <a:t>Caps: nothing open</a:t>
            </a:r>
            <a:endParaRPr lang="en-US" sz="1500" dirty="0"/>
          </a:p>
        </p:txBody>
      </p:sp>
      <p:sp>
        <p:nvSpPr>
          <p:cNvPr id="25" name="Text 23"/>
          <p:cNvSpPr txBox="1"/>
          <p:nvPr/>
        </p:nvSpPr>
        <p:spPr>
          <a:xfrm>
            <a:off x="822960" y="5321808"/>
            <a:ext cx="6583680" cy="548640"/>
          </a:xfrm>
          <a:prstGeom prst="rect">
            <a:avLst/>
          </a:prstGeom>
          <a:noFill/>
          <a:ln/>
        </p:spPr>
        <p:txBody>
          <a:bodyPr wrap="square" lIns="0" tIns="0" rIns="0" bIns="0" rtlCol="0" anchor="t"/>
          <a:lstStyle/>
          <a:p>
            <a:pPr indent="0" marL="0">
              <a:spcAft>
                <a:spcPts val="300"/>
              </a:spcAft>
              <a:buNone/>
            </a:pPr>
            <a:r>
              <a:rPr lang="en-US" sz="1150" dirty="0">
                <a:solidFill>
                  <a:srgbClr val="4A4F6B"/>
                </a:solidFill>
              </a:rPr>
              <a:t>review ran (no 70 cap) · no critical / high finding open (no 50 / 75 cap) · lowest file 85 ≥ 60 (no 80 cap) · 0 open questions (−0)</a:t>
            </a:r>
            <a:endParaRPr lang="en-US" sz="1150" dirty="0"/>
          </a:p>
        </p:txBody>
      </p:sp>
      <p:sp>
        <p:nvSpPr>
          <p:cNvPr id="26" name="Shape 24"/>
          <p:cNvSpPr/>
          <p:nvPr/>
        </p:nvSpPr>
        <p:spPr>
          <a:xfrm>
            <a:off x="7955280" y="1371600"/>
            <a:ext cx="3840480" cy="2377440"/>
          </a:xfrm>
          <a:prstGeom prst="roundRect">
            <a:avLst>
              <a:gd name="adj" fmla="val 5769"/>
            </a:avLst>
          </a:prstGeom>
          <a:solidFill>
            <a:srgbClr val="2E9E6B"/>
          </a:solidFill>
          <a:ln w="12700">
            <a:solidFill>
              <a:srgbClr val="2E9E6B"/>
            </a:solidFill>
            <a:prstDash val="solid"/>
          </a:ln>
        </p:spPr>
      </p:sp>
      <p:sp>
        <p:nvSpPr>
          <p:cNvPr id="27" name="Text 25"/>
          <p:cNvSpPr txBox="1"/>
          <p:nvPr/>
        </p:nvSpPr>
        <p:spPr>
          <a:xfrm>
            <a:off x="7955280" y="1463040"/>
            <a:ext cx="3840480" cy="1188720"/>
          </a:xfrm>
          <a:prstGeom prst="rect">
            <a:avLst/>
          </a:prstGeom>
          <a:noFill/>
          <a:ln/>
        </p:spPr>
        <p:txBody>
          <a:bodyPr wrap="square" lIns="0" tIns="0" rIns="0" bIns="0" rtlCol="0" anchor="t"/>
          <a:lstStyle/>
          <a:p>
            <a:pPr algn="ctr" indent="0" marL="0">
              <a:buNone/>
            </a:pPr>
            <a:r>
              <a:rPr lang="en-US" sz="7200" b="1" dirty="0">
                <a:solidFill>
                  <a:srgbClr val="FFFFFF"/>
                </a:solidFill>
                <a:latin typeface="Cambria" pitchFamily="34" charset="0"/>
                <a:ea typeface="Cambria" pitchFamily="34" charset="-122"/>
                <a:cs typeface="Cambria" pitchFamily="34" charset="-120"/>
              </a:rPr>
              <a:t>94</a:t>
            </a:r>
            <a:endParaRPr lang="en-US" sz="7200" dirty="0"/>
          </a:p>
        </p:txBody>
      </p:sp>
      <p:sp>
        <p:nvSpPr>
          <p:cNvPr id="28" name="Text 26"/>
          <p:cNvSpPr txBox="1"/>
          <p:nvPr/>
        </p:nvSpPr>
        <p:spPr>
          <a:xfrm>
            <a:off x="7955280" y="2743200"/>
            <a:ext cx="3840480" cy="457200"/>
          </a:xfrm>
          <a:prstGeom prst="rect">
            <a:avLst/>
          </a:prstGeom>
          <a:noFill/>
          <a:ln/>
        </p:spPr>
        <p:txBody>
          <a:bodyPr wrap="square" lIns="0" tIns="0" rIns="0" bIns="0" rtlCol="0" anchor="t"/>
          <a:lstStyle/>
          <a:p>
            <a:pPr algn="ctr" indent="0" marL="0">
              <a:buNone/>
            </a:pPr>
            <a:r>
              <a:rPr lang="en-US" sz="1400" b="1" dirty="0">
                <a:solidFill>
                  <a:srgbClr val="FFFFFF"/>
                </a:solidFill>
              </a:rPr>
              <a:t>High  ·  read the plan, skim the diff, push</a:t>
            </a:r>
            <a:endParaRPr lang="en-US" sz="1400" dirty="0"/>
          </a:p>
        </p:txBody>
      </p:sp>
      <p:sp>
        <p:nvSpPr>
          <p:cNvPr id="29" name="Text 27"/>
          <p:cNvSpPr txBox="1"/>
          <p:nvPr/>
        </p:nvSpPr>
        <p:spPr>
          <a:xfrm>
            <a:off x="8138160" y="3200400"/>
            <a:ext cx="3474720" cy="457200"/>
          </a:xfrm>
          <a:prstGeom prst="rect">
            <a:avLst/>
          </a:prstGeom>
          <a:noFill/>
          <a:ln/>
        </p:spPr>
        <p:txBody>
          <a:bodyPr wrap="square" lIns="0" tIns="0" rIns="0" bIns="0" rtlCol="0" anchor="t"/>
          <a:lstStyle/>
          <a:p>
            <a:pPr algn="ctr" indent="0" marL="0">
              <a:buNone/>
            </a:pPr>
            <a:r>
              <a:rPr lang="en-US" sz="1050" dirty="0">
                <a:solidFill>
                  <a:srgbClr val="E8F7EE"/>
                </a:solidFill>
              </a:rPr>
              <a:t>shown as a pill in the header and in the Review tab with this breakdown</a:t>
            </a:r>
            <a:endParaRPr lang="en-US" sz="1050" dirty="0"/>
          </a:p>
        </p:txBody>
      </p:sp>
      <p:sp>
        <p:nvSpPr>
          <p:cNvPr id="30" name="Shape 28"/>
          <p:cNvSpPr/>
          <p:nvPr/>
        </p:nvSpPr>
        <p:spPr>
          <a:xfrm>
            <a:off x="7955280" y="3931920"/>
            <a:ext cx="3840480" cy="2011680"/>
          </a:xfrm>
          <a:prstGeom prst="roundRect">
            <a:avLst>
              <a:gd name="adj" fmla="val 5455"/>
            </a:avLst>
          </a:prstGeom>
          <a:solidFill>
            <a:srgbClr val="FFFFFF"/>
          </a:solidFill>
          <a:ln w="19050">
            <a:solidFill>
              <a:srgbClr val="E6A23C"/>
            </a:solidFill>
            <a:prstDash val="solid"/>
          </a:ln>
        </p:spPr>
      </p:sp>
      <p:sp>
        <p:nvSpPr>
          <p:cNvPr id="31" name="Text 29"/>
          <p:cNvSpPr txBox="1"/>
          <p:nvPr/>
        </p:nvSpPr>
        <p:spPr>
          <a:xfrm>
            <a:off x="8138160" y="4069080"/>
            <a:ext cx="3474720" cy="411480"/>
          </a:xfrm>
          <a:prstGeom prst="rect">
            <a:avLst/>
          </a:prstGeom>
          <a:noFill/>
          <a:ln/>
        </p:spPr>
        <p:txBody>
          <a:bodyPr wrap="square" lIns="0" tIns="0" rIns="0" bIns="0" rtlCol="0" anchor="ctr"/>
          <a:lstStyle/>
          <a:p>
            <a:pPr indent="0" marL="0">
              <a:buNone/>
            </a:pPr>
            <a:r>
              <a:rPr lang="en-US" sz="1500" b="1" dirty="0">
                <a:solidFill>
                  <a:srgbClr val="1B1F3B"/>
                </a:solidFill>
              </a:rPr>
              <a:t>Same run, one open HIGH finding</a:t>
            </a:r>
            <a:endParaRPr lang="en-US" sz="1500" dirty="0"/>
          </a:p>
        </p:txBody>
      </p:sp>
      <p:sp>
        <p:nvSpPr>
          <p:cNvPr id="32" name="Text 30"/>
          <p:cNvSpPr txBox="1"/>
          <p:nvPr/>
        </p:nvSpPr>
        <p:spPr>
          <a:xfrm>
            <a:off x="8138160" y="4498848"/>
            <a:ext cx="3474720" cy="137160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sum 94.2 → capped at 75 → Medium. The Review tab says: 'to raise it: fix the 1 blocking finding'. Fix it (chat or inline edit), the validator re-runs, the score goes back to 94.</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Enterprise-ready: secrets never stored, sessions per user</a:t>
            </a:r>
            <a:endParaRPr lang="en-US" sz="3000" dirty="0"/>
          </a:p>
        </p:txBody>
      </p:sp>
      <p:sp>
        <p:nvSpPr>
          <p:cNvPr id="3" name="Shape 1"/>
          <p:cNvSpPr/>
          <p:nvPr/>
        </p:nvSpPr>
        <p:spPr>
          <a:xfrm>
            <a:off x="640080" y="1371600"/>
            <a:ext cx="5394960" cy="1005840"/>
          </a:xfrm>
          <a:prstGeom prst="roundRect">
            <a:avLst>
              <a:gd name="adj" fmla="val 10909"/>
            </a:avLst>
          </a:prstGeom>
          <a:solidFill>
            <a:srgbClr val="F1F2F8"/>
          </a:solidFill>
          <a:ln w="12700">
            <a:solidFill>
              <a:srgbClr val="F1F2F8"/>
            </a:solidFill>
            <a:prstDash val="solid"/>
          </a:ln>
        </p:spPr>
      </p:sp>
      <p:sp>
        <p:nvSpPr>
          <p:cNvPr id="4" name="Shape 2"/>
          <p:cNvSpPr/>
          <p:nvPr/>
        </p:nvSpPr>
        <p:spPr>
          <a:xfrm>
            <a:off x="804672" y="1527048"/>
            <a:ext cx="384048" cy="384048"/>
          </a:xfrm>
          <a:prstGeom prst="ellipse">
            <a:avLst/>
          </a:prstGeom>
          <a:solidFill>
            <a:srgbClr val="1B1F3B"/>
          </a:solidFill>
          <a:ln w="12700">
            <a:solidFill>
              <a:srgbClr val="1B1F3B"/>
            </a:solidFill>
            <a:prstDash val="solid"/>
          </a:ln>
        </p:spPr>
      </p:sp>
      <p:sp>
        <p:nvSpPr>
          <p:cNvPr id="5" name="Text 3"/>
          <p:cNvSpPr txBox="1"/>
          <p:nvPr/>
        </p:nvSpPr>
        <p:spPr>
          <a:xfrm>
            <a:off x="804672" y="1527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6" name="Text 4"/>
          <p:cNvSpPr txBox="1"/>
          <p:nvPr/>
        </p:nvSpPr>
        <p:spPr>
          <a:xfrm>
            <a:off x="1298448" y="1508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LLM key</a:t>
            </a:r>
            <a:endParaRPr lang="en-US" sz="1500" dirty="0"/>
          </a:p>
        </p:txBody>
      </p:sp>
      <p:sp>
        <p:nvSpPr>
          <p:cNvPr id="7" name="Text 5"/>
          <p:cNvSpPr txBox="1"/>
          <p:nvPr/>
        </p:nvSpPr>
        <p:spPr>
          <a:xfrm>
            <a:off x="822960" y="1938528"/>
            <a:ext cx="5029200" cy="3657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environment variable or hidden notebook prompt - never in config, code, cache or logs</a:t>
            </a:r>
            <a:endParaRPr lang="en-US" sz="1100" dirty="0"/>
          </a:p>
        </p:txBody>
      </p:sp>
      <p:sp>
        <p:nvSpPr>
          <p:cNvPr id="8" name="Shape 6"/>
          <p:cNvSpPr/>
          <p:nvPr/>
        </p:nvSpPr>
        <p:spPr>
          <a:xfrm>
            <a:off x="640080" y="2514600"/>
            <a:ext cx="5394960" cy="1005840"/>
          </a:xfrm>
          <a:prstGeom prst="roundRect">
            <a:avLst>
              <a:gd name="adj" fmla="val 10909"/>
            </a:avLst>
          </a:prstGeom>
          <a:solidFill>
            <a:srgbClr val="F1F2F8"/>
          </a:solidFill>
          <a:ln w="12700">
            <a:solidFill>
              <a:srgbClr val="F1F2F8"/>
            </a:solidFill>
            <a:prstDash val="solid"/>
          </a:ln>
        </p:spPr>
      </p:sp>
      <p:sp>
        <p:nvSpPr>
          <p:cNvPr id="9" name="Shape 7"/>
          <p:cNvSpPr/>
          <p:nvPr/>
        </p:nvSpPr>
        <p:spPr>
          <a:xfrm>
            <a:off x="804672" y="2670048"/>
            <a:ext cx="384048" cy="384048"/>
          </a:xfrm>
          <a:prstGeom prst="ellipse">
            <a:avLst/>
          </a:prstGeom>
          <a:solidFill>
            <a:srgbClr val="1B1F3B"/>
          </a:solidFill>
          <a:ln w="12700">
            <a:solidFill>
              <a:srgbClr val="1B1F3B"/>
            </a:solidFill>
            <a:prstDash val="solid"/>
          </a:ln>
        </p:spPr>
      </p:sp>
      <p:sp>
        <p:nvSpPr>
          <p:cNvPr id="10" name="Text 8"/>
          <p:cNvSpPr txBox="1"/>
          <p:nvPr/>
        </p:nvSpPr>
        <p:spPr>
          <a:xfrm>
            <a:off x="804672" y="2670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1" name="Text 9"/>
          <p:cNvSpPr txBox="1"/>
          <p:nvPr/>
        </p:nvSpPr>
        <p:spPr>
          <a:xfrm>
            <a:off x="1298448" y="2651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Git read token</a:t>
            </a:r>
            <a:endParaRPr lang="en-US" sz="1500" dirty="0"/>
          </a:p>
        </p:txBody>
      </p:sp>
      <p:sp>
        <p:nvSpPr>
          <p:cNvPr id="12" name="Text 10"/>
          <p:cNvSpPr txBox="1"/>
          <p:nvPr/>
        </p:nvSpPr>
        <p:spPr>
          <a:xfrm>
            <a:off x="822960" y="3081528"/>
            <a:ext cx="5029200" cy="3657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entered once when the UI starts; used only to read stories and download code</a:t>
            </a:r>
            <a:endParaRPr lang="en-US" sz="1100" dirty="0"/>
          </a:p>
        </p:txBody>
      </p:sp>
      <p:sp>
        <p:nvSpPr>
          <p:cNvPr id="13" name="Shape 11"/>
          <p:cNvSpPr/>
          <p:nvPr/>
        </p:nvSpPr>
        <p:spPr>
          <a:xfrm>
            <a:off x="640080" y="3657600"/>
            <a:ext cx="5394960" cy="1005840"/>
          </a:xfrm>
          <a:prstGeom prst="roundRect">
            <a:avLst>
              <a:gd name="adj" fmla="val 10909"/>
            </a:avLst>
          </a:prstGeom>
          <a:solidFill>
            <a:srgbClr val="F1F2F8"/>
          </a:solidFill>
          <a:ln w="12700">
            <a:solidFill>
              <a:srgbClr val="F1F2F8"/>
            </a:solidFill>
            <a:prstDash val="solid"/>
          </a:ln>
        </p:spPr>
      </p:sp>
      <p:sp>
        <p:nvSpPr>
          <p:cNvPr id="14" name="Shape 12"/>
          <p:cNvSpPr/>
          <p:nvPr/>
        </p:nvSpPr>
        <p:spPr>
          <a:xfrm>
            <a:off x="804672" y="3813048"/>
            <a:ext cx="384048" cy="384048"/>
          </a:xfrm>
          <a:prstGeom prst="ellipse">
            <a:avLst/>
          </a:prstGeom>
          <a:solidFill>
            <a:srgbClr val="1B1F3B"/>
          </a:solidFill>
          <a:ln w="12700">
            <a:solidFill>
              <a:srgbClr val="1B1F3B"/>
            </a:solidFill>
            <a:prstDash val="solid"/>
          </a:ln>
        </p:spPr>
      </p:sp>
      <p:sp>
        <p:nvSpPr>
          <p:cNvPr id="15" name="Text 13"/>
          <p:cNvSpPr txBox="1"/>
          <p:nvPr/>
        </p:nvSpPr>
        <p:spPr>
          <a:xfrm>
            <a:off x="804672" y="3813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6" name="Text 14"/>
          <p:cNvSpPr txBox="1"/>
          <p:nvPr/>
        </p:nvSpPr>
        <p:spPr>
          <a:xfrm>
            <a:off x="1298448" y="3794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Push = personal token</a:t>
            </a:r>
            <a:endParaRPr lang="en-US" sz="1500" dirty="0"/>
          </a:p>
        </p:txBody>
      </p:sp>
      <p:sp>
        <p:nvSpPr>
          <p:cNvPr id="17" name="Text 15"/>
          <p:cNvSpPr txBox="1"/>
          <p:nvPr/>
        </p:nvSpPr>
        <p:spPr>
          <a:xfrm>
            <a:off x="822960" y="4224528"/>
            <a:ext cx="5029200" cy="3657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always typed in the push form, so branch and commits carry the developer's identity</a:t>
            </a:r>
            <a:endParaRPr lang="en-US" sz="1100" dirty="0"/>
          </a:p>
        </p:txBody>
      </p:sp>
      <p:sp>
        <p:nvSpPr>
          <p:cNvPr id="18" name="Shape 16"/>
          <p:cNvSpPr/>
          <p:nvPr/>
        </p:nvSpPr>
        <p:spPr>
          <a:xfrm>
            <a:off x="640080" y="4800600"/>
            <a:ext cx="5394960" cy="1005840"/>
          </a:xfrm>
          <a:prstGeom prst="roundRect">
            <a:avLst>
              <a:gd name="adj" fmla="val 10909"/>
            </a:avLst>
          </a:prstGeom>
          <a:solidFill>
            <a:srgbClr val="F1F2F8"/>
          </a:solidFill>
          <a:ln w="12700">
            <a:solidFill>
              <a:srgbClr val="F1F2F8"/>
            </a:solidFill>
            <a:prstDash val="solid"/>
          </a:ln>
        </p:spPr>
      </p:sp>
      <p:sp>
        <p:nvSpPr>
          <p:cNvPr id="19" name="Shape 17"/>
          <p:cNvSpPr/>
          <p:nvPr/>
        </p:nvSpPr>
        <p:spPr>
          <a:xfrm>
            <a:off x="804672" y="4956048"/>
            <a:ext cx="384048" cy="384048"/>
          </a:xfrm>
          <a:prstGeom prst="ellipse">
            <a:avLst/>
          </a:prstGeom>
          <a:solidFill>
            <a:srgbClr val="1B1F3B"/>
          </a:solidFill>
          <a:ln w="12700">
            <a:solidFill>
              <a:srgbClr val="1B1F3B"/>
            </a:solidFill>
            <a:prstDash val="solid"/>
          </a:ln>
        </p:spPr>
      </p:sp>
      <p:sp>
        <p:nvSpPr>
          <p:cNvPr id="20" name="Text 18"/>
          <p:cNvSpPr txBox="1"/>
          <p:nvPr/>
        </p:nvSpPr>
        <p:spPr>
          <a:xfrm>
            <a:off x="804672"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1" name="Text 19"/>
          <p:cNvSpPr txBox="1"/>
          <p:nvPr/>
        </p:nvSpPr>
        <p:spPr>
          <a:xfrm>
            <a:off x="1298448" y="4937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Greenplum password</a:t>
            </a:r>
            <a:endParaRPr lang="en-US" sz="1500" dirty="0"/>
          </a:p>
        </p:txBody>
      </p:sp>
      <p:sp>
        <p:nvSpPr>
          <p:cNvPr id="22" name="Text 20"/>
          <p:cNvSpPr txBox="1"/>
          <p:nvPr/>
        </p:nvSpPr>
        <p:spPr>
          <a:xfrm>
            <a:off x="822960" y="5367528"/>
            <a:ext cx="5029200" cy="3657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typed in the form, kept in an in-memory vault for the session; read-only connection, statement timeout</a:t>
            </a:r>
            <a:endParaRPr lang="en-US" sz="1100" dirty="0"/>
          </a:p>
        </p:txBody>
      </p:sp>
      <p:sp>
        <p:nvSpPr>
          <p:cNvPr id="23" name="Shape 21"/>
          <p:cNvSpPr/>
          <p:nvPr/>
        </p:nvSpPr>
        <p:spPr>
          <a:xfrm>
            <a:off x="6400800" y="1371600"/>
            <a:ext cx="5394960" cy="1005840"/>
          </a:xfrm>
          <a:prstGeom prst="roundRect">
            <a:avLst>
              <a:gd name="adj" fmla="val 10909"/>
            </a:avLst>
          </a:prstGeom>
          <a:solidFill>
            <a:srgbClr val="F1F2F8"/>
          </a:solidFill>
          <a:ln w="12700">
            <a:solidFill>
              <a:srgbClr val="F1F2F8"/>
            </a:solidFill>
            <a:prstDash val="solid"/>
          </a:ln>
        </p:spPr>
      </p:sp>
      <p:sp>
        <p:nvSpPr>
          <p:cNvPr id="24" name="Shape 22"/>
          <p:cNvSpPr/>
          <p:nvPr/>
        </p:nvSpPr>
        <p:spPr>
          <a:xfrm>
            <a:off x="6565392" y="1527048"/>
            <a:ext cx="384048" cy="384048"/>
          </a:xfrm>
          <a:prstGeom prst="ellipse">
            <a:avLst/>
          </a:prstGeom>
          <a:solidFill>
            <a:srgbClr val="22B8CF"/>
          </a:solidFill>
          <a:ln w="12700">
            <a:solidFill>
              <a:srgbClr val="22B8CF"/>
            </a:solidFill>
            <a:prstDash val="solid"/>
          </a:ln>
        </p:spPr>
      </p:sp>
      <p:sp>
        <p:nvSpPr>
          <p:cNvPr id="25" name="Text 23"/>
          <p:cNvSpPr txBox="1"/>
          <p:nvPr/>
        </p:nvSpPr>
        <p:spPr>
          <a:xfrm>
            <a:off x="6565392" y="1527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6" name="Text 24"/>
          <p:cNvSpPr txBox="1"/>
          <p:nvPr/>
        </p:nvSpPr>
        <p:spPr>
          <a:xfrm>
            <a:off x="7059168" y="1508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SSO</a:t>
            </a:r>
            <a:endParaRPr lang="en-US" sz="1500" dirty="0"/>
          </a:p>
        </p:txBody>
      </p:sp>
      <p:sp>
        <p:nvSpPr>
          <p:cNvPr id="27" name="Text 25"/>
          <p:cNvSpPr txBox="1"/>
          <p:nvPr/>
        </p:nvSpPr>
        <p:spPr>
          <a:xfrm>
            <a:off x="6583680" y="1938528"/>
            <a:ext cx="5029200" cy="3657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header or OIDC in the web app; dev login for the local notebook UI</a:t>
            </a:r>
            <a:endParaRPr lang="en-US" sz="1100" dirty="0"/>
          </a:p>
        </p:txBody>
      </p:sp>
      <p:sp>
        <p:nvSpPr>
          <p:cNvPr id="28" name="Shape 26"/>
          <p:cNvSpPr/>
          <p:nvPr/>
        </p:nvSpPr>
        <p:spPr>
          <a:xfrm>
            <a:off x="6400800" y="2514600"/>
            <a:ext cx="5394960" cy="1005840"/>
          </a:xfrm>
          <a:prstGeom prst="roundRect">
            <a:avLst>
              <a:gd name="adj" fmla="val 10909"/>
            </a:avLst>
          </a:prstGeom>
          <a:solidFill>
            <a:srgbClr val="F1F2F8"/>
          </a:solidFill>
          <a:ln w="12700">
            <a:solidFill>
              <a:srgbClr val="F1F2F8"/>
            </a:solidFill>
            <a:prstDash val="solid"/>
          </a:ln>
        </p:spPr>
      </p:sp>
      <p:sp>
        <p:nvSpPr>
          <p:cNvPr id="29" name="Shape 27"/>
          <p:cNvSpPr/>
          <p:nvPr/>
        </p:nvSpPr>
        <p:spPr>
          <a:xfrm>
            <a:off x="6565392" y="2670048"/>
            <a:ext cx="384048" cy="384048"/>
          </a:xfrm>
          <a:prstGeom prst="ellipse">
            <a:avLst/>
          </a:prstGeom>
          <a:solidFill>
            <a:srgbClr val="22B8CF"/>
          </a:solidFill>
          <a:ln w="12700">
            <a:solidFill>
              <a:srgbClr val="22B8CF"/>
            </a:solidFill>
            <a:prstDash val="solid"/>
          </a:ln>
        </p:spPr>
      </p:sp>
      <p:sp>
        <p:nvSpPr>
          <p:cNvPr id="30" name="Text 28"/>
          <p:cNvSpPr txBox="1"/>
          <p:nvPr/>
        </p:nvSpPr>
        <p:spPr>
          <a:xfrm>
            <a:off x="6565392" y="2670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1" name="Text 29"/>
          <p:cNvSpPr txBox="1"/>
          <p:nvPr/>
        </p:nvSpPr>
        <p:spPr>
          <a:xfrm>
            <a:off x="7059168" y="2651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Per-user storage</a:t>
            </a:r>
            <a:endParaRPr lang="en-US" sz="1500" dirty="0"/>
          </a:p>
        </p:txBody>
      </p:sp>
      <p:sp>
        <p:nvSpPr>
          <p:cNvPr id="32" name="Text 30"/>
          <p:cNvSpPr txBox="1"/>
          <p:nvPr/>
        </p:nvSpPr>
        <p:spPr>
          <a:xfrm>
            <a:off x="6583680" y="3081528"/>
            <a:ext cx="5029200" cy="3657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chats, inputs, generated files, outputs and caches under the user's own folder; delete own chats</a:t>
            </a:r>
            <a:endParaRPr lang="en-US" sz="1100" dirty="0"/>
          </a:p>
        </p:txBody>
      </p:sp>
      <p:sp>
        <p:nvSpPr>
          <p:cNvPr id="33" name="Shape 31"/>
          <p:cNvSpPr/>
          <p:nvPr/>
        </p:nvSpPr>
        <p:spPr>
          <a:xfrm>
            <a:off x="6400800" y="3657600"/>
            <a:ext cx="5394960" cy="1005840"/>
          </a:xfrm>
          <a:prstGeom prst="roundRect">
            <a:avLst>
              <a:gd name="adj" fmla="val 10909"/>
            </a:avLst>
          </a:prstGeom>
          <a:solidFill>
            <a:srgbClr val="F1F2F8"/>
          </a:solidFill>
          <a:ln w="12700">
            <a:solidFill>
              <a:srgbClr val="F1F2F8"/>
            </a:solidFill>
            <a:prstDash val="solid"/>
          </a:ln>
        </p:spPr>
      </p:sp>
      <p:sp>
        <p:nvSpPr>
          <p:cNvPr id="34" name="Shape 32"/>
          <p:cNvSpPr/>
          <p:nvPr/>
        </p:nvSpPr>
        <p:spPr>
          <a:xfrm>
            <a:off x="6565392" y="3813048"/>
            <a:ext cx="384048" cy="384048"/>
          </a:xfrm>
          <a:prstGeom prst="ellipse">
            <a:avLst/>
          </a:prstGeom>
          <a:solidFill>
            <a:srgbClr val="22B8CF"/>
          </a:solidFill>
          <a:ln w="12700">
            <a:solidFill>
              <a:srgbClr val="22B8CF"/>
            </a:solidFill>
            <a:prstDash val="solid"/>
          </a:ln>
        </p:spPr>
      </p:sp>
      <p:sp>
        <p:nvSpPr>
          <p:cNvPr id="35" name="Text 33"/>
          <p:cNvSpPr txBox="1"/>
          <p:nvPr/>
        </p:nvSpPr>
        <p:spPr>
          <a:xfrm>
            <a:off x="6565392" y="3813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6" name="Text 34"/>
          <p:cNvSpPr txBox="1"/>
          <p:nvPr/>
        </p:nvSpPr>
        <p:spPr>
          <a:xfrm>
            <a:off x="7059168" y="3794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Audit trail</a:t>
            </a:r>
            <a:endParaRPr lang="en-US" sz="1500" dirty="0"/>
          </a:p>
        </p:txBody>
      </p:sp>
      <p:sp>
        <p:nvSpPr>
          <p:cNvPr id="37" name="Text 35"/>
          <p:cNvSpPr txBox="1"/>
          <p:nvPr/>
        </p:nvSpPr>
        <p:spPr>
          <a:xfrm>
            <a:off x="6583680" y="4224528"/>
            <a:ext cx="5029200" cy="3657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every agent step and tool call logged; plan, review, findings, tokens per run</a:t>
            </a:r>
            <a:endParaRPr lang="en-US" sz="1100" dirty="0"/>
          </a:p>
        </p:txBody>
      </p:sp>
      <p:sp>
        <p:nvSpPr>
          <p:cNvPr id="38" name="Shape 36"/>
          <p:cNvSpPr/>
          <p:nvPr/>
        </p:nvSpPr>
        <p:spPr>
          <a:xfrm>
            <a:off x="6400800" y="4800600"/>
            <a:ext cx="5394960" cy="1005840"/>
          </a:xfrm>
          <a:prstGeom prst="roundRect">
            <a:avLst>
              <a:gd name="adj" fmla="val 10909"/>
            </a:avLst>
          </a:prstGeom>
          <a:solidFill>
            <a:srgbClr val="F1F2F8"/>
          </a:solidFill>
          <a:ln w="12700">
            <a:solidFill>
              <a:srgbClr val="F1F2F8"/>
            </a:solidFill>
            <a:prstDash val="solid"/>
          </a:ln>
        </p:spPr>
      </p:sp>
      <p:sp>
        <p:nvSpPr>
          <p:cNvPr id="39" name="Shape 37"/>
          <p:cNvSpPr/>
          <p:nvPr/>
        </p:nvSpPr>
        <p:spPr>
          <a:xfrm>
            <a:off x="6565392" y="4956048"/>
            <a:ext cx="384048" cy="384048"/>
          </a:xfrm>
          <a:prstGeom prst="ellipse">
            <a:avLst/>
          </a:prstGeom>
          <a:solidFill>
            <a:srgbClr val="22B8CF"/>
          </a:solidFill>
          <a:ln w="12700">
            <a:solidFill>
              <a:srgbClr val="22B8CF"/>
            </a:solidFill>
            <a:prstDash val="solid"/>
          </a:ln>
        </p:spPr>
      </p:sp>
      <p:sp>
        <p:nvSpPr>
          <p:cNvPr id="40" name="Text 38"/>
          <p:cNvSpPr txBox="1"/>
          <p:nvPr/>
        </p:nvSpPr>
        <p:spPr>
          <a:xfrm>
            <a:off x="6565392"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41" name="Text 39"/>
          <p:cNvSpPr txBox="1"/>
          <p:nvPr/>
        </p:nvSpPr>
        <p:spPr>
          <a:xfrm>
            <a:off x="7059168" y="4937760"/>
            <a:ext cx="4617720" cy="411480"/>
          </a:xfrm>
          <a:prstGeom prst="rect">
            <a:avLst/>
          </a:prstGeom>
          <a:noFill/>
          <a:ln/>
        </p:spPr>
        <p:txBody>
          <a:bodyPr wrap="square" lIns="0" tIns="0" rIns="0" bIns="0" rtlCol="0" anchor="ctr"/>
          <a:lstStyle/>
          <a:p>
            <a:pPr indent="0" marL="0">
              <a:buNone/>
            </a:pPr>
            <a:r>
              <a:rPr lang="en-US" sz="1500" b="1" dirty="0">
                <a:solidFill>
                  <a:srgbClr val="1B1F3B"/>
                </a:solidFill>
              </a:rPr>
              <a:t>Two packagings</a:t>
            </a:r>
            <a:endParaRPr lang="en-US" sz="1500" dirty="0"/>
          </a:p>
        </p:txBody>
      </p:sp>
      <p:sp>
        <p:nvSpPr>
          <p:cNvPr id="42" name="Text 40"/>
          <p:cNvSpPr txBox="1"/>
          <p:nvPr/>
        </p:nvSpPr>
        <p:spPr>
          <a:xfrm>
            <a:off x="6583680" y="5367528"/>
            <a:ext cx="5029200" cy="365760"/>
          </a:xfrm>
          <a:prstGeom prst="rect">
            <a:avLst/>
          </a:prstGeom>
          <a:noFill/>
          <a:ln/>
        </p:spPr>
        <p:txBody>
          <a:bodyPr wrap="square" lIns="0" tIns="0" rIns="0" bIns="0" rtlCol="0" anchor="t"/>
          <a:lstStyle/>
          <a:p>
            <a:pPr indent="0" marL="0">
              <a:spcAft>
                <a:spcPts val="300"/>
              </a:spcAft>
              <a:buNone/>
            </a:pPr>
            <a:r>
              <a:rPr lang="en-US" sz="1100" dirty="0">
                <a:solidFill>
                  <a:srgbClr val="4A4F6B"/>
                </a:solidFill>
              </a:rPr>
              <a:t>web app (Docker, SSO) and notebook (one button opens the same UI); static LLM settings in one YAML</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2377440"/>
            <a:ext cx="10881360" cy="1097280"/>
          </a:xfrm>
          <a:prstGeom prst="rect">
            <a:avLst/>
          </a:prstGeom>
          <a:noFill/>
          <a:ln/>
        </p:spPr>
        <p:txBody>
          <a:bodyPr wrap="square" lIns="0" tIns="0" rIns="0" bIns="0" rtlCol="0"/>
          <a:lstStyle/>
          <a:p>
            <a:pPr algn="l" indent="0" marL="0">
              <a:buNone/>
            </a:pPr>
            <a:r>
              <a:rPr lang="en-US" sz="4000" b="1" dirty="0">
                <a:solidFill>
                  <a:srgbClr val="FFFFFF"/>
                </a:solidFill>
              </a:rPr>
              <a:t>Live demo: story 2547</a:t>
            </a:r>
            <a:endParaRPr lang="en-US" sz="4000" dirty="0"/>
          </a:p>
        </p:txBody>
      </p:sp>
      <p:sp>
        <p:nvSpPr>
          <p:cNvPr id="3" name="Text 0"/>
          <p:cNvSpPr/>
          <p:nvPr>
            <p:ph idx="101" type="body" hasCustomPrompt="1"/>
          </p:nvPr>
        </p:nvSpPr>
        <p:spPr>
          <a:xfrm>
            <a:off x="640080" y="3566160"/>
            <a:ext cx="10881360" cy="1097280"/>
          </a:xfrm>
          <a:prstGeom prst="rect">
            <a:avLst/>
          </a:prstGeom>
          <a:noFill/>
          <a:ln/>
        </p:spPr>
        <p:txBody>
          <a:bodyPr wrap="square" lIns="0" tIns="0" rIns="0" bIns="0" rtlCol="0"/>
          <a:lstStyle/>
          <a:p>
            <a:pPr algn="l" indent="0" marL="0">
              <a:buNone/>
            </a:pPr>
            <a:r>
              <a:rPr lang="en-US" sz="1800" dirty="0">
                <a:solidFill>
                  <a:srgbClr val="ECEAFF"/>
                </a:solidFill>
              </a:rPr>
              <a:t>Inputs → pipeline → run → plan → diff → review → change request → push</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lstStyle/>
          <a:p>
            <a:pPr algn="l" indent="0" marL="0">
              <a:buNone/>
            </a:pPr>
            <a:r>
              <a:rPr lang="en-US" sz="3000" b="1" dirty="0">
                <a:solidFill>
                  <a:srgbClr val="1B1F3B"/>
                </a:solidFill>
              </a:rPr>
              <a:t>Demo: what you will see at each step</a:t>
            </a:r>
            <a:endParaRPr lang="en-US" sz="3000" dirty="0"/>
          </a:p>
        </p:txBody>
      </p:sp>
      <p:sp>
        <p:nvSpPr>
          <p:cNvPr id="3" name="Shape 1"/>
          <p:cNvSpPr/>
          <p:nvPr/>
        </p:nvSpPr>
        <p:spPr>
          <a:xfrm>
            <a:off x="1325880" y="1463040"/>
            <a:ext cx="822960" cy="822960"/>
          </a:xfrm>
          <a:prstGeom prst="ellipse">
            <a:avLst/>
          </a:prstGeom>
          <a:solidFill>
            <a:srgbClr val="6C5CE7"/>
          </a:solidFill>
          <a:ln w="12700">
            <a:solidFill>
              <a:srgbClr val="6C5CE7"/>
            </a:solidFill>
            <a:prstDash val="solid"/>
          </a:ln>
        </p:spPr>
      </p:sp>
      <p:sp>
        <p:nvSpPr>
          <p:cNvPr id="4" name="Text 2"/>
          <p:cNvSpPr txBox="1"/>
          <p:nvPr/>
        </p:nvSpPr>
        <p:spPr>
          <a:xfrm>
            <a:off x="1325880" y="146304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Shape 3"/>
          <p:cNvSpPr/>
          <p:nvPr/>
        </p:nvSpPr>
        <p:spPr>
          <a:xfrm>
            <a:off x="2194560" y="1874520"/>
            <a:ext cx="1371600" cy="9144"/>
          </a:xfrm>
          <a:prstGeom prst="line">
            <a:avLst/>
          </a:prstGeom>
          <a:noFill/>
          <a:ln w="19050">
            <a:solidFill>
              <a:srgbClr val="9AA0BF"/>
            </a:solidFill>
            <a:prstDash val="solid"/>
            <a:tailEnd type="triangle"/>
          </a:ln>
        </p:spPr>
      </p:sp>
      <p:sp>
        <p:nvSpPr>
          <p:cNvPr id="6" name="Text 4"/>
          <p:cNvSpPr txBox="1"/>
          <p:nvPr/>
        </p:nvSpPr>
        <p:spPr>
          <a:xfrm>
            <a:off x="640080" y="2468880"/>
            <a:ext cx="2194560" cy="457200"/>
          </a:xfrm>
          <a:prstGeom prst="rect">
            <a:avLst/>
          </a:prstGeom>
          <a:noFill/>
          <a:ln/>
        </p:spPr>
        <p:txBody>
          <a:bodyPr wrap="square" lIns="0" tIns="0" rIns="0" bIns="0" rtlCol="0" anchor="t"/>
          <a:lstStyle/>
          <a:p>
            <a:pPr algn="ctr" indent="0" marL="0">
              <a:buNone/>
            </a:pPr>
            <a:r>
              <a:rPr lang="en-US" sz="1500" b="1" dirty="0">
                <a:solidFill>
                  <a:srgbClr val="1B1F3B"/>
                </a:solidFill>
              </a:rPr>
              <a:t>Open &amp; sign in</a:t>
            </a:r>
            <a:endParaRPr lang="en-US" sz="1500" dirty="0"/>
          </a:p>
        </p:txBody>
      </p:sp>
      <p:sp>
        <p:nvSpPr>
          <p:cNvPr id="7" name="Text 5"/>
          <p:cNvSpPr txBox="1"/>
          <p:nvPr/>
        </p:nvSpPr>
        <p:spPr>
          <a:xfrm>
            <a:off x="640080" y="2926080"/>
            <a:ext cx="2194560" cy="1188720"/>
          </a:xfrm>
          <a:prstGeom prst="rect">
            <a:avLst/>
          </a:prstGeom>
          <a:noFill/>
          <a:ln/>
        </p:spPr>
        <p:txBody>
          <a:bodyPr wrap="square" lIns="0" tIns="0" rIns="0" bIns="0" rtlCol="0" anchor="t"/>
          <a:lstStyle/>
          <a:p>
            <a:pPr algn="ctr" indent="0" marL="0">
              <a:buNone/>
            </a:pPr>
            <a:r>
              <a:rPr lang="en-US" sz="1200" dirty="0">
                <a:solidFill>
                  <a:srgbClr val="4A4F6B"/>
                </a:solidFill>
              </a:rPr>
              <a:t>notebook button or web app; a new chat opens</a:t>
            </a:r>
            <a:endParaRPr lang="en-US" sz="1200" dirty="0"/>
          </a:p>
        </p:txBody>
      </p:sp>
      <p:sp>
        <p:nvSpPr>
          <p:cNvPr id="8" name="Shape 6"/>
          <p:cNvSpPr/>
          <p:nvPr/>
        </p:nvSpPr>
        <p:spPr>
          <a:xfrm>
            <a:off x="3611880" y="1463040"/>
            <a:ext cx="822960" cy="822960"/>
          </a:xfrm>
          <a:prstGeom prst="ellipse">
            <a:avLst/>
          </a:prstGeom>
          <a:solidFill>
            <a:srgbClr val="6C5CE7"/>
          </a:solidFill>
          <a:ln w="12700">
            <a:solidFill>
              <a:srgbClr val="6C5CE7"/>
            </a:solidFill>
            <a:prstDash val="solid"/>
          </a:ln>
        </p:spPr>
      </p:sp>
      <p:sp>
        <p:nvSpPr>
          <p:cNvPr id="9" name="Text 7"/>
          <p:cNvSpPr txBox="1"/>
          <p:nvPr/>
        </p:nvSpPr>
        <p:spPr>
          <a:xfrm>
            <a:off x="3611880" y="146304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Shape 8"/>
          <p:cNvSpPr/>
          <p:nvPr/>
        </p:nvSpPr>
        <p:spPr>
          <a:xfrm>
            <a:off x="4480560" y="1874520"/>
            <a:ext cx="1371600" cy="9144"/>
          </a:xfrm>
          <a:prstGeom prst="line">
            <a:avLst/>
          </a:prstGeom>
          <a:noFill/>
          <a:ln w="19050">
            <a:solidFill>
              <a:srgbClr val="9AA0BF"/>
            </a:solidFill>
            <a:prstDash val="solid"/>
            <a:tailEnd type="triangle"/>
          </a:ln>
        </p:spPr>
      </p:sp>
      <p:sp>
        <p:nvSpPr>
          <p:cNvPr id="11" name="Text 9"/>
          <p:cNvSpPr txBox="1"/>
          <p:nvPr/>
        </p:nvSpPr>
        <p:spPr>
          <a:xfrm>
            <a:off x="2926080" y="2468880"/>
            <a:ext cx="2194560" cy="457200"/>
          </a:xfrm>
          <a:prstGeom prst="rect">
            <a:avLst/>
          </a:prstGeom>
          <a:noFill/>
          <a:ln/>
        </p:spPr>
        <p:txBody>
          <a:bodyPr wrap="square" lIns="0" tIns="0" rIns="0" bIns="0" rtlCol="0" anchor="t"/>
          <a:lstStyle/>
          <a:p>
            <a:pPr algn="ctr" indent="0" marL="0">
              <a:buNone/>
            </a:pPr>
            <a:r>
              <a:rPr lang="en-US" sz="1500" b="1" dirty="0">
                <a:solidFill>
                  <a:srgbClr val="1B1F3B"/>
                </a:solidFill>
              </a:rPr>
              <a:t>Drag the inputs</a:t>
            </a:r>
            <a:endParaRPr lang="en-US" sz="1500" dirty="0"/>
          </a:p>
        </p:txBody>
      </p:sp>
      <p:sp>
        <p:nvSpPr>
          <p:cNvPr id="12" name="Text 10"/>
          <p:cNvSpPr txBox="1"/>
          <p:nvPr/>
        </p:nvSpPr>
        <p:spPr>
          <a:xfrm>
            <a:off x="2926080" y="2926080"/>
            <a:ext cx="2194560" cy="1188720"/>
          </a:xfrm>
          <a:prstGeom prst="rect">
            <a:avLst/>
          </a:prstGeom>
          <a:noFill/>
          <a:ln/>
        </p:spPr>
        <p:txBody>
          <a:bodyPr wrap="square" lIns="0" tIns="0" rIns="0" bIns="0" rtlCol="0" anchor="t"/>
          <a:lstStyle/>
          <a:p>
            <a:pPr algn="ctr" indent="0" marL="0">
              <a:buNone/>
            </a:pPr>
            <a:r>
              <a:rPr lang="en-US" sz="1200" dirty="0">
                <a:solidFill>
                  <a:srgbClr val="4A4F6B"/>
                </a:solidFill>
              </a:rPr>
              <a:t>story 2547, skills, glossary, standards, Greenplum tables, ikg-dags repo - each a card</a:t>
            </a:r>
            <a:endParaRPr lang="en-US" sz="1200" dirty="0"/>
          </a:p>
        </p:txBody>
      </p:sp>
      <p:sp>
        <p:nvSpPr>
          <p:cNvPr id="13" name="Shape 11"/>
          <p:cNvSpPr/>
          <p:nvPr/>
        </p:nvSpPr>
        <p:spPr>
          <a:xfrm>
            <a:off x="5897880" y="1463040"/>
            <a:ext cx="822960" cy="822960"/>
          </a:xfrm>
          <a:prstGeom prst="ellipse">
            <a:avLst/>
          </a:prstGeom>
          <a:solidFill>
            <a:srgbClr val="6C5CE7"/>
          </a:solidFill>
          <a:ln w="12700">
            <a:solidFill>
              <a:srgbClr val="6C5CE7"/>
            </a:solidFill>
            <a:prstDash val="solid"/>
          </a:ln>
        </p:spPr>
      </p:sp>
      <p:sp>
        <p:nvSpPr>
          <p:cNvPr id="14" name="Text 12"/>
          <p:cNvSpPr txBox="1"/>
          <p:nvPr/>
        </p:nvSpPr>
        <p:spPr>
          <a:xfrm>
            <a:off x="5897880" y="146304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5" name="Shape 13"/>
          <p:cNvSpPr/>
          <p:nvPr/>
        </p:nvSpPr>
        <p:spPr>
          <a:xfrm>
            <a:off x="6766560" y="1874520"/>
            <a:ext cx="1371600" cy="9144"/>
          </a:xfrm>
          <a:prstGeom prst="line">
            <a:avLst/>
          </a:prstGeom>
          <a:noFill/>
          <a:ln w="19050">
            <a:solidFill>
              <a:srgbClr val="9AA0BF"/>
            </a:solidFill>
            <a:prstDash val="solid"/>
            <a:tailEnd type="triangle"/>
          </a:ln>
        </p:spPr>
      </p:sp>
      <p:sp>
        <p:nvSpPr>
          <p:cNvPr id="16" name="Text 14"/>
          <p:cNvSpPr txBox="1"/>
          <p:nvPr/>
        </p:nvSpPr>
        <p:spPr>
          <a:xfrm>
            <a:off x="5212080" y="2468880"/>
            <a:ext cx="2194560" cy="457200"/>
          </a:xfrm>
          <a:prstGeom prst="rect">
            <a:avLst/>
          </a:prstGeom>
          <a:noFill/>
          <a:ln/>
        </p:spPr>
        <p:txBody>
          <a:bodyPr wrap="square" lIns="0" tIns="0" rIns="0" bIns="0" rtlCol="0" anchor="t"/>
          <a:lstStyle/>
          <a:p>
            <a:pPr algn="ctr" indent="0" marL="0">
              <a:buNone/>
            </a:pPr>
            <a:r>
              <a:rPr lang="en-US" sz="1500" b="1" dirty="0">
                <a:solidFill>
                  <a:srgbClr val="1B1F3B"/>
                </a:solidFill>
              </a:rPr>
              <a:t>Pipeline &amp; Run</a:t>
            </a:r>
            <a:endParaRPr lang="en-US" sz="1500" dirty="0"/>
          </a:p>
        </p:txBody>
      </p:sp>
      <p:sp>
        <p:nvSpPr>
          <p:cNvPr id="17" name="Text 15"/>
          <p:cNvSpPr txBox="1"/>
          <p:nvPr/>
        </p:nvSpPr>
        <p:spPr>
          <a:xfrm>
            <a:off x="5212080" y="2926080"/>
            <a:ext cx="2194560" cy="1188720"/>
          </a:xfrm>
          <a:prstGeom prst="rect">
            <a:avLst/>
          </a:prstGeom>
          <a:noFill/>
          <a:ln/>
        </p:spPr>
        <p:txBody>
          <a:bodyPr wrap="square" lIns="0" tIns="0" rIns="0" bIns="0" rtlCol="0" anchor="t"/>
          <a:lstStyle/>
          <a:p>
            <a:pPr algn="ctr" indent="0" marL="0">
              <a:buNone/>
            </a:pPr>
            <a:r>
              <a:rPr lang="en-US" sz="1200" dirty="0">
                <a:solidFill>
                  <a:srgbClr val="4A4F6B"/>
                </a:solidFill>
              </a:rPr>
              <a:t>drag agents to reorder; stage chips turn green; Log shows every tool call</a:t>
            </a:r>
            <a:endParaRPr lang="en-US" sz="1200" dirty="0"/>
          </a:p>
        </p:txBody>
      </p:sp>
      <p:sp>
        <p:nvSpPr>
          <p:cNvPr id="18" name="Shape 16"/>
          <p:cNvSpPr/>
          <p:nvPr/>
        </p:nvSpPr>
        <p:spPr>
          <a:xfrm>
            <a:off x="8183880" y="1463040"/>
            <a:ext cx="822960" cy="822960"/>
          </a:xfrm>
          <a:prstGeom prst="ellipse">
            <a:avLst/>
          </a:prstGeom>
          <a:solidFill>
            <a:srgbClr val="6C5CE7"/>
          </a:solidFill>
          <a:ln w="12700">
            <a:solidFill>
              <a:srgbClr val="6C5CE7"/>
            </a:solidFill>
            <a:prstDash val="solid"/>
          </a:ln>
        </p:spPr>
      </p:sp>
      <p:sp>
        <p:nvSpPr>
          <p:cNvPr id="19" name="Text 17"/>
          <p:cNvSpPr txBox="1"/>
          <p:nvPr/>
        </p:nvSpPr>
        <p:spPr>
          <a:xfrm>
            <a:off x="8183880" y="146304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0" name="Shape 18"/>
          <p:cNvSpPr/>
          <p:nvPr/>
        </p:nvSpPr>
        <p:spPr>
          <a:xfrm>
            <a:off x="9052560" y="1874520"/>
            <a:ext cx="1371600" cy="9144"/>
          </a:xfrm>
          <a:prstGeom prst="line">
            <a:avLst/>
          </a:prstGeom>
          <a:noFill/>
          <a:ln w="19050">
            <a:solidFill>
              <a:srgbClr val="9AA0BF"/>
            </a:solidFill>
            <a:prstDash val="solid"/>
            <a:tailEnd type="triangle"/>
          </a:ln>
        </p:spPr>
      </p:sp>
      <p:sp>
        <p:nvSpPr>
          <p:cNvPr id="21" name="Text 19"/>
          <p:cNvSpPr txBox="1"/>
          <p:nvPr/>
        </p:nvSpPr>
        <p:spPr>
          <a:xfrm>
            <a:off x="7498080" y="2468880"/>
            <a:ext cx="2194560" cy="457200"/>
          </a:xfrm>
          <a:prstGeom prst="rect">
            <a:avLst/>
          </a:prstGeom>
          <a:noFill/>
          <a:ln/>
        </p:spPr>
        <p:txBody>
          <a:bodyPr wrap="square" lIns="0" tIns="0" rIns="0" bIns="0" rtlCol="0" anchor="t"/>
          <a:lstStyle/>
          <a:p>
            <a:pPr algn="ctr" indent="0" marL="0">
              <a:buNone/>
            </a:pPr>
            <a:r>
              <a:rPr lang="en-US" sz="1500" b="1" dirty="0">
                <a:solidFill>
                  <a:srgbClr val="1B1F3B"/>
                </a:solidFill>
              </a:rPr>
              <a:t>Plan · Files · Review</a:t>
            </a:r>
            <a:endParaRPr lang="en-US" sz="1500" dirty="0"/>
          </a:p>
        </p:txBody>
      </p:sp>
      <p:sp>
        <p:nvSpPr>
          <p:cNvPr id="22" name="Text 20"/>
          <p:cNvSpPr txBox="1"/>
          <p:nvPr/>
        </p:nvSpPr>
        <p:spPr>
          <a:xfrm>
            <a:off x="7498080" y="2926080"/>
            <a:ext cx="2194560" cy="1188720"/>
          </a:xfrm>
          <a:prstGeom prst="rect">
            <a:avLst/>
          </a:prstGeom>
          <a:noFill/>
          <a:ln/>
        </p:spPr>
        <p:txBody>
          <a:bodyPr wrap="square" lIns="0" tIns="0" rIns="0" bIns="0" rtlCol="0" anchor="t"/>
          <a:lstStyle/>
          <a:p>
            <a:pPr algn="ctr" indent="0" marL="0">
              <a:buNone/>
            </a:pPr>
            <a:r>
              <a:rPr lang="en-US" sz="1200" dirty="0">
                <a:solidFill>
                  <a:srgbClr val="4A4F6B"/>
                </a:solidFill>
              </a:rPr>
              <a:t>five files; diff view; confidence with its formula; requirement coverage</a:t>
            </a:r>
            <a:endParaRPr lang="en-US" sz="1200" dirty="0"/>
          </a:p>
        </p:txBody>
      </p:sp>
      <p:sp>
        <p:nvSpPr>
          <p:cNvPr id="23" name="Shape 21"/>
          <p:cNvSpPr/>
          <p:nvPr/>
        </p:nvSpPr>
        <p:spPr>
          <a:xfrm>
            <a:off x="10469880" y="1463040"/>
            <a:ext cx="822960" cy="822960"/>
          </a:xfrm>
          <a:prstGeom prst="ellipse">
            <a:avLst/>
          </a:prstGeom>
          <a:solidFill>
            <a:srgbClr val="2E9E6B"/>
          </a:solidFill>
          <a:ln w="12700">
            <a:solidFill>
              <a:srgbClr val="2E9E6B"/>
            </a:solidFill>
            <a:prstDash val="solid"/>
          </a:ln>
        </p:spPr>
      </p:sp>
      <p:sp>
        <p:nvSpPr>
          <p:cNvPr id="24" name="Text 22"/>
          <p:cNvSpPr txBox="1"/>
          <p:nvPr/>
        </p:nvSpPr>
        <p:spPr>
          <a:xfrm>
            <a:off x="10469880" y="146304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5" name="Text 23"/>
          <p:cNvSpPr txBox="1"/>
          <p:nvPr/>
        </p:nvSpPr>
        <p:spPr>
          <a:xfrm>
            <a:off x="9784080" y="2468880"/>
            <a:ext cx="2194560" cy="457200"/>
          </a:xfrm>
          <a:prstGeom prst="rect">
            <a:avLst/>
          </a:prstGeom>
          <a:noFill/>
          <a:ln/>
        </p:spPr>
        <p:txBody>
          <a:bodyPr wrap="square" lIns="0" tIns="0" rIns="0" bIns="0" rtlCol="0" anchor="t"/>
          <a:lstStyle/>
          <a:p>
            <a:pPr algn="ctr" indent="0" marL="0">
              <a:buNone/>
            </a:pPr>
            <a:r>
              <a:rPr lang="en-US" sz="1500" b="1" dirty="0">
                <a:solidFill>
                  <a:srgbClr val="1B1F3B"/>
                </a:solidFill>
              </a:rPr>
              <a:t>Change &amp; Push</a:t>
            </a:r>
            <a:endParaRPr lang="en-US" sz="1500" dirty="0"/>
          </a:p>
        </p:txBody>
      </p:sp>
      <p:sp>
        <p:nvSpPr>
          <p:cNvPr id="26" name="Text 24"/>
          <p:cNvSpPr txBox="1"/>
          <p:nvPr/>
        </p:nvSpPr>
        <p:spPr>
          <a:xfrm>
            <a:off x="9784080" y="2926080"/>
            <a:ext cx="2194560" cy="1188720"/>
          </a:xfrm>
          <a:prstGeom prst="rect">
            <a:avLst/>
          </a:prstGeom>
          <a:noFill/>
          <a:ln/>
        </p:spPr>
        <p:txBody>
          <a:bodyPr wrap="square" lIns="0" tIns="0" rIns="0" bIns="0" rtlCol="0" anchor="t"/>
          <a:lstStyle/>
          <a:p>
            <a:pPr algn="ctr" indent="0" marL="0">
              <a:buNone/>
            </a:pPr>
            <a:r>
              <a:rPr lang="en-US" sz="1200" dirty="0">
                <a:solidFill>
                  <a:srgbClr val="4A4F6B"/>
                </a:solidFill>
              </a:rPr>
              <a:t>"rename the column" in chat → re-check; push with your token</a:t>
            </a:r>
            <a:endParaRPr lang="en-US" sz="1200" dirty="0"/>
          </a:p>
        </p:txBody>
      </p:sp>
      <p:sp>
        <p:nvSpPr>
          <p:cNvPr id="27" name="Shape 25"/>
          <p:cNvSpPr/>
          <p:nvPr/>
        </p:nvSpPr>
        <p:spPr>
          <a:xfrm>
            <a:off x="640080" y="4297680"/>
            <a:ext cx="11155680" cy="1691640"/>
          </a:xfrm>
          <a:prstGeom prst="roundRect">
            <a:avLst>
              <a:gd name="adj" fmla="val 6486"/>
            </a:avLst>
          </a:prstGeom>
          <a:solidFill>
            <a:srgbClr val="F1F2F8"/>
          </a:solidFill>
          <a:ln w="12700">
            <a:solidFill>
              <a:srgbClr val="F1F2F8"/>
            </a:solidFill>
            <a:prstDash val="solid"/>
          </a:ln>
        </p:spPr>
      </p:sp>
      <p:sp>
        <p:nvSpPr>
          <p:cNvPr id="28" name="Text 26"/>
          <p:cNvSpPr txBox="1"/>
          <p:nvPr/>
        </p:nvSpPr>
        <p:spPr>
          <a:xfrm>
            <a:off x="822960" y="4434840"/>
            <a:ext cx="10789920" cy="411480"/>
          </a:xfrm>
          <a:prstGeom prst="rect">
            <a:avLst/>
          </a:prstGeom>
          <a:noFill/>
          <a:ln/>
        </p:spPr>
        <p:txBody>
          <a:bodyPr wrap="square" lIns="0" tIns="0" rIns="0" bIns="0" rtlCol="0" anchor="ctr"/>
          <a:lstStyle/>
          <a:p>
            <a:pPr indent="0" marL="0">
              <a:buNone/>
            </a:pPr>
            <a:r>
              <a:rPr lang="en-US" sz="1500" b="1" dirty="0">
                <a:solidFill>
                  <a:srgbClr val="1B1F3B"/>
                </a:solidFill>
              </a:rPr>
              <a:t>Watch for</a:t>
            </a:r>
            <a:endParaRPr lang="en-US" sz="1500" dirty="0"/>
          </a:p>
        </p:txBody>
      </p:sp>
      <p:sp>
        <p:nvSpPr>
          <p:cNvPr id="29" name="Text 27"/>
          <p:cNvSpPr txBox="1"/>
          <p:nvPr/>
        </p:nvSpPr>
        <p:spPr>
          <a:xfrm>
            <a:off x="822960" y="4864608"/>
            <a:ext cx="10789920" cy="10515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4A4F6B"/>
                </a:solidFill>
              </a:rPr>
              <a:t>the story summary card: the agents already know the tables and the SQL in the ticket</a:t>
            </a:r>
            <a:endParaRPr lang="en-US" sz="1200" dirty="0"/>
          </a:p>
          <a:p>
            <a:pPr marL="342900" indent="-342900">
              <a:spcAft>
                <a:spcPts val="300"/>
              </a:spcAft>
              <a:buSzPct val="100000"/>
              <a:buChar char="•"/>
            </a:pPr>
            <a:r>
              <a:rPr lang="en-US" sz="1200" dirty="0">
                <a:solidFill>
                  <a:srgbClr val="4A4F6B"/>
                </a:solidFill>
              </a:rPr>
              <a:t>the Plan tab: five files and a declined registration with its reason</a:t>
            </a:r>
            <a:endParaRPr lang="en-US" sz="1200" dirty="0"/>
          </a:p>
          <a:p>
            <a:pPr marL="342900" indent="-342900">
              <a:spcAft>
                <a:spcPts val="300"/>
              </a:spcAft>
              <a:buSzPct val="100000"/>
              <a:buChar char="•"/>
            </a:pPr>
            <a:r>
              <a:rPr lang="en-US" sz="1200" dirty="0">
                <a:solidFill>
                  <a:srgbClr val="4A4F6B"/>
                </a:solidFill>
              </a:rPr>
              <a:t>the diff of the profile script: green lines are only a LEFT JOIN and six columns</a:t>
            </a:r>
            <a:endParaRPr lang="en-US" sz="1200" dirty="0"/>
          </a:p>
          <a:p>
            <a:pPr marL="342900" indent="-342900">
              <a:spcAft>
                <a:spcPts val="300"/>
              </a:spcAft>
              <a:buSzPct val="100000"/>
              <a:buChar char="•"/>
            </a:pPr>
            <a:r>
              <a:rPr lang="en-US" sz="1200" dirty="0">
                <a:solidFill>
                  <a:srgbClr val="4A4F6B"/>
                </a:solidFill>
              </a:rPr>
              <a:t>the Review tab: confidence, how it is built, what would raise it; Tokens tab: cost per agent</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BF"/>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9509760" y="4206240"/>
            <a:ext cx="3840480" cy="3840480"/>
          </a:xfrm>
          <a:prstGeom prst="ellipse">
            <a:avLst/>
          </a:prstGeom>
          <a:solidFill>
            <a:srgbClr val="22B8CF">
              <a:alpha val="25000"/>
            </a:srgbClr>
          </a:solidFill>
          <a:ln w="12700">
            <a:solidFill>
              <a:srgbClr val="22B8CF">
                <a:alpha val="25000"/>
              </a:srgbClr>
            </a:solidFill>
            <a:prstDash val="solid"/>
          </a:ln>
        </p:spPr>
      </p:sp>
      <p:sp>
        <p:nvSpPr>
          <p:cNvPr id="3" name="Text 1"/>
          <p:cNvSpPr txBox="1"/>
          <p:nvPr/>
        </p:nvSpPr>
        <p:spPr>
          <a:xfrm>
            <a:off x="640080" y="548640"/>
            <a:ext cx="7315200" cy="365760"/>
          </a:xfrm>
          <a:prstGeom prst="rect">
            <a:avLst/>
          </a:prstGeom>
          <a:noFill/>
          <a:ln/>
        </p:spPr>
        <p:txBody>
          <a:bodyPr wrap="square" lIns="0" tIns="0" rIns="0" bIns="0" rtlCol="0" anchor="t"/>
          <a:lstStyle/>
          <a:p>
            <a:pPr indent="0" marL="0">
              <a:buNone/>
            </a:pPr>
            <a:r>
              <a:rPr lang="en-US" sz="1400" b="1" spc="400" kern="0" dirty="0">
                <a:solidFill>
                  <a:srgbClr val="22B8CF"/>
                </a:solidFill>
              </a:rPr>
              <a:t>VALUE AND NEXT STEPS</a:t>
            </a:r>
            <a:endParaRPr lang="en-US" sz="1400" dirty="0"/>
          </a:p>
        </p:txBody>
      </p:sp>
      <p:sp>
        <p:nvSpPr>
          <p:cNvPr id="4" name="Text 2"/>
          <p:cNvSpPr txBox="1"/>
          <p:nvPr/>
        </p:nvSpPr>
        <p:spPr>
          <a:xfrm>
            <a:off x="640080" y="1005840"/>
            <a:ext cx="10515600" cy="109728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Days of context work become minutes; the developer keeps the pen</a:t>
            </a:r>
            <a:endParaRPr lang="en-US" sz="3600" dirty="0"/>
          </a:p>
        </p:txBody>
      </p:sp>
      <p:sp>
        <p:nvSpPr>
          <p:cNvPr id="5" name="Text 3"/>
          <p:cNvSpPr txBox="1"/>
          <p:nvPr/>
        </p:nvSpPr>
        <p:spPr>
          <a:xfrm>
            <a:off x="640080" y="2468880"/>
            <a:ext cx="3474720" cy="822960"/>
          </a:xfrm>
          <a:prstGeom prst="rect">
            <a:avLst/>
          </a:prstGeom>
          <a:noFill/>
          <a:ln/>
        </p:spPr>
        <p:txBody>
          <a:bodyPr wrap="square" lIns="0" tIns="0" rIns="0" bIns="0" rtlCol="0" anchor="t"/>
          <a:lstStyle/>
          <a:p>
            <a:pPr indent="0" marL="0">
              <a:buNone/>
            </a:pPr>
            <a:r>
              <a:rPr lang="en-US" sz="4000" b="1" dirty="0">
                <a:solidFill>
                  <a:srgbClr val="22B8CF"/>
                </a:solidFill>
                <a:latin typeface="Cambria" pitchFamily="34" charset="0"/>
                <a:ea typeface="Cambria" pitchFamily="34" charset="-122"/>
                <a:cs typeface="Cambria" pitchFamily="34" charset="-120"/>
              </a:rPr>
              <a:t>~10 min</a:t>
            </a:r>
            <a:endParaRPr lang="en-US" sz="4000" dirty="0"/>
          </a:p>
        </p:txBody>
      </p:sp>
      <p:sp>
        <p:nvSpPr>
          <p:cNvPr id="6" name="Text 4"/>
          <p:cNvSpPr txBox="1"/>
          <p:nvPr/>
        </p:nvSpPr>
        <p:spPr>
          <a:xfrm>
            <a:off x="640080" y="3291840"/>
            <a:ext cx="3474720" cy="457200"/>
          </a:xfrm>
          <a:prstGeom prst="rect">
            <a:avLst/>
          </a:prstGeom>
          <a:noFill/>
          <a:ln/>
        </p:spPr>
        <p:txBody>
          <a:bodyPr wrap="square" lIns="0" tIns="0" rIns="0" bIns="0" rtlCol="0" anchor="t"/>
          <a:lstStyle/>
          <a:p>
            <a:pPr indent="0" marL="0">
              <a:buNone/>
            </a:pPr>
            <a:r>
              <a:rPr lang="en-US" sz="1400" dirty="0">
                <a:solidFill>
                  <a:srgbClr val="CDD0E6"/>
                </a:solidFill>
              </a:rPr>
              <a:t>story → reviewed branch</a:t>
            </a:r>
            <a:endParaRPr lang="en-US" sz="1400" dirty="0"/>
          </a:p>
        </p:txBody>
      </p:sp>
      <p:sp>
        <p:nvSpPr>
          <p:cNvPr id="7" name="Text 5"/>
          <p:cNvSpPr txBox="1"/>
          <p:nvPr/>
        </p:nvSpPr>
        <p:spPr>
          <a:xfrm>
            <a:off x="4297680" y="2468880"/>
            <a:ext cx="3474720" cy="822960"/>
          </a:xfrm>
          <a:prstGeom prst="rect">
            <a:avLst/>
          </a:prstGeom>
          <a:noFill/>
          <a:ln/>
        </p:spPr>
        <p:txBody>
          <a:bodyPr wrap="square" lIns="0" tIns="0" rIns="0" bIns="0" rtlCol="0" anchor="t"/>
          <a:lstStyle/>
          <a:p>
            <a:pPr indent="0" marL="0">
              <a:buNone/>
            </a:pPr>
            <a:r>
              <a:rPr lang="en-US" sz="4000" b="1" dirty="0">
                <a:solidFill>
                  <a:srgbClr val="22B8CF"/>
                </a:solidFill>
                <a:latin typeface="Cambria" pitchFamily="34" charset="0"/>
                <a:ea typeface="Cambria" pitchFamily="34" charset="-122"/>
                <a:cs typeface="Cambria" pitchFamily="34" charset="-120"/>
              </a:rPr>
              <a:t>0 forgotten</a:t>
            </a:r>
            <a:endParaRPr lang="en-US" sz="4000" dirty="0"/>
          </a:p>
        </p:txBody>
      </p:sp>
      <p:sp>
        <p:nvSpPr>
          <p:cNvPr id="8" name="Text 6"/>
          <p:cNvSpPr txBox="1"/>
          <p:nvPr/>
        </p:nvSpPr>
        <p:spPr>
          <a:xfrm>
            <a:off x="4297680" y="3291840"/>
            <a:ext cx="3474720" cy="457200"/>
          </a:xfrm>
          <a:prstGeom prst="rect">
            <a:avLst/>
          </a:prstGeom>
          <a:noFill/>
          <a:ln/>
        </p:spPr>
        <p:txBody>
          <a:bodyPr wrap="square" lIns="0" tIns="0" rIns="0" bIns="0" rtlCol="0" anchor="t"/>
          <a:lstStyle/>
          <a:p>
            <a:pPr indent="0" marL="0">
              <a:buNone/>
            </a:pPr>
            <a:r>
              <a:rPr lang="en-US" sz="1400" dirty="0">
                <a:solidFill>
                  <a:srgbClr val="CDD0E6"/>
                </a:solidFill>
              </a:rPr>
              <a:t>registrations and companion files</a:t>
            </a:r>
            <a:endParaRPr lang="en-US" sz="1400" dirty="0"/>
          </a:p>
        </p:txBody>
      </p:sp>
      <p:sp>
        <p:nvSpPr>
          <p:cNvPr id="9" name="Text 7"/>
          <p:cNvSpPr txBox="1"/>
          <p:nvPr/>
        </p:nvSpPr>
        <p:spPr>
          <a:xfrm>
            <a:off x="7955280" y="2468880"/>
            <a:ext cx="3474720" cy="822960"/>
          </a:xfrm>
          <a:prstGeom prst="rect">
            <a:avLst/>
          </a:prstGeom>
          <a:noFill/>
          <a:ln/>
        </p:spPr>
        <p:txBody>
          <a:bodyPr wrap="square" lIns="0" tIns="0" rIns="0" bIns="0" rtlCol="0" anchor="t"/>
          <a:lstStyle/>
          <a:p>
            <a:pPr indent="0" marL="0">
              <a:buNone/>
            </a:pPr>
            <a:r>
              <a:rPr lang="en-US" sz="4000" b="1" dirty="0">
                <a:solidFill>
                  <a:srgbClr val="22B8CF"/>
                </a:solidFill>
                <a:latin typeface="Cambria" pitchFamily="34" charset="0"/>
                <a:ea typeface="Cambria" pitchFamily="34" charset="-122"/>
                <a:cs typeface="Cambria" pitchFamily="34" charset="-120"/>
              </a:rPr>
              <a:t>any team</a:t>
            </a:r>
            <a:endParaRPr lang="en-US" sz="4000" dirty="0"/>
          </a:p>
        </p:txBody>
      </p:sp>
      <p:sp>
        <p:nvSpPr>
          <p:cNvPr id="10" name="Text 8"/>
          <p:cNvSpPr txBox="1"/>
          <p:nvPr/>
        </p:nvSpPr>
        <p:spPr>
          <a:xfrm>
            <a:off x="7955280" y="3291840"/>
            <a:ext cx="3474720" cy="457200"/>
          </a:xfrm>
          <a:prstGeom prst="rect">
            <a:avLst/>
          </a:prstGeom>
          <a:noFill/>
          <a:ln/>
        </p:spPr>
        <p:txBody>
          <a:bodyPr wrap="square" lIns="0" tIns="0" rIns="0" bIns="0" rtlCol="0" anchor="t"/>
          <a:lstStyle/>
          <a:p>
            <a:pPr indent="0" marL="0">
              <a:buNone/>
            </a:pPr>
            <a:r>
              <a:rPr lang="en-US" sz="1400" dirty="0">
                <a:solidFill>
                  <a:srgbClr val="CDD0E6"/>
                </a:solidFill>
              </a:rPr>
              <a:t>own skills, standards, tables, repos</a:t>
            </a:r>
            <a:endParaRPr lang="en-US" sz="1400" dirty="0"/>
          </a:p>
        </p:txBody>
      </p:sp>
      <p:sp>
        <p:nvSpPr>
          <p:cNvPr id="11" name="Text 9"/>
          <p:cNvSpPr txBox="1"/>
          <p:nvPr/>
        </p:nvSpPr>
        <p:spPr>
          <a:xfrm>
            <a:off x="640080" y="4114800"/>
            <a:ext cx="8229600" cy="2011680"/>
          </a:xfrm>
          <a:prstGeom prst="rect">
            <a:avLst/>
          </a:prstGeom>
          <a:noFill/>
          <a:ln/>
        </p:spPr>
        <p:txBody>
          <a:bodyPr wrap="square" lIns="0" tIns="0" rIns="0" bIns="0" rtlCol="0" anchor="t"/>
          <a:lstStyle/>
          <a:p>
            <a:pPr indent="0" marL="0">
              <a:spcAft>
                <a:spcPts val="600"/>
              </a:spcAft>
              <a:buNone/>
            </a:pPr>
            <a:r>
              <a:rPr lang="en-US" sz="1500" b="1" dirty="0">
                <a:solidFill>
                  <a:srgbClr val="FFFFFF"/>
                </a:solidFill>
              </a:rPr>
              <a:t>The ask</a:t>
            </a:r>
            <a:endParaRPr lang="en-US" sz="1500" dirty="0"/>
          </a:p>
          <a:p>
            <a:pPr marL="342900" indent="-342900">
              <a:spcAft>
                <a:spcPts val="600"/>
              </a:spcAft>
              <a:buSzPct val="100000"/>
              <a:buChar char="•"/>
            </a:pPr>
            <a:r>
              <a:rPr lang="en-US" sz="1500" dirty="0">
                <a:solidFill>
                  <a:srgbClr val="CDD0E6"/>
                </a:solidFill>
              </a:rPr>
              <a:t>Pilot on next sprint's IKG stories - measure time-to-branch and review findings per story</a:t>
            </a:r>
            <a:endParaRPr lang="en-US" sz="1500" dirty="0"/>
          </a:p>
          <a:p>
            <a:pPr marL="342900" indent="-342900">
              <a:spcAft>
                <a:spcPts val="600"/>
              </a:spcAft>
              <a:buSzPct val="100000"/>
              <a:buChar char="•"/>
            </a:pPr>
            <a:r>
              <a:rPr lang="en-US" sz="1500" dirty="0">
                <a:solidFill>
                  <a:srgbClr val="CDD0E6"/>
                </a:solidFill>
              </a:rPr>
              <a:t>ODM and ingestion teams contribute their skills files - same engine, no code change</a:t>
            </a:r>
            <a:endParaRPr lang="en-US" sz="1500" dirty="0"/>
          </a:p>
          <a:p>
            <a:pPr marL="342900" indent="-342900">
              <a:spcAft>
                <a:spcPts val="600"/>
              </a:spcAft>
              <a:buSzPct val="100000"/>
              <a:buChar char="•"/>
            </a:pPr>
            <a:r>
              <a:rPr lang="en-US" sz="1500" dirty="0">
                <a:solidFill>
                  <a:srgbClr val="CDD0E6"/>
                </a:solidFill>
              </a:rPr>
              <a:t>Hosted instance with SSO; keep the notebook edition for local testing</a:t>
            </a:r>
            <a:endParaRPr lang="en-US" sz="1500" dirty="0"/>
          </a:p>
        </p:txBody>
      </p:sp>
      <p:sp>
        <p:nvSpPr>
          <p:cNvPr id="13" name="Text 0"/>
          <p:cNvSpPr/>
          <p:nvPr>
            <p:ph idx="100" type="title" hasCustomPrompt="1"/>
          </p:nvPr>
        </p:nvSpPr>
        <p:spPr>
          <a:xfrm>
            <a:off x="640080" y="2103120"/>
            <a:ext cx="10881360" cy="1371600"/>
          </a:xfrm>
          <a:prstGeom prst="rect">
            <a:avLst/>
          </a:prstGeom>
          <a:noFill/>
          <a:ln/>
        </p:spPr>
        <p:txBody>
          <a:bodyPr wrap="square" lIns="0" tIns="0" rIns="0" bIns="0" rtlCol="0"/>
          <a:lstStyle/>
          <a:p>
            <a:pPr algn="l" indent="0" marL="0">
              <a:buNone/>
            </a:pPr>
            <a:endParaRPr lang="en-US" sz="4200" dirty="0"/>
          </a:p>
        </p:txBody>
      </p:sp>
      <p:sp>
        <p:nvSpPr>
          <p:cNvPr id="14" name="Text 0"/>
          <p:cNvSpPr/>
          <p:nvPr>
            <p:ph idx="101" type="body" hasCustomPrompt="1"/>
          </p:nvPr>
        </p:nvSpPr>
        <p:spPr>
          <a:xfrm>
            <a:off x="640080" y="3566160"/>
            <a:ext cx="10881360" cy="1463040"/>
          </a:xfrm>
          <a:prstGeom prst="rect">
            <a:avLst/>
          </a:prstGeom>
          <a:noFill/>
          <a:ln/>
        </p:spPr>
        <p:txBody>
          <a:bodyPr wrap="square" lIns="0" tIns="0" rIns="0" bIns="0" rtlCol="0"/>
          <a:lstStyle/>
          <a:p>
            <a:pPr algn="l" indent="0" marL="0">
              <a:buNone/>
            </a:pPr>
            <a:endParaRPr lang="en-US" sz="20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b="1" sz="3000">
                <a:solidFill>
                  <a:srgbClr val="1B1F3B"/>
                </a:solidFill>
              </a:rPr>
              <a:t>Why, for whom, what changes – on one page</a:t>
            </a:r>
          </a:p>
        </p:txBody>
      </p:sp>
      <p:graphicFrame>
        <p:nvGraphicFramePr>
          <p:cNvPr id="3" name="Table 2"/>
          <p:cNvGraphicFramePr>
            <a:graphicFrameLocks noGrp="1"/>
          </p:cNvGraphicFramePr>
          <p:nvPr/>
        </p:nvGraphicFramePr>
        <p:xfrm>
          <a:off x="640080" y="1371600"/>
          <a:ext cx="10972800" cy="4571994"/>
        </p:xfrm>
        <a:graphic>
          <a:graphicData uri="http://schemas.openxmlformats.org/drawingml/2006/table">
            <a:tbl>
              <a:tblPr firstRow="0" bandRow="0">
                <a:tableStyleId>{5C22544A-7EE6-4342-B048-85BDC9FD1C3A}</a:tableStyleId>
              </a:tblPr>
              <a:tblGrid>
                <a:gridCol w="1920240"/>
                <a:gridCol w="9052560"/>
              </a:tblGrid>
              <a:tr h="653142">
                <a:tc>
                  <a:txBody>
                    <a:bodyPr/>
                    <a:lstStyle/>
                    <a:p>
                      <a:r>
                        <a:rPr b="1" sz="1400">
                          <a:solidFill>
                            <a:srgbClr val="6C5CE7"/>
                          </a:solidFill>
                        </a:rPr>
                        <a:t>The problem</a:t>
                      </a:r>
                    </a:p>
                  </a:txBody>
                  <a:tcPr marL="137160" marR="137160" marT="45720" marB="45720" anchor="ctr">
                    <a:solidFill>
                      <a:srgbClr val="F1F2F8"/>
                    </a:solidFill>
                  </a:tcPr>
                </a:tc>
                <a:tc>
                  <a:txBody>
                    <a:bodyPr/>
                    <a:lstStyle/>
                    <a:p>
                      <a:r>
                        <a:rPr sz="1250">
                          <a:solidFill>
                            <a:srgbClr val="1B1F3B"/>
                          </a:solidFill>
                        </a:rPr>
                        <a:t>Most of the time on a story goes into finding out how our code wants things done (which folder, which file to copy, where to register, which grant to add) – not into the logic itself. Misses show up late, in review or production.</a:t>
                      </a:r>
                    </a:p>
                  </a:txBody>
                  <a:tcPr marL="137160" marR="137160" marT="45720" marB="45720" anchor="ctr">
                    <a:solidFill>
                      <a:srgbClr val="F1F2F8"/>
                    </a:solidFill>
                  </a:tcPr>
                </a:tc>
              </a:tr>
              <a:tr h="653142">
                <a:tc>
                  <a:txBody>
                    <a:bodyPr/>
                    <a:lstStyle/>
                    <a:p>
                      <a:r>
                        <a:rPr b="1" sz="1400">
                          <a:solidFill>
                            <a:srgbClr val="6C5CE7"/>
                          </a:solidFill>
                        </a:rPr>
                        <a:t>Who it is for</a:t>
                      </a:r>
                    </a:p>
                  </a:txBody>
                  <a:tcPr marL="137160" marR="137160" marT="45720" marB="45720" anchor="ctr">
                    <a:solidFill>
                      <a:srgbClr val="FFFFFF"/>
                    </a:solidFill>
                  </a:tcPr>
                </a:tc>
                <a:tc>
                  <a:txBody>
                    <a:bodyPr/>
                    <a:lstStyle/>
                    <a:p>
                      <a:r>
                        <a:rPr sz="1250">
                          <a:solidFill>
                            <a:srgbClr val="1B1F3B"/>
                          </a:solidFill>
                        </a:rPr>
                        <a:t>The developers who build IKG, ODM and NLG; then reviewers, new joiners, story writers and the people responsible for standards.</a:t>
                      </a:r>
                    </a:p>
                  </a:txBody>
                  <a:tcPr marL="137160" marR="137160" marT="45720" marB="45720" anchor="ctr">
                    <a:solidFill>
                      <a:srgbClr val="FFFFFF"/>
                    </a:solidFill>
                  </a:tcPr>
                </a:tc>
              </a:tr>
              <a:tr h="653142">
                <a:tc>
                  <a:txBody>
                    <a:bodyPr/>
                    <a:lstStyle/>
                    <a:p>
                      <a:r>
                        <a:rPr b="1" sz="1400">
                          <a:solidFill>
                            <a:srgbClr val="6C5CE7"/>
                          </a:solidFill>
                        </a:rPr>
                        <a:t>What we built</a:t>
                      </a:r>
                    </a:p>
                  </a:txBody>
                  <a:tcPr marL="137160" marR="137160" marT="45720" marB="45720" anchor="ctr">
                    <a:solidFill>
                      <a:srgbClr val="F1F2F8"/>
                    </a:solidFill>
                  </a:tcPr>
                </a:tc>
                <a:tc>
                  <a:txBody>
                    <a:bodyPr/>
                    <a:lstStyle/>
                    <a:p>
                      <a:r>
                        <a:rPr sz="1250">
                          <a:solidFill>
                            <a:srgbClr val="1B1F3B"/>
                          </a:solidFill>
                        </a:rPr>
                        <a:t>Knowledge Pack: a context pack with the folders, files, tables, rules and conventions of each system. Dev Assistant: a tool where you attach a story, press Run, and get the plan, the files, a check report and a review – then push it to GitLab under your own name.</a:t>
                      </a:r>
                    </a:p>
                  </a:txBody>
                  <a:tcPr marL="137160" marR="137160" marT="45720" marB="45720" anchor="ctr">
                    <a:solidFill>
                      <a:srgbClr val="F1F2F8"/>
                    </a:solidFill>
                  </a:tcPr>
                </a:tc>
              </a:tr>
              <a:tr h="653142">
                <a:tc>
                  <a:txBody>
                    <a:bodyPr/>
                    <a:lstStyle/>
                    <a:p>
                      <a:r>
                        <a:rPr b="1" sz="1400">
                          <a:solidFill>
                            <a:srgbClr val="6C5CE7"/>
                          </a:solidFill>
                        </a:rPr>
                        <a:t>What changes</a:t>
                      </a:r>
                    </a:p>
                  </a:txBody>
                  <a:tcPr marL="137160" marR="137160" marT="45720" marB="45720" anchor="ctr">
                    <a:solidFill>
                      <a:srgbClr val="FFFFFF"/>
                    </a:solidFill>
                  </a:tcPr>
                </a:tc>
                <a:tc>
                  <a:txBody>
                    <a:bodyPr/>
                    <a:lstStyle/>
                    <a:p>
                      <a:r>
                        <a:rPr sz="1250">
                          <a:solidFill>
                            <a:srgbClr val="1B1F3B"/>
                          </a:solidFill>
                        </a:rPr>
                        <a:t>A routine story goes from 2–4 days to the same day. Mechanical mistakes are caught before the code is sent for review. Standards are checked on every file, every time. The knowledge stays current and does not leave with people.</a:t>
                      </a:r>
                    </a:p>
                  </a:txBody>
                  <a:tcPr marL="137160" marR="137160" marT="45720" marB="45720" anchor="ctr">
                    <a:solidFill>
                      <a:srgbClr val="FFFFFF"/>
                    </a:solidFill>
                  </a:tcPr>
                </a:tc>
              </a:tr>
              <a:tr h="653142">
                <a:tc>
                  <a:txBody>
                    <a:bodyPr/>
                    <a:lstStyle/>
                    <a:p>
                      <a:r>
                        <a:rPr b="1" sz="1400">
                          <a:solidFill>
                            <a:srgbClr val="6C5CE7"/>
                          </a:solidFill>
                        </a:rPr>
                        <a:t>Proof so far</a:t>
                      </a:r>
                    </a:p>
                  </a:txBody>
                  <a:tcPr marL="137160" marR="137160" marT="45720" marB="45720" anchor="ctr">
                    <a:solidFill>
                      <a:srgbClr val="F1F2F8"/>
                    </a:solidFill>
                  </a:tcPr>
                </a:tc>
                <a:tc>
                  <a:txBody>
                    <a:bodyPr/>
                    <a:lstStyle/>
                    <a:p>
                      <a:r>
                        <a:rPr sz="1250">
                          <a:solidFill>
                            <a:srgbClr val="1B1F3B"/>
                          </a:solidFill>
                        </a:rPr>
                        <a:t>Two real stories: code files generated in a few minutes, for under USD 2 each in token usage, with the mechanical parts right and only business questions left open.</a:t>
                      </a:r>
                    </a:p>
                  </a:txBody>
                  <a:tcPr marL="137160" marR="137160" marT="45720" marB="45720" anchor="ctr">
                    <a:solidFill>
                      <a:srgbClr val="F1F2F8"/>
                    </a:solidFill>
                  </a:tcPr>
                </a:tc>
              </a:tr>
              <a:tr h="653142">
                <a:tc>
                  <a:txBody>
                    <a:bodyPr/>
                    <a:lstStyle/>
                    <a:p>
                      <a:r>
                        <a:rPr b="1" sz="1400">
                          <a:solidFill>
                            <a:srgbClr val="6C5CE7"/>
                          </a:solidFill>
                        </a:rPr>
                        <a:t>Guardrails</a:t>
                      </a:r>
                    </a:p>
                  </a:txBody>
                  <a:tcPr marL="137160" marR="137160" marT="45720" marB="45720" anchor="ctr">
                    <a:solidFill>
                      <a:srgbClr val="FFFFFF"/>
                    </a:solidFill>
                  </a:tcPr>
                </a:tc>
                <a:tc>
                  <a:txBody>
                    <a:bodyPr/>
                    <a:lstStyle/>
                    <a:p>
                      <a:r>
                        <a:rPr sz="1250">
                          <a:solidFill>
                            <a:srgbClr val="1B1F3B"/>
                          </a:solidFill>
                        </a:rPr>
                        <a:t>It never merges anything itself; it never rewrites your existing files blindly; it shows exactly which files, tables and rules it used; every branch and commit carries the developer's name; no secrets stored on disk.</a:t>
                      </a:r>
                    </a:p>
                  </a:txBody>
                  <a:tcPr marL="137160" marR="137160" marT="45720" marB="45720" anchor="ctr">
                    <a:solidFill>
                      <a:srgbClr val="FFFFFF"/>
                    </a:solidFill>
                  </a:tcPr>
                </a:tc>
              </a:tr>
              <a:tr h="653142">
                <a:tc>
                  <a:txBody>
                    <a:bodyPr/>
                    <a:lstStyle/>
                    <a:p>
                      <a:r>
                        <a:rPr b="1" sz="1400">
                          <a:solidFill>
                            <a:srgbClr val="6C5CE7"/>
                          </a:solidFill>
                        </a:rPr>
                        <a:t>What we ask</a:t>
                      </a:r>
                    </a:p>
                  </a:txBody>
                  <a:tcPr marL="137160" marR="137160" marT="45720" marB="45720" anchor="ctr">
                    <a:solidFill>
                      <a:srgbClr val="F1F2F8"/>
                    </a:solidFill>
                  </a:tcPr>
                </a:tc>
                <a:tc>
                  <a:txBody>
                    <a:bodyPr/>
                    <a:lstStyle/>
                    <a:p>
                      <a:r>
                        <a:rPr sz="1250">
                          <a:solidFill>
                            <a:srgbClr val="1B1F3B"/>
                          </a:solidFill>
                        </a:rPr>
                        <a:t>Write stories that name the tables and columns; keep the knowledge file current; review the result the way you review any merge request.</a:t>
                      </a:r>
                    </a:p>
                  </a:txBody>
                  <a:tcPr marL="137160" marR="137160" marT="45720" marB="45720" anchor="ctr">
                    <a:solidFill>
                      <a:srgbClr val="F1F2F8"/>
                    </a:solidFill>
                  </a:tcPr>
                </a:tc>
              </a:tr>
            </a:tbl>
          </a:graphicData>
        </a:graphic>
      </p:graphicFrame>
      <p:sp>
        <p:nvSpPr>
          <p:cNvPr id="4" name="TextBox 3"/>
          <p:cNvSpPr txBox="1"/>
          <p:nvPr/>
        </p:nvSpPr>
        <p:spPr>
          <a:xfrm>
            <a:off x="640080" y="6035040"/>
            <a:ext cx="10972800" cy="365760"/>
          </a:xfrm>
          <a:prstGeom prst="rect">
            <a:avLst/>
          </a:prstGeom>
          <a:noFill/>
        </p:spPr>
        <p:txBody>
          <a:bodyPr wrap="square">
            <a:spAutoFit/>
          </a:bodyPr>
          <a:lstStyle/>
          <a:p>
            <a:r>
              <a:rPr sz="1250" i="1">
                <a:solidFill>
                  <a:srgbClr val="6C5CE7"/>
                </a:solidFill>
              </a:rPr>
              <a:t>Days of convention-finding become minutes; the developer keeps the pen and the merge button.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b="1" sz="3000">
                <a:solidFill>
                  <a:srgbClr val="1B1F3B"/>
                </a:solidFill>
              </a:rPr>
              <a:t>How the two parts fit: the context pack and the assistant</a:t>
            </a:r>
          </a:p>
        </p:txBody>
      </p:sp>
      <p:pic>
        <p:nvPicPr>
          <p:cNvPr id="3" name="Picture 2" descr="pitch_diagram.png"/>
          <p:cNvPicPr>
            <a:picLocks noChangeAspect="1"/>
          </p:cNvPicPr>
          <p:nvPr/>
        </p:nvPicPr>
        <p:blipFill>
          <a:blip r:embed="rId2"/>
          <a:stretch>
            <a:fillRect/>
          </a:stretch>
        </p:blipFill>
        <p:spPr>
          <a:xfrm>
            <a:off x="640080" y="1371600"/>
            <a:ext cx="5269955" cy="4572000"/>
          </a:xfrm>
          <a:prstGeom prst="rect">
            <a:avLst/>
          </a:prstGeom>
        </p:spPr>
      </p:pic>
      <p:sp>
        <p:nvSpPr>
          <p:cNvPr id="4" name="Rectangle 3"/>
          <p:cNvSpPr/>
          <p:nvPr/>
        </p:nvSpPr>
        <p:spPr>
          <a:xfrm>
            <a:off x="6184355" y="1371600"/>
            <a:ext cx="5428525" cy="4572000"/>
          </a:xfrm>
          <a:prstGeom prst="rect">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l">
              <a:spcAft>
                <a:spcPts val="900"/>
              </a:spcAft>
            </a:pPr>
            <a:r>
              <a:rPr b="1" sz="1300">
                <a:solidFill>
                  <a:srgbClr val="1B1F3B"/>
                </a:solidFill>
              </a:rPr>
              <a:t>Inputs  </a:t>
            </a:r>
            <a:r>
              <a:rPr sz="1200">
                <a:solidFill>
                  <a:srgbClr val="4A4F6B"/>
                </a:solidFill>
              </a:rPr>
              <a:t>the three code repositories, the Greenplum tables and the team's notes and rules</a:t>
            </a:r>
          </a:p>
          <a:p>
            <a:pPr algn="l">
              <a:spcAft>
                <a:spcPts val="900"/>
              </a:spcAft>
            </a:pPr>
            <a:r>
              <a:rPr b="1" sz="1300">
                <a:solidFill>
                  <a:srgbClr val="1B1F3B"/>
                </a:solidFill>
              </a:rPr>
              <a:t>Knowledge Pack builder  </a:t>
            </a:r>
            <a:r>
              <a:rPr sz="1200">
                <a:solidFill>
                  <a:srgbClr val="4A4F6B"/>
                </a:solidFill>
              </a:rPr>
              <a:t>a scheduled job collects the facts – folder purposes, registration and companion rules, naming, standards, search index – into one context pack per system and e-mails what changed</a:t>
            </a:r>
          </a:p>
          <a:p>
            <a:pPr algn="l">
              <a:spcAft>
                <a:spcPts val="900"/>
              </a:spcAft>
            </a:pPr>
            <a:r>
              <a:rPr b="1" sz="1300">
                <a:solidFill>
                  <a:srgbClr val="1B1F3B"/>
                </a:solidFill>
              </a:rPr>
              <a:t>Dev Assistant  </a:t>
            </a:r>
            <a:r>
              <a:rPr sz="1200">
                <a:solidFill>
                  <a:srgbClr val="4A4F6B"/>
                </a:solidFill>
              </a:rPr>
              <a:t>combines the pack with the story: read → ground → plan → code → check, in about 5–10 minutes</a:t>
            </a:r>
          </a:p>
          <a:p>
            <a:pPr algn="l">
              <a:spcAft>
                <a:spcPts val="900"/>
              </a:spcAft>
            </a:pPr>
            <a:r>
              <a:rPr b="1" sz="1300">
                <a:solidFill>
                  <a:srgbClr val="1B1F3B"/>
                </a:solidFill>
              </a:rPr>
              <a:t>Git  </a:t>
            </a:r>
            <a:r>
              <a:rPr sz="1200">
                <a:solidFill>
                  <a:srgbClr val="4A4F6B"/>
                </a:solidFill>
              </a:rPr>
              <a:t>feature branch, one commit per run, merge request – all in the developer's name</a:t>
            </a:r>
          </a:p>
          <a:p>
            <a:pPr algn="l">
              <a:spcAft>
                <a:spcPts val="900"/>
              </a:spcAft>
            </a:pPr>
            <a:r>
              <a:rPr b="1" sz="1300">
                <a:solidFill>
                  <a:srgbClr val="1B1F3B"/>
                </a:solidFill>
              </a:rPr>
              <a:t>People decide  </a:t>
            </a:r>
            <a:r>
              <a:rPr sz="1200">
                <a:solidFill>
                  <a:srgbClr val="4A4F6B"/>
                </a:solidFill>
              </a:rPr>
              <a:t>a person reads the diff, tests it and merges; the tool never merges</a:t>
            </a:r>
          </a:p>
        </p:txBody>
      </p:sp>
      <p:sp>
        <p:nvSpPr>
          <p:cNvPr id="5" name="TextBox 4"/>
          <p:cNvSpPr txBox="1"/>
          <p:nvPr/>
        </p:nvSpPr>
        <p:spPr>
          <a:xfrm>
            <a:off x="640080" y="6035040"/>
            <a:ext cx="10972800" cy="365760"/>
          </a:xfrm>
          <a:prstGeom prst="rect">
            <a:avLst/>
          </a:prstGeom>
          <a:noFill/>
        </p:spPr>
        <p:txBody>
          <a:bodyPr wrap="square">
            <a:spAutoFit/>
          </a:bodyPr>
          <a:lstStyle/>
          <a:p>
            <a:r>
              <a:rPr sz="1250" i="1">
                <a:solidFill>
                  <a:srgbClr val="6C5CE7"/>
                </a:solidFill>
              </a:rPr>
              <a:t>The pack holds what the assistant needs to know; the assistant does the routine work of a story; a person merges.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b="1" sz="3000">
                <a:solidFill>
                  <a:srgbClr val="1B1F3B"/>
                </a:solidFill>
              </a:rPr>
              <a:t>Git: nothing reaches GitLab until Push and MR</a:t>
            </a:r>
          </a:p>
        </p:txBody>
      </p:sp>
      <p:pic>
        <p:nvPicPr>
          <p:cNvPr id="3" name="Picture 2" descr="git_diagram.png"/>
          <p:cNvPicPr>
            <a:picLocks noChangeAspect="1"/>
          </p:cNvPicPr>
          <p:nvPr/>
        </p:nvPicPr>
        <p:blipFill>
          <a:blip r:embed="rId2"/>
          <a:stretch>
            <a:fillRect/>
          </a:stretch>
        </p:blipFill>
        <p:spPr>
          <a:xfrm>
            <a:off x="640080" y="1371600"/>
            <a:ext cx="5466875" cy="4572000"/>
          </a:xfrm>
          <a:prstGeom prst="rect">
            <a:avLst/>
          </a:prstGeom>
        </p:spPr>
      </p:pic>
      <p:sp>
        <p:nvSpPr>
          <p:cNvPr id="4" name="Rectangle 3"/>
          <p:cNvSpPr/>
          <p:nvPr/>
        </p:nvSpPr>
        <p:spPr>
          <a:xfrm>
            <a:off x="6381275" y="1371600"/>
            <a:ext cx="5231605" cy="4572000"/>
          </a:xfrm>
          <a:prstGeom prst="rect">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l">
              <a:spcAft>
                <a:spcPts val="900"/>
              </a:spcAft>
            </a:pPr>
            <a:r>
              <a:rPr b="1" sz="1300">
                <a:solidFill>
                  <a:srgbClr val="1B1F3B"/>
                </a:solidFill>
              </a:rPr>
              <a:t>1 Feature branch  </a:t>
            </a:r>
            <a:r>
              <a:rPr sz="1200">
                <a:solidFill>
                  <a:srgbClr val="4A4F6B"/>
                </a:solidFill>
              </a:rPr>
              <a:t>created on the server, in this chat's private working copy, from the base branch; GitLab is only read</a:t>
            </a:r>
          </a:p>
          <a:p>
            <a:pPr algn="l">
              <a:spcAft>
                <a:spcPts val="900"/>
              </a:spcAft>
            </a:pPr>
            <a:r>
              <a:rPr b="1" sz="1300">
                <a:solidFill>
                  <a:srgbClr val="1B1F3B"/>
                </a:solidFill>
              </a:rPr>
              <a:t>2–3 Runs and edits  </a:t>
            </a:r>
            <a:r>
              <a:rPr sz="1200">
                <a:solidFill>
                  <a:srgbClr val="4A4F6B"/>
                </a:solidFill>
              </a:rPr>
              <a:t>every run and change request is one commit in your name; hand edits are committed at push; nothing is pushed automatically</a:t>
            </a:r>
          </a:p>
          <a:p>
            <a:pPr algn="l">
              <a:spcAft>
                <a:spcPts val="900"/>
              </a:spcAft>
            </a:pPr>
            <a:r>
              <a:rPr b="1" sz="1300">
                <a:solidFill>
                  <a:srgbClr val="1B1F3B"/>
                </a:solidFill>
              </a:rPr>
              <a:t>4 Push and MR  </a:t>
            </a:r>
            <a:r>
              <a:rPr sz="1200">
                <a:solidFill>
                  <a:srgbClr val="4A4F6B"/>
                </a:solidFill>
              </a:rPr>
              <a:t>with your own token: rebase on the base branch, your name on every commit, push with lease (never overwrites a colleague's work)</a:t>
            </a:r>
          </a:p>
          <a:p>
            <a:pPr algn="l">
              <a:spcAft>
                <a:spcPts val="900"/>
              </a:spcAft>
            </a:pPr>
            <a:r>
              <a:rPr b="1" sz="1300">
                <a:solidFill>
                  <a:srgbClr val="1B1F3B"/>
                </a:solidFill>
              </a:rPr>
              <a:t>5 Merge request  </a:t>
            </a:r>
            <a:r>
              <a:rPr sz="1200">
                <a:solidFill>
                  <a:srgbClr val="4A4F6B"/>
                </a:solidFill>
              </a:rPr>
              <a:t>opened in your name into the target branch, with the story, files and scores; conflicts with the target are previewed</a:t>
            </a:r>
          </a:p>
          <a:p>
            <a:pPr algn="l">
              <a:spcAft>
                <a:spcPts val="900"/>
              </a:spcAft>
            </a:pPr>
            <a:r>
              <a:rPr b="1" sz="1300">
                <a:solidFill>
                  <a:srgbClr val="1B1F3B"/>
                </a:solidFill>
              </a:rPr>
              <a:t>Isolation  </a:t>
            </a:r>
            <a:r>
              <a:rPr sz="1200">
                <a:solidFill>
                  <a:srgbClr val="4A4F6B"/>
                </a:solidFill>
              </a:rPr>
              <a:t>one shared read-only mirror per repository; one working copy and branch per chat; your token, your permissions</a:t>
            </a:r>
          </a:p>
        </p:txBody>
      </p:sp>
      <p:sp>
        <p:nvSpPr>
          <p:cNvPr id="5" name="TextBox 4"/>
          <p:cNvSpPr txBox="1"/>
          <p:nvPr/>
        </p:nvSpPr>
        <p:spPr>
          <a:xfrm>
            <a:off x="640080" y="6035040"/>
            <a:ext cx="10972800" cy="365760"/>
          </a:xfrm>
          <a:prstGeom prst="rect">
            <a:avLst/>
          </a:prstGeom>
          <a:noFill/>
        </p:spPr>
        <p:txBody>
          <a:bodyPr wrap="square">
            <a:spAutoFit/>
          </a:bodyPr>
          <a:lstStyle/>
          <a:p>
            <a:r>
              <a:rPr sz="1250" i="1">
                <a:solidFill>
                  <a:srgbClr val="6C5CE7"/>
                </a:solidFill>
              </a:rPr>
              <a:t>The same routine a developer follows from a laptop – branch, commit, rebase, push, merge request – on a per-chat working copy, in the developer's name.</a:t>
            </a:r>
          </a:p>
        </p:txBody>
      </p:sp>
    </p:spTree>
  </p:cSld>
  <p:clrMapOvr>
    <a:masterClrMapping/>
  </p:clrMapOvr>
</p:sld>
</file>

<file path=ppt/theme/theme1.xml><?xml version="1.0" encoding="utf-8"?>
<a:theme xmlns:a="http://schemas.openxmlformats.org/drawingml/2006/main" name="Agile Dev Assist">
  <a:themeElements>
    <a:clrScheme name="Agile Dev Assist">
      <a:dk1>
        <a:srgbClr val="1B1F3B"/>
      </a:dk1>
      <a:lt1>
        <a:srgbClr val="FFFFFF"/>
      </a:lt1>
      <a:dk2>
        <a:srgbClr val="4A4F6B"/>
      </a:dk2>
      <a:lt2>
        <a:srgbClr val="F1F2F8"/>
      </a:lt2>
      <a:accent1>
        <a:srgbClr val="6C5CE7"/>
      </a:accent1>
      <a:accent2>
        <a:srgbClr val="22B8CF"/>
      </a:accent2>
      <a:accent3>
        <a:srgbClr val="2E9E6B"/>
      </a:accent3>
      <a:accent4>
        <a:srgbClr val="E6A23C"/>
      </a:accent4>
      <a:accent5>
        <a:srgbClr val="D94C4C"/>
      </a:accent5>
      <a:accent6>
        <a:srgbClr val="9AA0BF"/>
      </a:accent6>
      <a:hlink>
        <a:srgbClr val="6C5CE7"/>
      </a:hlink>
      <a:folHlink>
        <a:srgbClr val="22B8CF"/>
      </a:folHlink>
    </a:clrScheme>
    <a:fontScheme name="Agile Dev Assi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Dev Assist</dc:title>
  <dc:subject>PptxGenJS Presentation</dc:subject>
  <dc:creator>IKG / STAAT Insights</dc:creator>
  <cp:lastModifiedBy>IKG / STAAT Insights</cp:lastModifiedBy>
  <cp:revision>1</cp:revision>
  <dcterms:created xsi:type="dcterms:W3CDTF">2026-10-18T19:06:57Z</dcterms:created>
  <dcterms:modified xsi:type="dcterms:W3CDTF">2026-10-18T19:06:57Z</dcterms:modified>
</cp:coreProperties>
</file>